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53" r:id="rId3"/>
  </p:sldMasterIdLst>
  <p:notesMasterIdLst>
    <p:notesMasterId r:id="rId5"/>
  </p:notesMasterIdLst>
  <p:handoutMasterIdLst>
    <p:handoutMasterId r:id="rId29"/>
  </p:handoutMasterIdLst>
  <p:sldIdLst>
    <p:sldId id="400" r:id="rId4"/>
    <p:sldId id="401" r:id="rId6"/>
    <p:sldId id="2686" r:id="rId7"/>
    <p:sldId id="2696" r:id="rId8"/>
    <p:sldId id="2735" r:id="rId9"/>
    <p:sldId id="2705" r:id="rId10"/>
    <p:sldId id="2697" r:id="rId11"/>
    <p:sldId id="2700" r:id="rId12"/>
    <p:sldId id="2738" r:id="rId13"/>
    <p:sldId id="2701" r:id="rId14"/>
    <p:sldId id="2739" r:id="rId15"/>
    <p:sldId id="2740" r:id="rId16"/>
    <p:sldId id="2741" r:id="rId17"/>
    <p:sldId id="2742" r:id="rId18"/>
    <p:sldId id="2743" r:id="rId19"/>
    <p:sldId id="2736" r:id="rId20"/>
    <p:sldId id="2706" r:id="rId21"/>
    <p:sldId id="2707" r:id="rId22"/>
    <p:sldId id="2708" r:id="rId23"/>
    <p:sldId id="2744" r:id="rId24"/>
    <p:sldId id="2737" r:id="rId25"/>
    <p:sldId id="2715" r:id="rId26"/>
    <p:sldId id="2726" r:id="rId27"/>
    <p:sldId id="2725" r:id="rId28"/>
  </p:sldIdLst>
  <p:sldSz cx="9144000" cy="6858000" type="screen4x3"/>
  <p:notesSz cx="7103745" cy="1023429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24" userDrawn="1">
          <p15:clr>
            <a:srgbClr val="A4A3A4"/>
          </p15:clr>
        </p15:guide>
        <p15:guide id="2" pos="300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103031795"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458E"/>
    <a:srgbClr val="0070C0"/>
    <a:srgbClr val="6699FF"/>
    <a:srgbClr val="00CCFF"/>
    <a:srgbClr val="0000FF"/>
    <a:srgbClr val="4F80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D7B26C5-4107-4FEC-AEDC-1716B250A1EF}"/>
</file>

<file path=ppt/viewProps.xml><?xml version="1.0" encoding="utf-8"?>
<p:viewPr xmlns:a="http://schemas.openxmlformats.org/drawingml/2006/main" xmlns:r="http://schemas.openxmlformats.org/officeDocument/2006/relationships" xmlns:p="http://schemas.openxmlformats.org/presentationml/2006/main">
  <p:normalViewPr>
    <p:restoredLeft sz="12884" autoAdjust="0"/>
    <p:restoredTop sz="84817" autoAdjust="0"/>
  </p:normalViewPr>
  <p:slideViewPr>
    <p:cSldViewPr snapToGrid="0" showGuides="1">
      <p:cViewPr varScale="1">
        <p:scale>
          <a:sx n="66" d="100"/>
          <a:sy n="66" d="100"/>
        </p:scale>
        <p:origin x="1781" y="58"/>
      </p:cViewPr>
      <p:guideLst>
        <p:guide orient="horz" pos="2624"/>
        <p:guide pos="3009"/>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1944"/>
    </p:cViewPr>
  </p:sorterViewPr>
  <p:notesViewPr>
    <p:cSldViewPr snapToGrid="0">
      <p:cViewPr varScale="1">
        <p:scale>
          <a:sx n="54" d="100"/>
          <a:sy n="54" d="100"/>
        </p:scale>
        <p:origin x="3062" y="5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handoutMaster" Target="handoutMasters/handoutMaster1.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fld id="{C884E2B1-8FAD-41C1-878D-BC077732E4D3}" type="datetimeFigureOut">
              <a:rPr lang="zh-CN" altLang="en-US" smtClean="0"/>
            </a:fld>
            <a:endParaRPr lang="zh-CN" altLang="en-US"/>
          </a:p>
        </p:txBody>
      </p:sp>
      <p:sp>
        <p:nvSpPr>
          <p:cNvPr id="4" name="页脚占位符 3"/>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5600908F-9CC5-46F0-8C09-EA2EB16FBA7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zh-CN" altLang="en-US"/>
          </a:p>
        </p:txBody>
      </p:sp>
      <p:sp>
        <p:nvSpPr>
          <p:cNvPr id="3" name="日期占位符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B4330BF8-63FE-4882-8E6C-3C539AC98A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249363" y="1279525"/>
            <a:ext cx="4606925" cy="3454400"/>
          </a:xfrm>
          <a:prstGeom prst="rect">
            <a:avLst/>
          </a:prstGeom>
          <a:noFill/>
          <a:ln w="12700">
            <a:solidFill>
              <a:prstClr val="black"/>
            </a:solidFill>
          </a:ln>
        </p:spPr>
        <p:txBody>
          <a:bodyPr vert="horz" lIns="99075" tIns="49538" rIns="99075" bIns="49538"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9F468F89-DC54-4BF6-B906-58A6B2DA379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93775" y="768350"/>
            <a:ext cx="5116513" cy="3836988"/>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defTabSz="990600">
              <a:defRPr/>
            </a:pPr>
            <a:fld id="{C16CEBB1-29F6-4DD0-A20A-49F07B6D6B29}" type="slidenum">
              <a:rPr lang="zh-CN" altLang="en-US">
                <a:solidFill>
                  <a:prstClr val="black"/>
                </a:solidFill>
                <a:latin typeface="Calibri" panose="020F0502020204030204"/>
                <a:ea typeface="宋体" panose="02010600030101010101" pitchFamily="2" charset="-122"/>
              </a:rPr>
            </a:fld>
            <a:endParaRPr lang="zh-CN" altLang="en-US">
              <a:solidFill>
                <a:prstClr val="black"/>
              </a:solidFill>
              <a:latin typeface="Calibri" panose="020F0502020204030204"/>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93775" y="768350"/>
            <a:ext cx="5116513" cy="3836988"/>
          </a:xfrm>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6CEBB1-29F6-4DD0-A20A-49F07B6D6B2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93775" y="768350"/>
            <a:ext cx="5116513" cy="3836988"/>
          </a:xfrm>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6CEBB1-29F6-4DD0-A20A-49F07B6D6B2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93775" y="768350"/>
            <a:ext cx="5116513" cy="3836988"/>
          </a:xfrm>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6CEBB1-29F6-4DD0-A20A-49F07B6D6B2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93775" y="768350"/>
            <a:ext cx="5116513" cy="3836988"/>
          </a:xfrm>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6CEBB1-29F6-4DD0-A20A-49F07B6D6B2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993775" y="768350"/>
            <a:ext cx="5116513" cy="3836988"/>
          </a:xfrm>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6CEBB1-29F6-4DD0-A20A-49F07B6D6B2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F468F89-DC54-4BF6-B906-58A6B2DA379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1.png"/><Relationship Id="rId7" Type="http://schemas.openxmlformats.org/officeDocument/2006/relationships/image" Target="../media/image5.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Rectangle 7"/>
          <p:cNvSpPr>
            <a:spLocks noChangeArrowheads="1"/>
          </p:cNvSpPr>
          <p:nvPr userDrawn="1"/>
        </p:nvSpPr>
        <p:spPr bwMode="auto">
          <a:xfrm>
            <a:off x="0" y="1133999"/>
            <a:ext cx="9144000" cy="3011612"/>
          </a:xfrm>
          <a:prstGeom prst="rect">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eaLnBrk="0" hangingPunct="0">
              <a:defRPr sz="2800">
                <a:solidFill>
                  <a:schemeClr val="tx1"/>
                </a:solidFill>
                <a:latin typeface="Arial" panose="020B0604020202020204" pitchFamily="34" charset="0"/>
                <a:ea typeface="黑体" panose="02010609060101010101" pitchFamily="49" charset="-122"/>
              </a:defRPr>
            </a:lvl1pPr>
            <a:lvl2pPr marL="742950" indent="-285750" eaLnBrk="0" hangingPunct="0">
              <a:defRPr sz="2800">
                <a:solidFill>
                  <a:schemeClr val="tx1"/>
                </a:solidFill>
                <a:latin typeface="Arial" panose="020B0604020202020204" pitchFamily="34" charset="0"/>
                <a:ea typeface="黑体" panose="02010609060101010101" pitchFamily="49" charset="-122"/>
              </a:defRPr>
            </a:lvl2pPr>
            <a:lvl3pPr marL="1143000" indent="-228600" eaLnBrk="0" hangingPunct="0">
              <a:defRPr sz="2800">
                <a:solidFill>
                  <a:schemeClr val="tx1"/>
                </a:solidFill>
                <a:latin typeface="Arial" panose="020B0604020202020204" pitchFamily="34" charset="0"/>
                <a:ea typeface="黑体" panose="02010609060101010101" pitchFamily="49" charset="-122"/>
              </a:defRPr>
            </a:lvl3pPr>
            <a:lvl4pPr marL="1600200" indent="-228600" eaLnBrk="0" hangingPunct="0">
              <a:defRPr sz="2800">
                <a:solidFill>
                  <a:schemeClr val="tx1"/>
                </a:solidFill>
                <a:latin typeface="Arial" panose="020B0604020202020204" pitchFamily="34" charset="0"/>
                <a:ea typeface="黑体" panose="02010609060101010101" pitchFamily="49" charset="-122"/>
              </a:defRPr>
            </a:lvl4pPr>
            <a:lvl5pPr marL="2057400" indent="-228600" eaLnBrk="0" hangingPunct="0">
              <a:defRPr sz="28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黑体" panose="02010609060101010101" pitchFamily="49" charset="-122"/>
              </a:defRPr>
            </a:lvl9pPr>
          </a:lstStyle>
          <a:p>
            <a:pPr lvl="0" algn="ctr"/>
            <a:endParaRPr lang="zh-CN" altLang="en-US" sz="1010" dirty="0">
              <a:solidFill>
                <a:schemeClr val="lt1"/>
              </a:solidFill>
            </a:endParaRPr>
          </a:p>
        </p:txBody>
      </p:sp>
      <p:sp>
        <p:nvSpPr>
          <p:cNvPr id="3" name="Subtitle 2"/>
          <p:cNvSpPr>
            <a:spLocks noGrp="1"/>
          </p:cNvSpPr>
          <p:nvPr>
            <p:ph type="subTitle" idx="1"/>
          </p:nvPr>
        </p:nvSpPr>
        <p:spPr>
          <a:xfrm>
            <a:off x="1143000" y="4341871"/>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C0788317-A3EE-4FEB-A48E-1E3753321178}"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DCBAC70-8536-48D3-A193-A02FB16FDE8D}" type="slidenum">
              <a:rPr lang="zh-CN" altLang="en-US" smtClean="0"/>
            </a:fld>
            <a:endParaRPr lang="zh-CN" altLang="en-US"/>
          </a:p>
        </p:txBody>
      </p:sp>
      <p:sp>
        <p:nvSpPr>
          <p:cNvPr id="2" name="Title 1"/>
          <p:cNvSpPr>
            <a:spLocks noGrp="1"/>
          </p:cNvSpPr>
          <p:nvPr>
            <p:ph type="ctrTitle"/>
          </p:nvPr>
        </p:nvSpPr>
        <p:spPr>
          <a:xfrm>
            <a:off x="685800" y="1122363"/>
            <a:ext cx="7772400" cy="2387600"/>
          </a:xfrm>
        </p:spPr>
        <p:txBody>
          <a:bodyPr anchor="b"/>
          <a:lstStyle>
            <a:lvl1pPr algn="ctr">
              <a:defRPr sz="60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pic>
        <p:nvPicPr>
          <p:cNvPr id="8" name="图片 7"/>
          <p:cNvPicPr>
            <a:picLocks noChangeAspect="1"/>
          </p:cNvPicPr>
          <p:nvPr userDrawn="1"/>
        </p:nvPicPr>
        <p:blipFill rotWithShape="1">
          <a:blip r:embed="rId2">
            <a:extLst>
              <a:ext uri="{28A0092B-C50C-407E-A947-70E740481C1C}">
                <a14:useLocalDpi xmlns:a14="http://schemas.microsoft.com/office/drawing/2010/main" val="0"/>
              </a:ext>
            </a:extLst>
          </a:blip>
          <a:srcRect t="11278"/>
          <a:stretch>
            <a:fillRect/>
          </a:stretch>
        </p:blipFill>
        <p:spPr>
          <a:xfrm>
            <a:off x="0" y="1133999"/>
            <a:ext cx="2626822" cy="2632571"/>
          </a:xfrm>
          <a:prstGeom prst="rect">
            <a:avLst/>
          </a:prstGeom>
        </p:spPr>
      </p:pic>
      <p:pic>
        <p:nvPicPr>
          <p:cNvPr id="9" name="图片 8"/>
          <p:cNvPicPr>
            <a:picLocks noChangeAspect="1"/>
          </p:cNvPicPr>
          <p:nvPr userDrawn="1"/>
        </p:nvPicPr>
        <p:blipFill rotWithShape="1">
          <a:blip r:embed="rId3" cstate="print">
            <a:extLst>
              <a:ext uri="{28A0092B-C50C-407E-A947-70E740481C1C}">
                <a14:useLocalDpi xmlns:a14="http://schemas.microsoft.com/office/drawing/2010/main" val="0"/>
              </a:ext>
            </a:extLst>
          </a:blip>
          <a:srcRect t="24685"/>
          <a:stretch>
            <a:fillRect/>
          </a:stretch>
        </p:blipFill>
        <p:spPr>
          <a:xfrm>
            <a:off x="5843847" y="1122364"/>
            <a:ext cx="3300153" cy="301161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6131" y="213863"/>
            <a:ext cx="947045" cy="720000"/>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末尾幻灯片">
    <p:spTree>
      <p:nvGrpSpPr>
        <p:cNvPr id="1" name=""/>
        <p:cNvGrpSpPr/>
        <p:nvPr/>
      </p:nvGrpSpPr>
      <p:grpSpPr>
        <a:xfrm>
          <a:off x="0" y="0"/>
          <a:ext cx="0" cy="0"/>
          <a:chOff x="0" y="0"/>
          <a:chExt cx="0" cy="0"/>
        </a:xfrm>
      </p:grpSpPr>
      <p:sp>
        <p:nvSpPr>
          <p:cNvPr id="2" name="矩形 1"/>
          <p:cNvSpPr/>
          <p:nvPr userDrawn="1"/>
        </p:nvSpPr>
        <p:spPr>
          <a:xfrm>
            <a:off x="11" y="896"/>
            <a:ext cx="3004916" cy="685621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7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flipV="1">
            <a:off x="0" y="249543"/>
            <a:ext cx="5248069" cy="6358913"/>
          </a:xfrm>
          <a:prstGeom prst="rect">
            <a:avLst/>
          </a:prstGeom>
        </p:spPr>
      </p:pic>
      <p:sp>
        <p:nvSpPr>
          <p:cNvPr id="4" name="日期占位符 3"/>
          <p:cNvSpPr>
            <a:spLocks noGrp="1"/>
          </p:cNvSpPr>
          <p:nvPr>
            <p:ph type="dt" sz="half" idx="2"/>
            <p:custDataLst>
              <p:tags r:id="rId3"/>
            </p:custDataLst>
          </p:nvPr>
        </p:nvSpPr>
        <p:spPr>
          <a:xfrm>
            <a:off x="659807" y="6349833"/>
            <a:ext cx="2025000" cy="316800"/>
          </a:xfrm>
          <a:prstGeom prst="rect">
            <a:avLst/>
          </a:prstGeom>
        </p:spPr>
        <p:txBody>
          <a:bodyPr vert="horz" lIns="91440" tIns="45720" rIns="91440" bIns="45720" rtlCol="0" anchor="ctr">
            <a:normAutofit/>
          </a:bodyPr>
          <a:lstStyle>
            <a:lvl1pPr algn="l">
              <a:defRPr sz="675">
                <a:solidFill>
                  <a:schemeClr val="tx1">
                    <a:tint val="75000"/>
                  </a:schemeClr>
                </a:solidFill>
              </a:defRPr>
            </a:lvl1pPr>
          </a:lstStyle>
          <a:p>
            <a:fld id="{760FBDFE-C587-4B4C-A407-44438C67B59E}" type="datetimeFigureOut">
              <a:rPr lang="zh-CN" altLang="en-US" smtClean="0"/>
            </a:fld>
            <a:endParaRPr lang="zh-CN" altLang="en-US"/>
          </a:p>
        </p:txBody>
      </p:sp>
      <p:sp>
        <p:nvSpPr>
          <p:cNvPr id="5" name="圆角矩形 33"/>
          <p:cNvSpPr/>
          <p:nvPr userDrawn="1"/>
        </p:nvSpPr>
        <p:spPr>
          <a:xfrm>
            <a:off x="332980" y="2730519"/>
            <a:ext cx="2025000" cy="888982"/>
          </a:xfrm>
          <a:prstGeom prst="roundRect">
            <a:avLst>
              <a:gd name="adj" fmla="val 0"/>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70">
              <a:solidFill>
                <a:schemeClr val="bg1"/>
              </a:solidFill>
            </a:endParaRPr>
          </a:p>
        </p:txBody>
      </p:sp>
      <p:sp>
        <p:nvSpPr>
          <p:cNvPr id="6" name="TextBox 34"/>
          <p:cNvSpPr txBox="1"/>
          <p:nvPr userDrawn="1"/>
        </p:nvSpPr>
        <p:spPr>
          <a:xfrm>
            <a:off x="427286" y="2840540"/>
            <a:ext cx="1830139" cy="680507"/>
          </a:xfrm>
          <a:prstGeom prst="rect">
            <a:avLst/>
          </a:prstGeom>
          <a:noFill/>
        </p:spPr>
        <p:txBody>
          <a:bodyPr wrap="square" rtlCol="0">
            <a:spAutoFit/>
          </a:bodyPr>
          <a:lstStyle/>
          <a:p>
            <a:pPr algn="dist">
              <a:lnSpc>
                <a:spcPct val="110000"/>
              </a:lnSpc>
            </a:pPr>
            <a:r>
              <a:rPr lang="zh-CN" altLang="en-US" sz="1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目 录 </a:t>
            </a:r>
            <a:r>
              <a:rPr lang="en-US" altLang="zh-CN" sz="1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CONTENTS</a:t>
            </a:r>
            <a:endParaRPr lang="en-US" altLang="zh-CN" sz="18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9" name="图片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859654" y="291950"/>
            <a:ext cx="947045" cy="720000"/>
          </a:xfrm>
          <a:prstGeom prst="rect">
            <a:avLst/>
          </a:prstGeom>
          <a:noFill/>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15" name="矩形 14"/>
          <p:cNvSpPr/>
          <p:nvPr userDrawn="1"/>
        </p:nvSpPr>
        <p:spPr>
          <a:xfrm>
            <a:off x="1189" y="-1770"/>
            <a:ext cx="9142811" cy="651056"/>
          </a:xfrm>
          <a:prstGeom prst="rect">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t="24685"/>
          <a:stretch>
            <a:fillRect/>
          </a:stretch>
        </p:blipFill>
        <p:spPr>
          <a:xfrm>
            <a:off x="5755364" y="-1770"/>
            <a:ext cx="3387446" cy="4121696"/>
          </a:xfrm>
          <a:prstGeom prst="rect">
            <a:avLst/>
          </a:prstGeom>
        </p:spPr>
      </p:pic>
      <p:cxnSp>
        <p:nvCxnSpPr>
          <p:cNvPr id="9" name="直接连接符 8"/>
          <p:cNvCxnSpPr/>
          <p:nvPr userDrawn="1"/>
        </p:nvCxnSpPr>
        <p:spPr>
          <a:xfrm>
            <a:off x="1190" y="707322"/>
            <a:ext cx="9144900" cy="0"/>
          </a:xfrm>
          <a:prstGeom prst="line">
            <a:avLst/>
          </a:prstGeom>
          <a:ln w="127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1" name="Rectangle 6"/>
          <p:cNvSpPr txBox="1">
            <a:spLocks noChangeArrowheads="1"/>
          </p:cNvSpPr>
          <p:nvPr userDrawn="1"/>
        </p:nvSpPr>
        <p:spPr>
          <a:xfrm>
            <a:off x="8633104" y="343244"/>
            <a:ext cx="458390" cy="250825"/>
          </a:xfrm>
          <a:prstGeom prst="rect">
            <a:avLst/>
          </a:prstGeom>
        </p:spPr>
        <p:txBody>
          <a:bodyPr vert="horz" lIns="68580" tIns="34290" rIns="68580" bIns="34290" rtlCol="0" anchor="ctr"/>
          <a:lstStyle>
            <a:defPPr>
              <a:defRPr lang="zh-CN"/>
            </a:defPPr>
            <a:lvl1pPr marL="0" algn="r"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ltLang="zh-CN" sz="1350" dirty="0"/>
          </a:p>
        </p:txBody>
      </p:sp>
      <p:sp>
        <p:nvSpPr>
          <p:cNvPr id="4" name="日期占位符 3"/>
          <p:cNvSpPr>
            <a:spLocks noGrp="1"/>
          </p:cNvSpPr>
          <p:nvPr>
            <p:ph type="dt" sz="half" idx="10"/>
          </p:nvPr>
        </p:nvSpPr>
        <p:spPr/>
        <p:txBody>
          <a:bodyPr/>
          <a:lstStyle/>
          <a:p>
            <a:fld id="{80E6CEC0-0715-4141-AF14-B8102299D94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6804899" y="6356350"/>
            <a:ext cx="2057400" cy="365125"/>
          </a:xfrm>
        </p:spPr>
        <p:txBody>
          <a:bodyPr/>
          <a:lstStyle>
            <a:lvl1pPr>
              <a:defRPr sz="2000" b="1">
                <a:solidFill>
                  <a:schemeClr val="tx1"/>
                </a:solidFill>
                <a:latin typeface="Times New Roman" panose="02020603050405020304" pitchFamily="18" charset="0"/>
                <a:cs typeface="Times New Roman" panose="02020603050405020304" pitchFamily="18" charset="0"/>
              </a:defRPr>
            </a:lvl1pPr>
          </a:lstStyle>
          <a:p>
            <a:fld id="{EDCBAC70-8536-48D3-A193-A02FB16FDE8D}" type="slidenum">
              <a:rPr lang="zh-CN" altLang="en-US" smtClean="0"/>
            </a:fld>
            <a:endParaRPr lang="zh-CN" altLang="en-US" dirty="0"/>
          </a:p>
        </p:txBody>
      </p:sp>
      <p:pic>
        <p:nvPicPr>
          <p:cNvPr id="13" name="图片 12"/>
          <p:cNvPicPr>
            <a:picLocks noChangeAspect="1"/>
          </p:cNvPicPr>
          <p:nvPr userDrawn="1"/>
        </p:nvPicPr>
        <p:blipFill rotWithShape="1">
          <a:blip r:embed="rId3">
            <a:extLst>
              <a:ext uri="{28A0092B-C50C-407E-A947-70E740481C1C}">
                <a14:useLocalDpi xmlns:a14="http://schemas.microsoft.com/office/drawing/2010/main" val="0"/>
              </a:ext>
            </a:extLst>
          </a:blip>
          <a:srcRect t="11278"/>
          <a:stretch>
            <a:fillRect/>
          </a:stretch>
        </p:blipFill>
        <p:spPr>
          <a:xfrm>
            <a:off x="0" y="0"/>
            <a:ext cx="2608517" cy="3485634"/>
          </a:xfrm>
          <a:prstGeom prst="rect">
            <a:avLst/>
          </a:prstGeom>
        </p:spPr>
      </p:pic>
      <p:sp>
        <p:nvSpPr>
          <p:cNvPr id="2" name="标题 1"/>
          <p:cNvSpPr>
            <a:spLocks noGrp="1"/>
          </p:cNvSpPr>
          <p:nvPr>
            <p:ph type="title"/>
          </p:nvPr>
        </p:nvSpPr>
        <p:spPr>
          <a:xfrm>
            <a:off x="231891" y="43999"/>
            <a:ext cx="8698312" cy="547250"/>
          </a:xfrm>
        </p:spPr>
        <p:txBody>
          <a:bodyPr>
            <a:normAutofit/>
          </a:bodyPr>
          <a:lstStyle>
            <a:lvl1pPr>
              <a:defRPr sz="21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4" name="标题占位符 1"/>
          <p:cNvSpPr txBox="1"/>
          <p:nvPr userDrawn="1">
            <p:custDataLst>
              <p:tags r:id="rId2"/>
            </p:custDataLst>
          </p:nvPr>
        </p:nvSpPr>
        <p:spPr>
          <a:xfrm>
            <a:off x="502421" y="432000"/>
            <a:ext cx="8139179" cy="648000"/>
          </a:xfrm>
          <a:prstGeom prst="rect">
            <a:avLst/>
          </a:prstGeom>
        </p:spPr>
        <p:txBody>
          <a:bodyPr vert="horz" lIns="76200" tIns="28575" rIns="57150" bIns="28575" rtlCol="0" anchor="ctr" anchorCtr="0">
            <a:noAutofit/>
          </a:bodyPr>
          <a:lstStyle>
            <a:lvl1pPr algn="l" defTabSz="685800" rtl="0" eaLnBrk="1" fontAlgn="auto" latinLnBrk="0" hangingPunct="1">
              <a:lnSpc>
                <a:spcPct val="100000"/>
              </a:lnSpc>
              <a:spcBef>
                <a:spcPct val="0"/>
              </a:spcBef>
              <a:buNone/>
              <a:defRPr sz="2100" b="1" u="none" strike="noStrike" kern="1200" cap="none" spc="150" normalizeH="0">
                <a:solidFill>
                  <a:schemeClr val="tx1"/>
                </a:solidFill>
                <a:uFillTx/>
                <a:latin typeface="+mj-lt"/>
                <a:ea typeface="+mj-ea"/>
                <a:cs typeface="+mj-cs"/>
              </a:defRPr>
            </a:lvl1pPr>
          </a:lstStyle>
          <a:p>
            <a:r>
              <a:rPr lang="zh-CN" altLang="en-US" sz="1575"/>
              <a:t>单击此处编辑母版标题样式</a:t>
            </a:r>
            <a:endParaRPr lang="zh-CN" altLang="en-US" sz="1575" dirty="0"/>
          </a:p>
        </p:txBody>
      </p:sp>
      <p:sp>
        <p:nvSpPr>
          <p:cNvPr id="5" name="文本占位符 2"/>
          <p:cNvSpPr>
            <a:spLocks noGrp="1"/>
          </p:cNvSpPr>
          <p:nvPr>
            <p:ph idx="1"/>
            <p:custDataLst>
              <p:tags r:id="rId3"/>
            </p:custDataLst>
          </p:nvPr>
        </p:nvSpPr>
        <p:spPr>
          <a:xfrm>
            <a:off x="502421" y="1296000"/>
            <a:ext cx="8139179"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3"/>
          <p:cNvSpPr>
            <a:spLocks noGrp="1"/>
          </p:cNvSpPr>
          <p:nvPr>
            <p:ph type="dt" sz="half" idx="2"/>
            <p:custDataLst>
              <p:tags r:id="rId4"/>
            </p:custDataLst>
          </p:nvPr>
        </p:nvSpPr>
        <p:spPr>
          <a:xfrm>
            <a:off x="659807" y="6349833"/>
            <a:ext cx="2025000" cy="316800"/>
          </a:xfrm>
          <a:prstGeom prst="rect">
            <a:avLst/>
          </a:prstGeom>
        </p:spPr>
        <p:txBody>
          <a:bodyPr vert="horz" lIns="91440" tIns="45720" rIns="91440" bIns="45720" rtlCol="0" anchor="ctr">
            <a:normAutofit/>
          </a:bodyPr>
          <a:lstStyle>
            <a:lvl1pPr algn="l">
              <a:defRPr sz="675">
                <a:solidFill>
                  <a:schemeClr val="tx1">
                    <a:tint val="75000"/>
                  </a:schemeClr>
                </a:solidFill>
              </a:defRPr>
            </a:lvl1pPr>
          </a:lstStyle>
          <a:p>
            <a:fld id="{46FC56E5-232F-45AD-96BC-FB961B28754C}" type="datetime1">
              <a:rPr lang="zh-CN" altLang="en-US" smtClean="0"/>
            </a:fld>
            <a:endParaRPr lang="zh-CN" altLang="en-US"/>
          </a:p>
        </p:txBody>
      </p:sp>
      <p:sp>
        <p:nvSpPr>
          <p:cNvPr id="9" name="页脚占位符 4"/>
          <p:cNvSpPr>
            <a:spLocks noGrp="1"/>
          </p:cNvSpPr>
          <p:nvPr>
            <p:ph type="ftr" sz="quarter" idx="3"/>
            <p:custDataLst>
              <p:tags r:id="rId5"/>
            </p:custDataLst>
          </p:nvPr>
        </p:nvSpPr>
        <p:spPr>
          <a:xfrm>
            <a:off x="3087000" y="6349833"/>
            <a:ext cx="2970000" cy="316800"/>
          </a:xfrm>
          <a:prstGeom prst="rect">
            <a:avLst/>
          </a:prstGeom>
        </p:spPr>
        <p:txBody>
          <a:bodyPr vert="horz" lIns="91440" tIns="45720" rIns="91440" bIns="45720" rtlCol="0" anchor="ctr">
            <a:normAutofit/>
          </a:bodyPr>
          <a:lstStyle>
            <a:lvl1pPr algn="ctr">
              <a:defRPr sz="675">
                <a:solidFill>
                  <a:schemeClr val="tx1">
                    <a:tint val="75000"/>
                  </a:schemeClr>
                </a:solidFill>
              </a:defRPr>
            </a:lvl1pPr>
          </a:lstStyle>
          <a:p>
            <a:endParaRPr lang="zh-CN" altLang="en-US" dirty="0"/>
          </a:p>
        </p:txBody>
      </p:sp>
      <p:sp>
        <p:nvSpPr>
          <p:cNvPr id="10" name="灯片编号占位符 5"/>
          <p:cNvSpPr>
            <a:spLocks noGrp="1"/>
          </p:cNvSpPr>
          <p:nvPr>
            <p:ph type="sldNum" sz="quarter" idx="4"/>
            <p:custDataLst>
              <p:tags r:id="rId6"/>
            </p:custDataLst>
          </p:nvPr>
        </p:nvSpPr>
        <p:spPr>
          <a:xfrm>
            <a:off x="6457951" y="6349833"/>
            <a:ext cx="2025000" cy="316800"/>
          </a:xfrm>
          <a:prstGeom prst="rect">
            <a:avLst/>
          </a:prstGeom>
        </p:spPr>
        <p:txBody>
          <a:bodyPr vert="horz" lIns="91440" tIns="45720" rIns="91440" bIns="45720" rtlCol="0" anchor="ctr">
            <a:normAutofit/>
          </a:bodyPr>
          <a:lstStyle>
            <a:lvl1pPr algn="r">
              <a:defRPr sz="675">
                <a:solidFill>
                  <a:schemeClr val="tx1">
                    <a:tint val="75000"/>
                  </a:schemeClr>
                </a:solidFill>
              </a:defRPr>
            </a:lvl1pPr>
          </a:lstStyle>
          <a:p>
            <a:fld id="{49AE70B2-8BF9-45C0-BB95-33D1B9D3A854}" type="slidenum">
              <a:rPr lang="zh-CN" altLang="en-US" smtClean="0"/>
            </a:fld>
            <a:endParaRPr lang="zh-CN" altLang="en-US" dirty="0"/>
          </a:p>
        </p:txBody>
      </p:sp>
      <p:sp>
        <p:nvSpPr>
          <p:cNvPr id="11" name="矩形 10"/>
          <p:cNvSpPr/>
          <p:nvPr userDrawn="1"/>
        </p:nvSpPr>
        <p:spPr>
          <a:xfrm>
            <a:off x="10" y="-4233"/>
            <a:ext cx="9177655" cy="686223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70"/>
          </a:p>
        </p:txBody>
      </p:sp>
      <p:pic>
        <p:nvPicPr>
          <p:cNvPr id="12" name="图片 11"/>
          <p:cNvPicPr>
            <a:picLocks noChangeAspect="1"/>
          </p:cNvPicPr>
          <p:nvPr userDrawn="1"/>
        </p:nvPicPr>
        <p:blipFill>
          <a:blip r:embed="rId7" cstate="print">
            <a:extLst>
              <a:ext uri="{28A0092B-C50C-407E-A947-70E740481C1C}">
                <a14:useLocalDpi xmlns:a14="http://schemas.microsoft.com/office/drawing/2010/main" val="0"/>
              </a:ext>
            </a:extLst>
          </a:blip>
          <a:srcRect r="260"/>
          <a:stretch>
            <a:fillRect/>
          </a:stretch>
        </p:blipFill>
        <p:spPr>
          <a:xfrm>
            <a:off x="3086735" y="-4445"/>
            <a:ext cx="6083670" cy="7517130"/>
          </a:xfrm>
          <a:prstGeom prst="rect">
            <a:avLst/>
          </a:prstGeom>
        </p:spPr>
      </p:pic>
      <p:pic>
        <p:nvPicPr>
          <p:cNvPr id="13" name="图片 12"/>
          <p:cNvPicPr>
            <a:picLocks noChangeAspect="1"/>
          </p:cNvPicPr>
          <p:nvPr userDrawn="1"/>
        </p:nvPicPr>
        <p:blipFill>
          <a:blip r:embed="rId8">
            <a:extLst>
              <a:ext uri="{28A0092B-C50C-407E-A947-70E740481C1C}">
                <a14:useLocalDpi xmlns:a14="http://schemas.microsoft.com/office/drawing/2010/main" val="0"/>
              </a:ext>
            </a:extLst>
          </a:blip>
          <a:srcRect l="22642" t="5943" r="24" b="204"/>
          <a:stretch>
            <a:fillRect/>
          </a:stretch>
        </p:blipFill>
        <p:spPr>
          <a:xfrm>
            <a:off x="2" y="-4445"/>
            <a:ext cx="4055745" cy="5560060"/>
          </a:xfrm>
          <a:prstGeom prst="rect">
            <a:avLst/>
          </a:prstGeom>
        </p:spPr>
      </p:pic>
      <p:sp>
        <p:nvSpPr>
          <p:cNvPr id="7" name="标题 6"/>
          <p:cNvSpPr>
            <a:spLocks noGrp="1"/>
          </p:cNvSpPr>
          <p:nvPr>
            <p:ph type="ctrTitle" hasCustomPrompt="1"/>
            <p:custDataLst>
              <p:tags r:id="rId9"/>
            </p:custDataLst>
          </p:nvPr>
        </p:nvSpPr>
        <p:spPr>
          <a:xfrm>
            <a:off x="1" y="2864314"/>
            <a:ext cx="9180512" cy="1128751"/>
          </a:xfrm>
        </p:spPr>
        <p:txBody>
          <a:bodyPr lIns="101600" tIns="38100" rIns="25400" bIns="38100" anchor="t" anchorCtr="0">
            <a:noAutofit/>
          </a:bodyPr>
          <a:lstStyle>
            <a:lvl1pPr algn="ctr">
              <a:defRPr sz="3600" b="1" spc="338">
                <a:solidFill>
                  <a:schemeClr val="bg1"/>
                </a:solidFill>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EA0815C0-8E39-4B4D-A340-C423EA2A9CA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BC1D6EE-4B86-482F-B23C-31FCDB006BD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CE5A368B-6B23-4370-A1BF-66C4D3D2EDFD}"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825625"/>
            <a:ext cx="386715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340CB58-845E-46A0-8B1C-BA054B083CA8}"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2696CD1-1B85-48A5-A9FF-F3EBE3AD69B6}"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7BEE183-59F6-4501-9EFE-9F0059B43FA2}"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4343346-1D84-418C-8D7C-3508664CA92F}"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A9BBD14-BAB7-4ACC-9C93-A3677C2FF117}"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65C95CA-F6AE-412C-AE44-6917568D3F8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B5B91E4-613F-4295-B967-39480E84206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83D35EB-D8F9-4384-8452-071EAB97BAF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AF37A2-0772-47C1-9CA1-02136B2BEB9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6.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2" Type="http://schemas.openxmlformats.org/officeDocument/2006/relationships/theme" Target="../theme/theme2.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6BF3B5-6490-4F23-A5A4-C88FB91390B3}" type="datetime1">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CBAC70-8536-48D3-A193-A02FB16FDE8D}" type="slidenum">
              <a:rPr lang="zh-CN" altLang="en-US" smtClean="0"/>
            </a:fld>
            <a:endParaRPr lang="zh-CN" altLang="en-US"/>
          </a:p>
        </p:txBody>
      </p:sp>
      <p:pic>
        <p:nvPicPr>
          <p:cNvPr id="7" name="图片 6"/>
          <p:cNvPicPr>
            <a:picLocks noChangeAspect="1"/>
          </p:cNvPicPr>
          <p:nvPr userDrawn="1"/>
        </p:nvPicPr>
        <p:blipFill rotWithShape="1">
          <a:blip r:embed="rId5" cstate="print">
            <a:extLst>
              <a:ext uri="{28A0092B-C50C-407E-A947-70E740481C1C}">
                <a14:useLocalDpi xmlns:a14="http://schemas.microsoft.com/office/drawing/2010/main" val="0"/>
              </a:ext>
            </a:extLst>
          </a:blip>
          <a:srcRect t="24709"/>
          <a:stretch>
            <a:fillRect/>
          </a:stretch>
        </p:blipFill>
        <p:spPr>
          <a:xfrm>
            <a:off x="5755500" y="0"/>
            <a:ext cx="3388500" cy="412169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3138C9-A402-4411-8EDA-910239CCAC99}" type="datetime1">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AF37A2-0772-47C1-9CA1-02136B2BEB9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8" Type="http://schemas.openxmlformats.org/officeDocument/2006/relationships/notesSlide" Target="../notesSlides/notesSlide2.xml"/><Relationship Id="rId17" Type="http://schemas.openxmlformats.org/officeDocument/2006/relationships/slideLayout" Target="../slideLayouts/slideLayout2.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8" Type="http://schemas.openxmlformats.org/officeDocument/2006/relationships/notesSlide" Target="../notesSlides/notesSlide5.xml"/><Relationship Id="rId17" Type="http://schemas.openxmlformats.org/officeDocument/2006/relationships/slideLayout" Target="../slideLayouts/slideLayout2.xml"/><Relationship Id="rId16" Type="http://schemas.openxmlformats.org/officeDocument/2006/relationships/tags" Target="../tags/tag39.xml"/><Relationship Id="rId15" Type="http://schemas.openxmlformats.org/officeDocument/2006/relationships/tags" Target="../tags/tag38.xml"/><Relationship Id="rId14" Type="http://schemas.openxmlformats.org/officeDocument/2006/relationships/tags" Target="../tags/tag37.xml"/><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tags" Target="../tags/tag24.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0" Type="http://schemas.openxmlformats.org/officeDocument/2006/relationships/notesSlide" Target="../notesSlides/notesSlide7.xml"/><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3.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9.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8" Type="http://schemas.openxmlformats.org/officeDocument/2006/relationships/notesSlide" Target="../notesSlides/notesSlide9.xml"/><Relationship Id="rId17" Type="http://schemas.openxmlformats.org/officeDocument/2006/relationships/slideLayout" Target="../slideLayouts/slideLayout2.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3.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emf"/><Relationship Id="rId1" Type="http://schemas.openxmlformats.org/officeDocument/2006/relationships/image" Target="../media/image48.em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3.png"/></Relationships>
</file>

<file path=ppt/slides/_rels/slide16.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8" Type="http://schemas.openxmlformats.org/officeDocument/2006/relationships/notesSlide" Target="../notesSlides/notesSlide15.xml"/><Relationship Id="rId17" Type="http://schemas.openxmlformats.org/officeDocument/2006/relationships/slideLayout" Target="../slideLayouts/slideLayout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17.xml.rels><?xml version="1.0" encoding="UTF-8" standalone="yes"?>
<Relationships xmlns="http://schemas.openxmlformats.org/package/2006/relationships"><Relationship Id="rId9" Type="http://schemas.openxmlformats.org/officeDocument/2006/relationships/image" Target="../media/image62.png"/><Relationship Id="rId8" Type="http://schemas.openxmlformats.org/officeDocument/2006/relationships/image" Target="../media/image61.png"/><Relationship Id="rId7" Type="http://schemas.openxmlformats.org/officeDocument/2006/relationships/image" Target="../media/image60.png"/><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2" Type="http://schemas.openxmlformats.org/officeDocument/2006/relationships/notesSlide" Target="../notesSlides/notesSlide16.xml"/><Relationship Id="rId11" Type="http://schemas.openxmlformats.org/officeDocument/2006/relationships/slideLayout" Target="../slideLayouts/slideLayout3.xml"/><Relationship Id="rId10" Type="http://schemas.openxmlformats.org/officeDocument/2006/relationships/image" Target="../media/image63.png"/><Relationship Id="rId1" Type="http://schemas.openxmlformats.org/officeDocument/2006/relationships/image" Target="../media/image54.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3.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68.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21.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8" Type="http://schemas.openxmlformats.org/officeDocument/2006/relationships/notesSlide" Target="../notesSlides/notesSlide19.xml"/><Relationship Id="rId17" Type="http://schemas.openxmlformats.org/officeDocument/2006/relationships/slideLayout" Target="../slideLayouts/slideLayout2.xml"/><Relationship Id="rId16" Type="http://schemas.openxmlformats.org/officeDocument/2006/relationships/tags" Target="../tags/tag87.xml"/><Relationship Id="rId15" Type="http://schemas.openxmlformats.org/officeDocument/2006/relationships/tags" Target="../tags/tag86.xml"/><Relationship Id="rId14" Type="http://schemas.openxmlformats.org/officeDocument/2006/relationships/tags" Target="../tags/tag85.xml"/><Relationship Id="rId13" Type="http://schemas.openxmlformats.org/officeDocument/2006/relationships/tags" Target="../tags/tag84.xml"/><Relationship Id="rId12" Type="http://schemas.openxmlformats.org/officeDocument/2006/relationships/tags" Target="../tags/tag83.xml"/><Relationship Id="rId11" Type="http://schemas.openxmlformats.org/officeDocument/2006/relationships/tags" Target="../tags/tag82.xml"/><Relationship Id="rId10" Type="http://schemas.openxmlformats.org/officeDocument/2006/relationships/tags" Target="../tags/tag81.xml"/><Relationship Id="rId1" Type="http://schemas.openxmlformats.org/officeDocument/2006/relationships/tags" Target="../tags/tag7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43218" y="1673336"/>
            <a:ext cx="8457565" cy="1815299"/>
          </a:xfrm>
        </p:spPr>
        <p:txBody>
          <a:bodyPr anchor="ctr" anchorCtr="1">
            <a:noAutofit/>
          </a:bodyPr>
          <a:lstStyle/>
          <a:p>
            <a:pPr>
              <a:lnSpc>
                <a:spcPct val="150000"/>
              </a:lnSpc>
            </a:pPr>
            <a:r>
              <a:rPr lang="zh-CN" altLang="en-US" sz="4000" b="1" dirty="0">
                <a:solidFill>
                  <a:schemeClr val="bg1"/>
                </a:solidFill>
                <a:cs typeface="微软雅黑" panose="020B0503020204020204" pitchFamily="34" charset="-122"/>
              </a:rPr>
              <a:t>基于元强化学习的多类型车间及其多目标问题调度</a:t>
            </a:r>
            <a:r>
              <a:rPr lang="zh-CN" altLang="en-US" sz="4000" b="1" dirty="0">
                <a:solidFill>
                  <a:schemeClr val="bg1"/>
                </a:solidFill>
                <a:cs typeface="微软雅黑" panose="020B0503020204020204" pitchFamily="34" charset="-122"/>
              </a:rPr>
              <a:t>优化研究</a:t>
            </a:r>
            <a:endParaRPr lang="zh-CN" altLang="en-US" sz="4000" b="1" dirty="0">
              <a:solidFill>
                <a:schemeClr val="bg1"/>
              </a:solidFill>
              <a:cs typeface="微软雅黑" panose="020B0503020204020204" pitchFamily="34" charset="-122"/>
            </a:endParaRPr>
          </a:p>
        </p:txBody>
      </p:sp>
      <p:sp>
        <p:nvSpPr>
          <p:cNvPr id="13" name="文本框 12"/>
          <p:cNvSpPr txBox="1"/>
          <p:nvPr/>
        </p:nvSpPr>
        <p:spPr>
          <a:xfrm>
            <a:off x="1138237" y="4378352"/>
            <a:ext cx="6867525" cy="1868805"/>
          </a:xfrm>
          <a:prstGeom prst="rect">
            <a:avLst/>
          </a:prstGeom>
          <a:noFill/>
        </p:spPr>
        <p:txBody>
          <a:bodyPr wrap="square" rtlCol="0">
            <a:spAutoFit/>
          </a:bodyPr>
          <a:lstStyle/>
          <a:p>
            <a:pPr indent="0" algn="ctr" fontAlgn="auto">
              <a:lnSpc>
                <a:spcPct val="150000"/>
              </a:lnSpc>
              <a:defRPr/>
            </a:pPr>
            <a:r>
              <a:rPr lang="zh-CN" altLang="en-US" sz="28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答辩人：李安</a:t>
            </a:r>
            <a:endParaRPr lang="en-US" altLang="zh-CN" sz="28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fontAlgn="auto">
              <a:lnSpc>
                <a:spcPct val="150000"/>
              </a:lnSpc>
              <a:defRPr/>
            </a:pPr>
            <a:r>
              <a:rPr lang="zh-CN" altLang="en-US" sz="28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指导老师：</a:t>
            </a:r>
            <a:r>
              <a:rPr lang="zh-CN" altLang="en-US" sz="28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刘琼 教授</a:t>
            </a:r>
            <a:endParaRPr lang="zh-CN" altLang="en-US" sz="28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fontAlgn="auto">
              <a:lnSpc>
                <a:spcPct val="150000"/>
              </a:lnSpc>
              <a:defRPr/>
            </a:pPr>
            <a:r>
              <a:rPr lang="en-US" altLang="zh-CN" sz="21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21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21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1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21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21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rPr>
              <a:t>日</a:t>
            </a:r>
            <a:endParaRPr lang="zh-CN" altLang="en-US" sz="2100" b="1" dirty="0">
              <a:solidFill>
                <a:srgbClr val="00458E"/>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7909"/>
    </mc:Choice>
    <mc:Fallback>
      <p:transition spd="slow" advTm="790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custDataLst>
              <p:tags r:id="rId1"/>
            </p:custDataLst>
          </p:nvPr>
        </p:nvGrpSpPr>
        <p:grpSpPr>
          <a:xfrm>
            <a:off x="4572000" y="1903730"/>
            <a:ext cx="3910965" cy="2896263"/>
            <a:chOff x="4572000" y="2331450"/>
            <a:chExt cx="3285600" cy="2914371"/>
          </a:xfrm>
        </p:grpSpPr>
        <p:sp>
          <p:nvSpPr>
            <p:cNvPr id="4" name="矩形 3"/>
            <p:cNvSpPr/>
            <p:nvPr>
              <p:custDataLst>
                <p:tags r:id="rId2"/>
              </p:custDataLst>
            </p:nvPr>
          </p:nvSpPr>
          <p:spPr>
            <a:xfrm>
              <a:off x="4572000" y="2345681"/>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9"/>
            <p:cNvSpPr txBox="1"/>
            <p:nvPr>
              <p:custDataLst>
                <p:tags r:id="rId3"/>
              </p:custDataLst>
            </p:nvPr>
          </p:nvSpPr>
          <p:spPr>
            <a:xfrm>
              <a:off x="5192495" y="2331450"/>
              <a:ext cx="2452266" cy="409580"/>
            </a:xfrm>
            <a:prstGeom prst="rect">
              <a:avLst/>
            </a:prstGeom>
            <a:noFill/>
          </p:spPr>
          <p:txBody>
            <a:bodyPr wrap="square" lIns="38567" tIns="19283" rIns="38567" bIns="19283" rtlCol="0">
              <a:spAutoFit/>
            </a:bodyPr>
            <a:lstStyle/>
            <a:p>
              <a:pPr marL="0" lvl="1"/>
              <a:r>
                <a:rPr lang="zh-CN" altLang="en-US" sz="2400" b="1" dirty="0">
                  <a:solidFill>
                    <a:schemeClr val="tx1"/>
                  </a:solidFill>
                  <a:latin typeface="微软雅黑" panose="020B0503020204020204" pitchFamily="34" charset="-122"/>
                  <a:ea typeface="微软雅黑" panose="020B0503020204020204" pitchFamily="34" charset="-122"/>
                </a:rPr>
                <a:t>研究背景</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custDataLst>
                <p:tags r:id="rId4"/>
              </p:custDataLst>
            </p:nvPr>
          </p:nvSpPr>
          <p:spPr>
            <a:xfrm>
              <a:off x="4572000" y="293227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9"/>
            <p:cNvSpPr txBox="1"/>
            <p:nvPr>
              <p:custDataLst>
                <p:tags r:id="rId5"/>
              </p:custDataLst>
            </p:nvPr>
          </p:nvSpPr>
          <p:spPr>
            <a:xfrm>
              <a:off x="5192495" y="2932277"/>
              <a:ext cx="2657725"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sym typeface="+mn-ea"/>
                </a:rPr>
                <a:t>元强化学习</a:t>
              </a:r>
              <a:r>
                <a:rPr lang="zh-CN" altLang="en-US" sz="2400" dirty="0">
                  <a:solidFill>
                    <a:srgbClr val="00458E"/>
                  </a:solidFill>
                  <a:latin typeface="微软雅黑" panose="020B0503020204020204" pitchFamily="34" charset="-122"/>
                  <a:ea typeface="微软雅黑" panose="020B0503020204020204" pitchFamily="34" charset="-122"/>
                  <a:sym typeface="+mn-ea"/>
                </a:rPr>
                <a:t>框架</a:t>
              </a:r>
              <a:endParaRPr lang="zh-CN" altLang="en-US" sz="2400" dirty="0">
                <a:solidFill>
                  <a:srgbClr val="00458E"/>
                </a:solidFill>
                <a:latin typeface="微软雅黑" panose="020B0503020204020204" pitchFamily="34" charset="-122"/>
                <a:ea typeface="微软雅黑" panose="020B0503020204020204" pitchFamily="34" charset="-122"/>
                <a:sym typeface="+mn-ea"/>
              </a:endParaRPr>
            </a:p>
          </p:txBody>
        </p:sp>
        <p:sp>
          <p:nvSpPr>
            <p:cNvPr id="20" name="文本框 19"/>
            <p:cNvSpPr txBox="1"/>
            <p:nvPr>
              <p:custDataLst>
                <p:tags r:id="rId6"/>
              </p:custDataLst>
            </p:nvPr>
          </p:nvSpPr>
          <p:spPr>
            <a:xfrm>
              <a:off x="4579381" y="2420171"/>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01</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custDataLst>
                <p:tags r:id="rId7"/>
              </p:custDataLst>
            </p:nvPr>
          </p:nvSpPr>
          <p:spPr>
            <a:xfrm>
              <a:off x="4579381" y="3006768"/>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02</a:t>
              </a:r>
              <a:endPar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custDataLst>
                <p:tags r:id="rId8"/>
              </p:custDataLst>
            </p:nvPr>
          </p:nvSpPr>
          <p:spPr>
            <a:xfrm>
              <a:off x="4579381" y="358384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9"/>
            <p:cNvSpPr txBox="1"/>
            <p:nvPr>
              <p:custDataLst>
                <p:tags r:id="rId9"/>
              </p:custDataLst>
            </p:nvPr>
          </p:nvSpPr>
          <p:spPr>
            <a:xfrm>
              <a:off x="5199875" y="3569616"/>
              <a:ext cx="2657725"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多类型车间单目标</a:t>
              </a:r>
              <a:r>
                <a:rPr lang="zh-CN" altLang="en-US" sz="2400" dirty="0">
                  <a:solidFill>
                    <a:srgbClr val="00458E"/>
                  </a:solidFill>
                  <a:latin typeface="微软雅黑" panose="020B0503020204020204" pitchFamily="34" charset="-122"/>
                  <a:ea typeface="微软雅黑" panose="020B0503020204020204" pitchFamily="34" charset="-122"/>
                </a:rPr>
                <a:t>调度</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10"/>
              </p:custDataLst>
            </p:nvPr>
          </p:nvSpPr>
          <p:spPr>
            <a:xfrm>
              <a:off x="4586762" y="3658337"/>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11"/>
              </p:custDataLst>
            </p:nvPr>
          </p:nvSpPr>
          <p:spPr>
            <a:xfrm>
              <a:off x="4586762" y="4213133"/>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9"/>
            <p:cNvSpPr txBox="1"/>
            <p:nvPr>
              <p:custDataLst>
                <p:tags r:id="rId12"/>
              </p:custDataLst>
            </p:nvPr>
          </p:nvSpPr>
          <p:spPr>
            <a:xfrm>
              <a:off x="5207256" y="4198902"/>
              <a:ext cx="2642963"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基于分解的多目标</a:t>
              </a:r>
              <a:r>
                <a:rPr lang="zh-CN" altLang="en-US" sz="2400" dirty="0">
                  <a:solidFill>
                    <a:srgbClr val="00458E"/>
                  </a:solidFill>
                  <a:latin typeface="微软雅黑" panose="020B0503020204020204" pitchFamily="34" charset="-122"/>
                  <a:ea typeface="微软雅黑" panose="020B0503020204020204" pitchFamily="34" charset="-122"/>
                </a:rPr>
                <a:t>调度</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13"/>
              </p:custDataLst>
            </p:nvPr>
          </p:nvSpPr>
          <p:spPr>
            <a:xfrm>
              <a:off x="4594143" y="4287623"/>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04</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custDataLst>
                <p:tags r:id="rId14"/>
              </p:custDataLst>
            </p:nvPr>
          </p:nvSpPr>
          <p:spPr>
            <a:xfrm>
              <a:off x="4594143" y="4850472"/>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9"/>
            <p:cNvSpPr txBox="1"/>
            <p:nvPr>
              <p:custDataLst>
                <p:tags r:id="rId15"/>
              </p:custDataLst>
            </p:nvPr>
          </p:nvSpPr>
          <p:spPr>
            <a:xfrm>
              <a:off x="5214638" y="4836241"/>
              <a:ext cx="2452266"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总结与展望</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16"/>
              </p:custDataLst>
            </p:nvPr>
          </p:nvSpPr>
          <p:spPr>
            <a:xfrm>
              <a:off x="4601524" y="4924962"/>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05</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59"/>
    </mc:Choice>
    <mc:Fallback>
      <p:transition spd="slow" advTm="35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研究背景</a:t>
            </a:r>
            <a:endParaRPr lang="zh-CN" altLang="en-US" dirty="0"/>
          </a:p>
        </p:txBody>
      </p:sp>
      <p:sp>
        <p:nvSpPr>
          <p:cNvPr id="6" name="Rectangle 3"/>
          <p:cNvSpPr>
            <a:spLocks noChangeArrowheads="1"/>
          </p:cNvSpPr>
          <p:nvPr/>
        </p:nvSpPr>
        <p:spPr bwMode="auto">
          <a:xfrm>
            <a:off x="87085" y="156073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3" name="文本框 2"/>
          <p:cNvSpPr txBox="1"/>
          <p:nvPr/>
        </p:nvSpPr>
        <p:spPr>
          <a:xfrm>
            <a:off x="-53340" y="591249"/>
            <a:ext cx="3406140" cy="556260"/>
          </a:xfrm>
          <a:prstGeom prst="rect">
            <a:avLst/>
          </a:prstGeom>
          <a:noFill/>
        </p:spPr>
        <p:txBody>
          <a:bodyPr wrap="square" rtlCol="0" anchor="t">
            <a:no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不同类型车间的差异</a:t>
            </a:r>
            <a:endParaRPr lang="zh-CN" altLang="en-US" b="1" dirty="0">
              <a:latin typeface="微软雅黑" panose="020B0503020204020204" pitchFamily="34" charset="-122"/>
              <a:ea typeface="微软雅黑" panose="020B0503020204020204" pitchFamily="34" charset="-122"/>
            </a:endParaRPr>
          </a:p>
          <a:p>
            <a:pPr marL="285750" indent="-285750">
              <a:lnSpc>
                <a:spcPct val="170000"/>
              </a:lnSpc>
              <a:buClr>
                <a:srgbClr val="FF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sym typeface="+mn-ea"/>
            </a:endParaRPr>
          </a:p>
        </p:txBody>
      </p:sp>
      <p:sp>
        <p:nvSpPr>
          <p:cNvPr id="7" name="灯片编号占位符 6"/>
          <p:cNvSpPr>
            <a:spLocks noGrp="1"/>
          </p:cNvSpPr>
          <p:nvPr>
            <p:ph type="sldNum" sz="quarter" idx="12"/>
          </p:nvPr>
        </p:nvSpPr>
        <p:spPr/>
        <p:txBody>
          <a:bodyPr/>
          <a:lstStyle/>
          <a:p>
            <a:r>
              <a:rPr lang="en-US" altLang="zh-CN" dirty="0">
                <a:latin typeface="Times New Roman" panose="02020603050405020304" pitchFamily="18" charset="0"/>
                <a:cs typeface="Times New Roman" panose="02020603050405020304" pitchFamily="18" charset="0"/>
              </a:rPr>
              <a:t>1</a:t>
            </a:r>
            <a:endParaRPr lang="en-US" altLang="zh-CN" dirty="0">
              <a:latin typeface="Times New Roman" panose="02020603050405020304" pitchFamily="18" charset="0"/>
              <a:cs typeface="Times New Roman" panose="02020603050405020304" pitchFamily="18" charset="0"/>
            </a:endParaRPr>
          </a:p>
        </p:txBody>
      </p:sp>
      <p:pic>
        <p:nvPicPr>
          <p:cNvPr id="5" name="图片 4"/>
          <p:cNvPicPr/>
          <p:nvPr/>
        </p:nvPicPr>
        <p:blipFill>
          <a:blip r:embed="rId1"/>
          <a:stretch>
            <a:fillRect/>
          </a:stretch>
        </p:blipFill>
        <p:spPr>
          <a:xfrm>
            <a:off x="450850" y="3700145"/>
            <a:ext cx="2980690" cy="2159635"/>
          </a:xfrm>
          <a:prstGeom prst="rect">
            <a:avLst/>
          </a:prstGeom>
        </p:spPr>
      </p:pic>
      <p:pic>
        <p:nvPicPr>
          <p:cNvPr id="8" name="图片 7" descr="job_shop_simulation"/>
          <p:cNvPicPr>
            <a:picLocks noChangeAspect="1"/>
          </p:cNvPicPr>
          <p:nvPr/>
        </p:nvPicPr>
        <p:blipFill>
          <a:blip r:embed="rId2"/>
          <a:srcRect t="14043" r="62882" b="31507"/>
          <a:stretch>
            <a:fillRect/>
          </a:stretch>
        </p:blipFill>
        <p:spPr>
          <a:xfrm>
            <a:off x="5657850" y="5082540"/>
            <a:ext cx="1610995" cy="1410970"/>
          </a:xfrm>
          <a:prstGeom prst="rect">
            <a:avLst/>
          </a:prstGeom>
        </p:spPr>
      </p:pic>
      <p:pic>
        <p:nvPicPr>
          <p:cNvPr id="9" name="图片 8" descr="flow_shop_simulation"/>
          <p:cNvPicPr>
            <a:picLocks noChangeAspect="1"/>
          </p:cNvPicPr>
          <p:nvPr/>
        </p:nvPicPr>
        <p:blipFill>
          <a:blip r:embed="rId3"/>
          <a:srcRect t="22667" r="53788"/>
          <a:stretch>
            <a:fillRect/>
          </a:stretch>
        </p:blipFill>
        <p:spPr>
          <a:xfrm>
            <a:off x="5657850" y="2853055"/>
            <a:ext cx="2048510" cy="2056130"/>
          </a:xfrm>
          <a:prstGeom prst="rect">
            <a:avLst/>
          </a:prstGeom>
        </p:spPr>
      </p:pic>
      <p:sp>
        <p:nvSpPr>
          <p:cNvPr id="10" name="右箭头 9"/>
          <p:cNvSpPr/>
          <p:nvPr/>
        </p:nvSpPr>
        <p:spPr>
          <a:xfrm>
            <a:off x="3936365" y="3869055"/>
            <a:ext cx="1216660" cy="104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右箭头 10"/>
          <p:cNvSpPr/>
          <p:nvPr/>
        </p:nvSpPr>
        <p:spPr>
          <a:xfrm>
            <a:off x="3936365" y="5386705"/>
            <a:ext cx="1216660" cy="104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3642360" y="3500755"/>
            <a:ext cx="3048000" cy="368300"/>
          </a:xfrm>
          <a:prstGeom prst="rect">
            <a:avLst/>
          </a:prstGeom>
          <a:noFill/>
        </p:spPr>
        <p:txBody>
          <a:bodyPr wrap="square" rtlCol="0">
            <a:spAutoFit/>
          </a:bodyPr>
          <a:p>
            <a:r>
              <a:rPr lang="zh-CN" altLang="en-US"/>
              <a:t>工艺成熟的</a:t>
            </a:r>
            <a:r>
              <a:rPr lang="zh-CN" altLang="en-US"/>
              <a:t>产品</a:t>
            </a:r>
            <a:endParaRPr lang="zh-CN" altLang="en-US"/>
          </a:p>
        </p:txBody>
      </p:sp>
      <p:sp>
        <p:nvSpPr>
          <p:cNvPr id="16" name="文本框 15"/>
          <p:cNvSpPr txBox="1"/>
          <p:nvPr/>
        </p:nvSpPr>
        <p:spPr>
          <a:xfrm>
            <a:off x="3642360" y="5491480"/>
            <a:ext cx="3048000" cy="368300"/>
          </a:xfrm>
          <a:prstGeom prst="rect">
            <a:avLst/>
          </a:prstGeom>
          <a:noFill/>
        </p:spPr>
        <p:txBody>
          <a:bodyPr wrap="square" rtlCol="0">
            <a:spAutoFit/>
          </a:bodyPr>
          <a:p>
            <a:r>
              <a:rPr lang="zh-CN" altLang="en-US"/>
              <a:t>新研发</a:t>
            </a:r>
            <a:r>
              <a:rPr lang="zh-CN" altLang="en-US"/>
              <a:t>产品</a:t>
            </a:r>
            <a:endParaRPr lang="zh-CN" altLang="en-US"/>
          </a:p>
        </p:txBody>
      </p:sp>
      <p:sp>
        <p:nvSpPr>
          <p:cNvPr id="19" name="文本框 18"/>
          <p:cNvSpPr txBox="1"/>
          <p:nvPr/>
        </p:nvSpPr>
        <p:spPr>
          <a:xfrm>
            <a:off x="8074660" y="2934335"/>
            <a:ext cx="3048000" cy="368300"/>
          </a:xfrm>
          <a:prstGeom prst="rect">
            <a:avLst/>
          </a:prstGeom>
          <a:noFill/>
        </p:spPr>
        <p:txBody>
          <a:bodyPr wrap="square" rtlCol="0">
            <a:spAutoFit/>
          </a:bodyPr>
          <a:p>
            <a:r>
              <a:rPr lang="zh-CN" altLang="en-US"/>
              <a:t>特点</a:t>
            </a:r>
            <a:endParaRPr lang="zh-CN" altLang="en-US"/>
          </a:p>
        </p:txBody>
      </p:sp>
      <p:sp>
        <p:nvSpPr>
          <p:cNvPr id="20" name="文本框 19"/>
          <p:cNvSpPr txBox="1"/>
          <p:nvPr/>
        </p:nvSpPr>
        <p:spPr>
          <a:xfrm>
            <a:off x="7813675" y="3490595"/>
            <a:ext cx="3048000" cy="645160"/>
          </a:xfrm>
          <a:prstGeom prst="rect">
            <a:avLst/>
          </a:prstGeom>
          <a:noFill/>
        </p:spPr>
        <p:txBody>
          <a:bodyPr wrap="square" rtlCol="0">
            <a:spAutoFit/>
          </a:bodyPr>
          <a:p>
            <a:r>
              <a:rPr lang="zh-CN" altLang="en-US"/>
              <a:t>大批量</a:t>
            </a:r>
            <a:br>
              <a:rPr lang="zh-CN" altLang="en-US"/>
            </a:br>
            <a:r>
              <a:rPr lang="zh-CN" altLang="en-US"/>
              <a:t>生产线固定</a:t>
            </a:r>
            <a:endParaRPr lang="zh-CN" altLang="en-US"/>
          </a:p>
        </p:txBody>
      </p:sp>
      <p:sp>
        <p:nvSpPr>
          <p:cNvPr id="21" name="文本框 20"/>
          <p:cNvSpPr txBox="1"/>
          <p:nvPr/>
        </p:nvSpPr>
        <p:spPr>
          <a:xfrm>
            <a:off x="7439660" y="5584825"/>
            <a:ext cx="3048000" cy="645160"/>
          </a:xfrm>
          <a:prstGeom prst="rect">
            <a:avLst/>
          </a:prstGeom>
          <a:noFill/>
        </p:spPr>
        <p:txBody>
          <a:bodyPr wrap="square" rtlCol="0">
            <a:spAutoFit/>
          </a:bodyPr>
          <a:p>
            <a:r>
              <a:rPr lang="zh-CN" altLang="en-US"/>
              <a:t>需求不固定</a:t>
            </a:r>
            <a:br>
              <a:rPr lang="zh-CN" altLang="en-US"/>
            </a:br>
            <a:r>
              <a:rPr lang="zh-CN" altLang="en-US"/>
              <a:t>没有固定</a:t>
            </a:r>
            <a:r>
              <a:rPr lang="zh-CN" altLang="en-US"/>
              <a:t>生产线</a:t>
            </a:r>
            <a:endParaRPr lang="zh-CN" altLang="en-US"/>
          </a:p>
        </p:txBody>
      </p:sp>
      <p:sp>
        <p:nvSpPr>
          <p:cNvPr id="23" name="文本框 22"/>
          <p:cNvSpPr txBox="1"/>
          <p:nvPr/>
        </p:nvSpPr>
        <p:spPr>
          <a:xfrm>
            <a:off x="306070" y="1220470"/>
            <a:ext cx="3895725" cy="398780"/>
          </a:xfrm>
          <a:prstGeom prst="rect">
            <a:avLst/>
          </a:prstGeom>
          <a:noFill/>
        </p:spPr>
        <p:txBody>
          <a:bodyPr wrap="square" rtlCol="0">
            <a:spAutoFit/>
          </a:bodyPr>
          <a:p>
            <a:r>
              <a:rPr lang="zh-CN" altLang="en-US" sz="2000"/>
              <a:t>资源分配；求解决策维度</a:t>
            </a:r>
            <a:endParaRPr lang="zh-CN" altLang="en-US" sz="2000"/>
          </a:p>
        </p:txBody>
      </p:sp>
      <p:pic>
        <p:nvPicPr>
          <p:cNvPr id="24" name="图片 23"/>
          <p:cNvPicPr/>
          <p:nvPr/>
        </p:nvPicPr>
        <p:blipFill>
          <a:blip r:embed="rId1"/>
          <a:stretch>
            <a:fillRect/>
          </a:stretch>
        </p:blipFill>
        <p:spPr>
          <a:xfrm>
            <a:off x="3936365" y="874395"/>
            <a:ext cx="1847850" cy="1226185"/>
          </a:xfrm>
          <a:prstGeom prst="rect">
            <a:avLst/>
          </a:prstGeom>
        </p:spPr>
      </p:pic>
      <p:pic>
        <p:nvPicPr>
          <p:cNvPr id="26" name="图片 25"/>
          <p:cNvPicPr/>
          <p:nvPr/>
        </p:nvPicPr>
        <p:blipFill>
          <a:blip r:embed="rId1"/>
          <a:stretch>
            <a:fillRect/>
          </a:stretch>
        </p:blipFill>
        <p:spPr>
          <a:xfrm>
            <a:off x="6092190" y="874395"/>
            <a:ext cx="1847850" cy="1226185"/>
          </a:xfrm>
          <a:prstGeom prst="rect">
            <a:avLst/>
          </a:prstGeom>
        </p:spPr>
      </p:pic>
      <p:sp>
        <p:nvSpPr>
          <p:cNvPr id="27" name="文本框 26"/>
          <p:cNvSpPr txBox="1"/>
          <p:nvPr/>
        </p:nvSpPr>
        <p:spPr>
          <a:xfrm>
            <a:off x="4458335" y="2121535"/>
            <a:ext cx="3048000" cy="368300"/>
          </a:xfrm>
          <a:prstGeom prst="rect">
            <a:avLst/>
          </a:prstGeom>
          <a:noFill/>
        </p:spPr>
        <p:txBody>
          <a:bodyPr wrap="square" rtlCol="0">
            <a:spAutoFit/>
          </a:bodyPr>
          <a:p>
            <a:r>
              <a:rPr lang="zh-CN" altLang="en-US"/>
              <a:t>车间</a:t>
            </a:r>
            <a:r>
              <a:rPr lang="en-US" altLang="zh-CN"/>
              <a:t>A</a:t>
            </a:r>
            <a:endParaRPr lang="en-US" altLang="zh-CN"/>
          </a:p>
        </p:txBody>
      </p:sp>
      <p:sp>
        <p:nvSpPr>
          <p:cNvPr id="28" name="文本框 27"/>
          <p:cNvSpPr txBox="1"/>
          <p:nvPr/>
        </p:nvSpPr>
        <p:spPr>
          <a:xfrm>
            <a:off x="6690360" y="2121535"/>
            <a:ext cx="3048000" cy="368300"/>
          </a:xfrm>
          <a:prstGeom prst="rect">
            <a:avLst/>
          </a:prstGeom>
          <a:noFill/>
        </p:spPr>
        <p:txBody>
          <a:bodyPr wrap="square" rtlCol="0">
            <a:spAutoFit/>
          </a:bodyPr>
          <a:p>
            <a:r>
              <a:rPr lang="zh-CN" altLang="en-US"/>
              <a:t>车间</a:t>
            </a:r>
            <a:r>
              <a:rPr lang="en-US" altLang="zh-CN"/>
              <a:t>B</a:t>
            </a:r>
            <a:endParaRPr lang="en-US" altLang="zh-CN"/>
          </a:p>
        </p:txBody>
      </p:sp>
      <p:cxnSp>
        <p:nvCxnSpPr>
          <p:cNvPr id="30" name="直接箭头连接符 29"/>
          <p:cNvCxnSpPr/>
          <p:nvPr/>
        </p:nvCxnSpPr>
        <p:spPr>
          <a:xfrm>
            <a:off x="1543685" y="1691640"/>
            <a:ext cx="0" cy="6381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1" name="文本框 30"/>
          <p:cNvSpPr txBox="1"/>
          <p:nvPr/>
        </p:nvSpPr>
        <p:spPr>
          <a:xfrm>
            <a:off x="450850" y="2461260"/>
            <a:ext cx="2056765" cy="368300"/>
          </a:xfrm>
          <a:prstGeom prst="rect">
            <a:avLst/>
          </a:prstGeom>
          <a:noFill/>
          <a:ln>
            <a:solidFill>
              <a:schemeClr val="accent1"/>
            </a:solidFill>
          </a:ln>
        </p:spPr>
        <p:txBody>
          <a:bodyPr wrap="square" rtlCol="0">
            <a:spAutoFit/>
          </a:bodyPr>
          <a:p>
            <a:r>
              <a:rPr lang="zh-CN" altLang="en-US" b="1"/>
              <a:t>求解流程；解空间</a:t>
            </a:r>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2000" advTm="39245"/>
    </mc:Choice>
    <mc:Fallback>
      <p:transition spd="slow" advTm="3924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研究</a:t>
            </a:r>
            <a:r>
              <a:rPr lang="zh-CN" altLang="en-US" dirty="0"/>
              <a:t>背景</a:t>
            </a:r>
            <a:endParaRPr lang="zh-CN" altLang="en-US" dirty="0"/>
          </a:p>
        </p:txBody>
      </p:sp>
      <p:sp>
        <p:nvSpPr>
          <p:cNvPr id="3" name="文本框 2"/>
          <p:cNvSpPr txBox="1"/>
          <p:nvPr/>
        </p:nvSpPr>
        <p:spPr>
          <a:xfrm>
            <a:off x="-53340" y="591249"/>
            <a:ext cx="3406140" cy="556260"/>
          </a:xfrm>
          <a:prstGeom prst="rect">
            <a:avLst/>
          </a:prstGeom>
          <a:noFill/>
        </p:spPr>
        <p:txBody>
          <a:bodyPr wrap="square" rtlCol="0" anchor="t">
            <a:no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现有求解</a:t>
            </a:r>
            <a:r>
              <a:rPr lang="zh-CN" altLang="en-US" b="1" dirty="0">
                <a:latin typeface="微软雅黑" panose="020B0503020204020204" pitchFamily="34" charset="-122"/>
                <a:ea typeface="微软雅黑" panose="020B0503020204020204" pitchFamily="34" charset="-122"/>
                <a:sym typeface="+mn-ea"/>
              </a:rPr>
              <a:t>方法</a:t>
            </a:r>
            <a:endParaRPr lang="zh-CN" altLang="en-US" b="1" dirty="0">
              <a:latin typeface="微软雅黑" panose="020B0503020204020204" pitchFamily="34" charset="-122"/>
              <a:ea typeface="微软雅黑" panose="020B0503020204020204" pitchFamily="34" charset="-122"/>
              <a:sym typeface="+mn-ea"/>
            </a:endParaRPr>
          </a:p>
        </p:txBody>
      </p:sp>
      <p:sp>
        <p:nvSpPr>
          <p:cNvPr id="6" name="灯片编号占位符 5"/>
          <p:cNvSpPr>
            <a:spLocks noGrp="1"/>
          </p:cNvSpPr>
          <p:nvPr>
            <p:ph type="sldNum" sz="quarter" idx="12"/>
          </p:nvPr>
        </p:nvSpPr>
        <p:spPr/>
        <p:txBody>
          <a:bodyPr/>
          <a:lstStyle/>
          <a:p>
            <a:r>
              <a:rPr lang="en-US" altLang="zh-CN" dirty="0">
                <a:solidFill>
                  <a:schemeClr val="tx1"/>
                </a:solidFill>
              </a:rPr>
              <a:t>2</a:t>
            </a:r>
            <a:endParaRPr lang="en-US" altLang="zh-CN" dirty="0">
              <a:solidFill>
                <a:schemeClr val="tx1"/>
              </a:solidFill>
            </a:endParaRPr>
          </a:p>
        </p:txBody>
      </p:sp>
      <p:sp>
        <p:nvSpPr>
          <p:cNvPr id="7" name="椭圆 6"/>
          <p:cNvSpPr/>
          <p:nvPr/>
        </p:nvSpPr>
        <p:spPr>
          <a:xfrm>
            <a:off x="1045845" y="1537335"/>
            <a:ext cx="363855" cy="352425"/>
          </a:xfrm>
          <a:prstGeom prst="ellipse">
            <a:avLst/>
          </a:prstGeom>
          <a:solidFill>
            <a:schemeClr val="accent1"/>
          </a:solid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8" name="椭圆 7"/>
          <p:cNvSpPr/>
          <p:nvPr/>
        </p:nvSpPr>
        <p:spPr>
          <a:xfrm>
            <a:off x="1409700" y="1537335"/>
            <a:ext cx="363855" cy="352425"/>
          </a:xfrm>
          <a:prstGeom prst="ellipse">
            <a:avLst/>
          </a:prstGeom>
          <a:solidFill>
            <a:schemeClr val="accent4"/>
          </a:solid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nvSpPr>
        <p:spPr>
          <a:xfrm>
            <a:off x="1172845" y="1797685"/>
            <a:ext cx="363855" cy="352425"/>
          </a:xfrm>
          <a:prstGeom prst="ellipse">
            <a:avLst/>
          </a:prstGeom>
          <a:solidFill>
            <a:schemeClr val="accent3"/>
          </a:solid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cxnSp>
        <p:nvCxnSpPr>
          <p:cNvPr id="10" name="直接箭头连接符 9"/>
          <p:cNvCxnSpPr/>
          <p:nvPr/>
        </p:nvCxnSpPr>
        <p:spPr>
          <a:xfrm>
            <a:off x="1790065" y="2251710"/>
            <a:ext cx="12573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720850" y="1917700"/>
            <a:ext cx="3048000" cy="306705"/>
          </a:xfrm>
          <a:prstGeom prst="rect">
            <a:avLst/>
          </a:prstGeom>
          <a:noFill/>
        </p:spPr>
        <p:txBody>
          <a:bodyPr wrap="square" rtlCol="0">
            <a:spAutoFit/>
          </a:bodyPr>
          <a:p>
            <a:r>
              <a:rPr lang="zh-CN" altLang="en-US" sz="1400"/>
              <a:t>多种调度规则</a:t>
            </a:r>
            <a:endParaRPr lang="zh-CN" altLang="en-US" sz="1400"/>
          </a:p>
        </p:txBody>
      </p:sp>
      <p:sp>
        <p:nvSpPr>
          <p:cNvPr id="31" name="文本框 30"/>
          <p:cNvSpPr txBox="1"/>
          <p:nvPr/>
        </p:nvSpPr>
        <p:spPr>
          <a:xfrm>
            <a:off x="751840" y="2369185"/>
            <a:ext cx="1333500" cy="306705"/>
          </a:xfrm>
          <a:prstGeom prst="rect">
            <a:avLst/>
          </a:prstGeom>
          <a:noFill/>
        </p:spPr>
        <p:txBody>
          <a:bodyPr wrap="square" rtlCol="0">
            <a:spAutoFit/>
          </a:bodyPr>
          <a:p>
            <a:r>
              <a:rPr lang="zh-CN" altLang="en-US" sz="1400"/>
              <a:t>可加工工序</a:t>
            </a:r>
            <a:endParaRPr lang="zh-CN" altLang="en-US" sz="1400"/>
          </a:p>
        </p:txBody>
      </p:sp>
      <p:sp>
        <p:nvSpPr>
          <p:cNvPr id="33" name="椭圆 32"/>
          <p:cNvSpPr/>
          <p:nvPr/>
        </p:nvSpPr>
        <p:spPr>
          <a:xfrm>
            <a:off x="3226435" y="2016760"/>
            <a:ext cx="363855" cy="352425"/>
          </a:xfrm>
          <a:prstGeom prst="ellipse">
            <a:avLst/>
          </a:prstGeom>
          <a:solidFill>
            <a:schemeClr val="accent4"/>
          </a:solid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6" name="图片 35"/>
          <p:cNvPicPr/>
          <p:nvPr/>
        </p:nvPicPr>
        <p:blipFill>
          <a:blip r:embed="rId1"/>
          <a:stretch>
            <a:fillRect/>
          </a:stretch>
        </p:blipFill>
        <p:spPr>
          <a:xfrm>
            <a:off x="1259840" y="3275330"/>
            <a:ext cx="2214880" cy="1638935"/>
          </a:xfrm>
          <a:prstGeom prst="rect">
            <a:avLst/>
          </a:prstGeom>
        </p:spPr>
      </p:pic>
      <p:sp>
        <p:nvSpPr>
          <p:cNvPr id="37" name="文本框 36"/>
          <p:cNvSpPr txBox="1"/>
          <p:nvPr/>
        </p:nvSpPr>
        <p:spPr>
          <a:xfrm>
            <a:off x="2771140" y="2470785"/>
            <a:ext cx="3048000" cy="306705"/>
          </a:xfrm>
          <a:prstGeom prst="rect">
            <a:avLst/>
          </a:prstGeom>
          <a:noFill/>
        </p:spPr>
        <p:txBody>
          <a:bodyPr wrap="square" rtlCol="0">
            <a:spAutoFit/>
          </a:bodyPr>
          <a:p>
            <a:r>
              <a:rPr lang="zh-CN" altLang="en-US" sz="1400"/>
              <a:t>待加工工序</a:t>
            </a:r>
            <a:endParaRPr lang="zh-CN" altLang="en-US" sz="1400"/>
          </a:p>
        </p:txBody>
      </p:sp>
      <p:grpSp>
        <p:nvGrpSpPr>
          <p:cNvPr id="59" name="组合 58"/>
          <p:cNvGrpSpPr/>
          <p:nvPr/>
        </p:nvGrpSpPr>
        <p:grpSpPr>
          <a:xfrm>
            <a:off x="1500505" y="5506085"/>
            <a:ext cx="1360170" cy="1315720"/>
            <a:chOff x="1847" y="8421"/>
            <a:chExt cx="2382" cy="2322"/>
          </a:xfrm>
        </p:grpSpPr>
        <p:sp>
          <p:nvSpPr>
            <p:cNvPr id="38" name="椭圆 37"/>
            <p:cNvSpPr/>
            <p:nvPr/>
          </p:nvSpPr>
          <p:spPr>
            <a:xfrm>
              <a:off x="1847" y="884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0" name="椭圆 39"/>
            <p:cNvSpPr/>
            <p:nvPr/>
          </p:nvSpPr>
          <p:spPr>
            <a:xfrm>
              <a:off x="2711" y="8421"/>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1" name="椭圆 40"/>
            <p:cNvSpPr/>
            <p:nvPr/>
          </p:nvSpPr>
          <p:spPr>
            <a:xfrm>
              <a:off x="1847" y="964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2" name="椭圆 41"/>
            <p:cNvSpPr/>
            <p:nvPr/>
          </p:nvSpPr>
          <p:spPr>
            <a:xfrm>
              <a:off x="3657" y="884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3" name="椭圆 42"/>
            <p:cNvSpPr/>
            <p:nvPr/>
          </p:nvSpPr>
          <p:spPr>
            <a:xfrm>
              <a:off x="2711" y="928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4" name="椭圆 43"/>
            <p:cNvSpPr/>
            <p:nvPr/>
          </p:nvSpPr>
          <p:spPr>
            <a:xfrm>
              <a:off x="2711" y="10189"/>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6" name="椭圆 45"/>
            <p:cNvSpPr/>
            <p:nvPr/>
          </p:nvSpPr>
          <p:spPr>
            <a:xfrm>
              <a:off x="3657" y="964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cxnSp>
          <p:nvCxnSpPr>
            <p:cNvPr id="47" name="直接连接符 46"/>
            <p:cNvCxnSpPr>
              <a:stCxn id="38" idx="6"/>
              <a:endCxn id="40" idx="2"/>
            </p:cNvCxnSpPr>
            <p:nvPr/>
          </p:nvCxnSpPr>
          <p:spPr>
            <a:xfrm flipV="1">
              <a:off x="2420" y="8699"/>
              <a:ext cx="291" cy="425"/>
            </a:xfrm>
            <a:prstGeom prst="line">
              <a:avLst/>
            </a:prstGeom>
          </p:spPr>
          <p:style>
            <a:lnRef idx="2">
              <a:schemeClr val="accent1"/>
            </a:lnRef>
            <a:fillRef idx="0">
              <a:srgbClr val="FFFFFF"/>
            </a:fillRef>
            <a:effectRef idx="0">
              <a:srgbClr val="FFFFFF"/>
            </a:effectRef>
            <a:fontRef idx="minor">
              <a:schemeClr val="tx1"/>
            </a:fontRef>
          </p:style>
        </p:cxnSp>
        <p:cxnSp>
          <p:nvCxnSpPr>
            <p:cNvPr id="48" name="直接连接符 47"/>
            <p:cNvCxnSpPr>
              <a:stCxn id="41" idx="6"/>
              <a:endCxn id="43" idx="2"/>
            </p:cNvCxnSpPr>
            <p:nvPr/>
          </p:nvCxnSpPr>
          <p:spPr>
            <a:xfrm flipV="1">
              <a:off x="2420" y="9564"/>
              <a:ext cx="291" cy="360"/>
            </a:xfrm>
            <a:prstGeom prst="line">
              <a:avLst/>
            </a:prstGeom>
          </p:spPr>
          <p:style>
            <a:lnRef idx="2">
              <a:schemeClr val="accent1"/>
            </a:lnRef>
            <a:fillRef idx="0">
              <a:srgbClr val="FFFFFF"/>
            </a:fillRef>
            <a:effectRef idx="0">
              <a:srgbClr val="FFFFFF"/>
            </a:effectRef>
            <a:fontRef idx="minor">
              <a:schemeClr val="tx1"/>
            </a:fontRef>
          </p:style>
        </p:cxnSp>
        <p:cxnSp>
          <p:nvCxnSpPr>
            <p:cNvPr id="49" name="直接连接符 48"/>
            <p:cNvCxnSpPr>
              <a:endCxn id="44" idx="1"/>
            </p:cNvCxnSpPr>
            <p:nvPr/>
          </p:nvCxnSpPr>
          <p:spPr>
            <a:xfrm>
              <a:off x="2429" y="9933"/>
              <a:ext cx="366" cy="337"/>
            </a:xfrm>
            <a:prstGeom prst="line">
              <a:avLst/>
            </a:prstGeom>
          </p:spPr>
          <p:style>
            <a:lnRef idx="2">
              <a:schemeClr val="accent1"/>
            </a:lnRef>
            <a:fillRef idx="0">
              <a:srgbClr val="FFFFFF"/>
            </a:fillRef>
            <a:effectRef idx="0">
              <a:srgbClr val="FFFFFF"/>
            </a:effectRef>
            <a:fontRef idx="minor">
              <a:schemeClr val="tx1"/>
            </a:fontRef>
          </p:style>
        </p:cxnSp>
        <p:cxnSp>
          <p:nvCxnSpPr>
            <p:cNvPr id="50" name="直接连接符 49"/>
            <p:cNvCxnSpPr>
              <a:endCxn id="40" idx="2"/>
            </p:cNvCxnSpPr>
            <p:nvPr/>
          </p:nvCxnSpPr>
          <p:spPr>
            <a:xfrm flipV="1">
              <a:off x="2439" y="8699"/>
              <a:ext cx="272" cy="1224"/>
            </a:xfrm>
            <a:prstGeom prst="line">
              <a:avLst/>
            </a:prstGeom>
          </p:spPr>
          <p:style>
            <a:lnRef idx="2">
              <a:schemeClr val="accent1"/>
            </a:lnRef>
            <a:fillRef idx="0">
              <a:srgbClr val="FFFFFF"/>
            </a:fillRef>
            <a:effectRef idx="0">
              <a:srgbClr val="FFFFFF"/>
            </a:effectRef>
            <a:fontRef idx="minor">
              <a:schemeClr val="tx1"/>
            </a:fontRef>
          </p:style>
        </p:cxnSp>
        <p:cxnSp>
          <p:nvCxnSpPr>
            <p:cNvPr id="51" name="直接连接符 50"/>
            <p:cNvCxnSpPr>
              <a:stCxn id="38" idx="6"/>
              <a:endCxn id="43" idx="2"/>
            </p:cNvCxnSpPr>
            <p:nvPr/>
          </p:nvCxnSpPr>
          <p:spPr>
            <a:xfrm>
              <a:off x="2420" y="9124"/>
              <a:ext cx="291" cy="440"/>
            </a:xfrm>
            <a:prstGeom prst="line">
              <a:avLst/>
            </a:prstGeom>
          </p:spPr>
          <p:style>
            <a:lnRef idx="2">
              <a:schemeClr val="accent1"/>
            </a:lnRef>
            <a:fillRef idx="0">
              <a:srgbClr val="FFFFFF"/>
            </a:fillRef>
            <a:effectRef idx="0">
              <a:srgbClr val="FFFFFF"/>
            </a:effectRef>
            <a:fontRef idx="minor">
              <a:schemeClr val="tx1"/>
            </a:fontRef>
          </p:style>
        </p:cxnSp>
        <p:cxnSp>
          <p:nvCxnSpPr>
            <p:cNvPr id="52" name="直接连接符 51"/>
            <p:cNvCxnSpPr>
              <a:endCxn id="44" idx="1"/>
            </p:cNvCxnSpPr>
            <p:nvPr/>
          </p:nvCxnSpPr>
          <p:spPr>
            <a:xfrm>
              <a:off x="2419" y="9083"/>
              <a:ext cx="376" cy="1187"/>
            </a:xfrm>
            <a:prstGeom prst="line">
              <a:avLst/>
            </a:prstGeom>
          </p:spPr>
          <p:style>
            <a:lnRef idx="2">
              <a:schemeClr val="accent1"/>
            </a:lnRef>
            <a:fillRef idx="0">
              <a:srgbClr val="FFFFFF"/>
            </a:fillRef>
            <a:effectRef idx="0">
              <a:srgbClr val="FFFFFF"/>
            </a:effectRef>
            <a:fontRef idx="minor">
              <a:schemeClr val="tx1"/>
            </a:fontRef>
          </p:style>
        </p:cxnSp>
        <p:cxnSp>
          <p:nvCxnSpPr>
            <p:cNvPr id="53" name="直接连接符 52"/>
            <p:cNvCxnSpPr>
              <a:stCxn id="40" idx="6"/>
              <a:endCxn id="42" idx="2"/>
            </p:cNvCxnSpPr>
            <p:nvPr/>
          </p:nvCxnSpPr>
          <p:spPr>
            <a:xfrm>
              <a:off x="3284" y="8699"/>
              <a:ext cx="373" cy="425"/>
            </a:xfrm>
            <a:prstGeom prst="line">
              <a:avLst/>
            </a:prstGeom>
          </p:spPr>
          <p:style>
            <a:lnRef idx="2">
              <a:schemeClr val="accent1"/>
            </a:lnRef>
            <a:fillRef idx="0">
              <a:srgbClr val="FFFFFF"/>
            </a:fillRef>
            <a:effectRef idx="0">
              <a:srgbClr val="FFFFFF"/>
            </a:effectRef>
            <a:fontRef idx="minor">
              <a:schemeClr val="tx1"/>
            </a:fontRef>
          </p:style>
        </p:cxnSp>
        <p:cxnSp>
          <p:nvCxnSpPr>
            <p:cNvPr id="54" name="直接连接符 53"/>
            <p:cNvCxnSpPr>
              <a:stCxn id="43" idx="6"/>
              <a:endCxn id="42" idx="2"/>
            </p:cNvCxnSpPr>
            <p:nvPr/>
          </p:nvCxnSpPr>
          <p:spPr>
            <a:xfrm flipV="1">
              <a:off x="3284" y="9124"/>
              <a:ext cx="373" cy="440"/>
            </a:xfrm>
            <a:prstGeom prst="line">
              <a:avLst/>
            </a:prstGeom>
          </p:spPr>
          <p:style>
            <a:lnRef idx="2">
              <a:schemeClr val="accent1"/>
            </a:lnRef>
            <a:fillRef idx="0">
              <a:srgbClr val="FFFFFF"/>
            </a:fillRef>
            <a:effectRef idx="0">
              <a:srgbClr val="FFFFFF"/>
            </a:effectRef>
            <a:fontRef idx="minor">
              <a:schemeClr val="tx1"/>
            </a:fontRef>
          </p:style>
        </p:cxnSp>
        <p:cxnSp>
          <p:nvCxnSpPr>
            <p:cNvPr id="55" name="直接连接符 54"/>
            <p:cNvCxnSpPr>
              <a:stCxn id="43" idx="6"/>
              <a:endCxn id="46" idx="2"/>
            </p:cNvCxnSpPr>
            <p:nvPr/>
          </p:nvCxnSpPr>
          <p:spPr>
            <a:xfrm>
              <a:off x="3284" y="9564"/>
              <a:ext cx="373" cy="360"/>
            </a:xfrm>
            <a:prstGeom prst="line">
              <a:avLst/>
            </a:prstGeom>
          </p:spPr>
          <p:style>
            <a:lnRef idx="2">
              <a:schemeClr val="accent1"/>
            </a:lnRef>
            <a:fillRef idx="0">
              <a:srgbClr val="FFFFFF"/>
            </a:fillRef>
            <a:effectRef idx="0">
              <a:srgbClr val="FFFFFF"/>
            </a:effectRef>
            <a:fontRef idx="minor">
              <a:schemeClr val="tx1"/>
            </a:fontRef>
          </p:style>
        </p:cxnSp>
        <p:cxnSp>
          <p:nvCxnSpPr>
            <p:cNvPr id="56" name="直接连接符 55"/>
            <p:cNvCxnSpPr>
              <a:endCxn id="46" idx="2"/>
            </p:cNvCxnSpPr>
            <p:nvPr/>
          </p:nvCxnSpPr>
          <p:spPr>
            <a:xfrm>
              <a:off x="3299" y="8753"/>
              <a:ext cx="358" cy="1171"/>
            </a:xfrm>
            <a:prstGeom prst="line">
              <a:avLst/>
            </a:prstGeom>
          </p:spPr>
          <p:style>
            <a:lnRef idx="2">
              <a:schemeClr val="accent1"/>
            </a:lnRef>
            <a:fillRef idx="0">
              <a:srgbClr val="FFFFFF"/>
            </a:fillRef>
            <a:effectRef idx="0">
              <a:srgbClr val="FFFFFF"/>
            </a:effectRef>
            <a:fontRef idx="minor">
              <a:schemeClr val="tx1"/>
            </a:fontRef>
          </p:style>
        </p:cxnSp>
        <p:cxnSp>
          <p:nvCxnSpPr>
            <p:cNvPr id="57" name="直接连接符 56"/>
            <p:cNvCxnSpPr>
              <a:endCxn id="44" idx="7"/>
            </p:cNvCxnSpPr>
            <p:nvPr/>
          </p:nvCxnSpPr>
          <p:spPr>
            <a:xfrm flipH="1">
              <a:off x="3200" y="9903"/>
              <a:ext cx="489" cy="367"/>
            </a:xfrm>
            <a:prstGeom prst="line">
              <a:avLst/>
            </a:prstGeom>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flipV="1">
              <a:off x="3209" y="9143"/>
              <a:ext cx="430" cy="1130"/>
            </a:xfrm>
            <a:prstGeom prst="line">
              <a:avLst/>
            </a:prstGeom>
          </p:spPr>
          <p:style>
            <a:lnRef idx="2">
              <a:schemeClr val="accent1"/>
            </a:lnRef>
            <a:fillRef idx="0">
              <a:srgbClr val="FFFFFF"/>
            </a:fillRef>
            <a:effectRef idx="0">
              <a:srgbClr val="FFFFFF"/>
            </a:effectRef>
            <a:fontRef idx="minor">
              <a:schemeClr val="tx1"/>
            </a:fontRef>
          </p:style>
        </p:cxnSp>
      </p:grpSp>
      <p:sp>
        <p:nvSpPr>
          <p:cNvPr id="60" name="文本框 59"/>
          <p:cNvSpPr txBox="1"/>
          <p:nvPr/>
        </p:nvSpPr>
        <p:spPr>
          <a:xfrm>
            <a:off x="6419850" y="2225040"/>
            <a:ext cx="1343025" cy="306705"/>
          </a:xfrm>
          <a:prstGeom prst="rect">
            <a:avLst/>
          </a:prstGeom>
          <a:noFill/>
        </p:spPr>
        <p:txBody>
          <a:bodyPr wrap="square" rtlCol="0">
            <a:spAutoFit/>
          </a:bodyPr>
          <a:p>
            <a:r>
              <a:rPr lang="zh-CN" altLang="en-US" sz="1400"/>
              <a:t>求解结果差</a:t>
            </a:r>
            <a:endParaRPr lang="zh-CN" altLang="en-US" sz="1400"/>
          </a:p>
        </p:txBody>
      </p:sp>
      <p:pic>
        <p:nvPicPr>
          <p:cNvPr id="61" name="图片 60"/>
          <p:cNvPicPr>
            <a:picLocks noChangeAspect="1"/>
          </p:cNvPicPr>
          <p:nvPr/>
        </p:nvPicPr>
        <p:blipFill>
          <a:blip r:embed="rId2"/>
          <a:stretch>
            <a:fillRect/>
          </a:stretch>
        </p:blipFill>
        <p:spPr>
          <a:xfrm>
            <a:off x="6187440" y="1059815"/>
            <a:ext cx="1575435" cy="1090295"/>
          </a:xfrm>
          <a:prstGeom prst="rect">
            <a:avLst/>
          </a:prstGeom>
        </p:spPr>
      </p:pic>
      <p:pic>
        <p:nvPicPr>
          <p:cNvPr id="63" name="图片 62"/>
          <p:cNvPicPr>
            <a:picLocks noChangeAspect="1"/>
          </p:cNvPicPr>
          <p:nvPr/>
        </p:nvPicPr>
        <p:blipFill>
          <a:blip r:embed="rId3"/>
          <a:stretch>
            <a:fillRect/>
          </a:stretch>
        </p:blipFill>
        <p:spPr>
          <a:xfrm>
            <a:off x="6000115" y="2839085"/>
            <a:ext cx="1998980" cy="1345565"/>
          </a:xfrm>
          <a:prstGeom prst="rect">
            <a:avLst/>
          </a:prstGeom>
        </p:spPr>
      </p:pic>
      <p:sp>
        <p:nvSpPr>
          <p:cNvPr id="64" name="文本框 63"/>
          <p:cNvSpPr txBox="1"/>
          <p:nvPr/>
        </p:nvSpPr>
        <p:spPr>
          <a:xfrm>
            <a:off x="6261735" y="4228465"/>
            <a:ext cx="1784350" cy="306705"/>
          </a:xfrm>
          <a:prstGeom prst="rect">
            <a:avLst/>
          </a:prstGeom>
          <a:noFill/>
        </p:spPr>
        <p:txBody>
          <a:bodyPr wrap="square" rtlCol="0">
            <a:spAutoFit/>
          </a:bodyPr>
          <a:p>
            <a:r>
              <a:rPr lang="zh-CN" altLang="en-US" sz="1400"/>
              <a:t>大规模时效率差</a:t>
            </a:r>
            <a:endParaRPr lang="zh-CN" altLang="en-US" sz="1400"/>
          </a:p>
        </p:txBody>
      </p:sp>
      <p:pic>
        <p:nvPicPr>
          <p:cNvPr id="65" name="图片 64"/>
          <p:cNvPicPr>
            <a:picLocks noChangeAspect="1"/>
          </p:cNvPicPr>
          <p:nvPr/>
        </p:nvPicPr>
        <p:blipFill>
          <a:blip r:embed="rId4"/>
          <a:stretch>
            <a:fillRect/>
          </a:stretch>
        </p:blipFill>
        <p:spPr>
          <a:xfrm>
            <a:off x="5683885" y="5494655"/>
            <a:ext cx="2177415" cy="737235"/>
          </a:xfrm>
          <a:prstGeom prst="rect">
            <a:avLst/>
          </a:prstGeom>
        </p:spPr>
      </p:pic>
      <p:sp>
        <p:nvSpPr>
          <p:cNvPr id="66" name="文本框 65"/>
          <p:cNvSpPr txBox="1"/>
          <p:nvPr/>
        </p:nvSpPr>
        <p:spPr>
          <a:xfrm>
            <a:off x="6000115" y="5149215"/>
            <a:ext cx="759460" cy="220980"/>
          </a:xfrm>
          <a:prstGeom prst="rect">
            <a:avLst/>
          </a:prstGeom>
          <a:noFill/>
        </p:spPr>
        <p:txBody>
          <a:bodyPr wrap="square" rtlCol="0">
            <a:noAutofit/>
          </a:bodyPr>
          <a:p>
            <a:r>
              <a:rPr lang="en-US" altLang="zh-CN" sz="1400">
                <a:latin typeface="Times New Roman" panose="02020603050405020304" pitchFamily="18" charset="0"/>
                <a:ea typeface="宋体" panose="02010600030101010101" pitchFamily="2" charset="-122"/>
                <a:cs typeface="Times New Roman" panose="02020603050405020304" pitchFamily="18" charset="0"/>
              </a:rPr>
              <a:t>JSP</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文本框 66"/>
          <p:cNvSpPr txBox="1"/>
          <p:nvPr/>
        </p:nvSpPr>
        <p:spPr>
          <a:xfrm>
            <a:off x="7003415" y="5149215"/>
            <a:ext cx="759460" cy="220980"/>
          </a:xfrm>
          <a:prstGeom prst="rect">
            <a:avLst/>
          </a:prstGeom>
          <a:noFill/>
        </p:spPr>
        <p:txBody>
          <a:bodyPr wrap="square" rtlCol="0">
            <a:noAutofit/>
          </a:bodyPr>
          <a:p>
            <a:r>
              <a:rPr lang="en-US" altLang="zh-CN" sz="1400">
                <a:latin typeface="Times New Roman" panose="02020603050405020304" pitchFamily="18" charset="0"/>
                <a:ea typeface="宋体" panose="02010600030101010101" pitchFamily="2" charset="-122"/>
                <a:cs typeface="Times New Roman" panose="02020603050405020304" pitchFamily="18" charset="0"/>
              </a:rPr>
              <a:t>FJSP</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8" name="图片 67"/>
          <p:cNvPicPr>
            <a:picLocks noChangeAspect="1"/>
          </p:cNvPicPr>
          <p:nvPr/>
        </p:nvPicPr>
        <p:blipFill>
          <a:blip r:embed="rId5"/>
          <a:stretch>
            <a:fillRect/>
          </a:stretch>
        </p:blipFill>
        <p:spPr>
          <a:xfrm>
            <a:off x="6000115" y="6356350"/>
            <a:ext cx="357505" cy="341630"/>
          </a:xfrm>
          <a:prstGeom prst="rect">
            <a:avLst/>
          </a:prstGeom>
        </p:spPr>
      </p:pic>
      <p:sp>
        <p:nvSpPr>
          <p:cNvPr id="69" name="文本框 68"/>
          <p:cNvSpPr txBox="1"/>
          <p:nvPr/>
        </p:nvSpPr>
        <p:spPr>
          <a:xfrm>
            <a:off x="6918325" y="6310630"/>
            <a:ext cx="1231900" cy="368300"/>
          </a:xfrm>
          <a:prstGeom prst="rect">
            <a:avLst/>
          </a:prstGeom>
          <a:noFill/>
        </p:spPr>
        <p:txBody>
          <a:bodyPr wrap="square" rtlCol="0">
            <a:spAutoFit/>
          </a:bodyPr>
          <a:p>
            <a:r>
              <a:rPr lang="zh-CN" altLang="en-US"/>
              <a:t>（</a:t>
            </a:r>
            <a:r>
              <a:rPr lang="zh-CN" altLang="en-US" b="1">
                <a:latin typeface="Times New Roman" panose="02020603050405020304" pitchFamily="18" charset="0"/>
              </a:rPr>
              <a:t>×</a:t>
            </a:r>
            <a:r>
              <a:rPr lang="zh-CN" altLang="en-US"/>
              <a:t>）</a:t>
            </a:r>
            <a:endParaRPr lang="zh-CN" altLang="en-US"/>
          </a:p>
        </p:txBody>
      </p:sp>
      <p:sp>
        <p:nvSpPr>
          <p:cNvPr id="71" name="文本框 70"/>
          <p:cNvSpPr txBox="1"/>
          <p:nvPr/>
        </p:nvSpPr>
        <p:spPr>
          <a:xfrm>
            <a:off x="-53340" y="1106805"/>
            <a:ext cx="3048000" cy="368300"/>
          </a:xfrm>
          <a:prstGeom prst="rect">
            <a:avLst/>
          </a:prstGeom>
          <a:noFill/>
        </p:spPr>
        <p:txBody>
          <a:bodyPr wrap="square" rtlCol="0">
            <a:spAutoFit/>
          </a:bodyPr>
          <a:p>
            <a:r>
              <a:rPr lang="zh-CN" altLang="en-US"/>
              <a:t>（</a:t>
            </a:r>
            <a:r>
              <a:rPr lang="en-US" altLang="zh-CN"/>
              <a:t>1</a:t>
            </a:r>
            <a:r>
              <a:rPr lang="zh-CN" altLang="en-US"/>
              <a:t>）启发式</a:t>
            </a:r>
            <a:r>
              <a:rPr lang="zh-CN" altLang="en-US"/>
              <a:t>规则</a:t>
            </a:r>
            <a:endParaRPr lang="zh-CN" altLang="en-US"/>
          </a:p>
        </p:txBody>
      </p:sp>
      <p:sp>
        <p:nvSpPr>
          <p:cNvPr id="72" name="文本框 71"/>
          <p:cNvSpPr txBox="1"/>
          <p:nvPr/>
        </p:nvSpPr>
        <p:spPr>
          <a:xfrm>
            <a:off x="0" y="2839085"/>
            <a:ext cx="3048000" cy="368300"/>
          </a:xfrm>
          <a:prstGeom prst="rect">
            <a:avLst/>
          </a:prstGeom>
          <a:noFill/>
        </p:spPr>
        <p:txBody>
          <a:bodyPr wrap="square" rtlCol="0">
            <a:spAutoFit/>
          </a:bodyPr>
          <a:p>
            <a:r>
              <a:rPr lang="zh-CN" altLang="en-US"/>
              <a:t>（</a:t>
            </a:r>
            <a:r>
              <a:rPr lang="en-US" altLang="zh-CN"/>
              <a:t>2</a:t>
            </a:r>
            <a:r>
              <a:rPr lang="zh-CN" altLang="en-US"/>
              <a:t>）</a:t>
            </a:r>
            <a:r>
              <a:rPr lang="en-US" altLang="zh-CN"/>
              <a:t> </a:t>
            </a:r>
            <a:r>
              <a:rPr lang="zh-CN" altLang="en-US"/>
              <a:t>元启发式算法</a:t>
            </a:r>
            <a:endParaRPr lang="zh-CN" altLang="en-US"/>
          </a:p>
        </p:txBody>
      </p:sp>
      <p:sp>
        <p:nvSpPr>
          <p:cNvPr id="73" name="文本框 72"/>
          <p:cNvSpPr txBox="1"/>
          <p:nvPr/>
        </p:nvSpPr>
        <p:spPr>
          <a:xfrm>
            <a:off x="67310" y="4914265"/>
            <a:ext cx="3048000" cy="368300"/>
          </a:xfrm>
          <a:prstGeom prst="rect">
            <a:avLst/>
          </a:prstGeom>
          <a:noFill/>
        </p:spPr>
        <p:txBody>
          <a:bodyPr wrap="square" rtlCol="0">
            <a:spAutoFit/>
          </a:bodyPr>
          <a:p>
            <a:r>
              <a:rPr lang="zh-CN" altLang="en-US"/>
              <a:t>（</a:t>
            </a:r>
            <a:r>
              <a:rPr lang="en-US" altLang="zh-CN"/>
              <a:t>3</a:t>
            </a:r>
            <a:r>
              <a:rPr lang="zh-CN" altLang="en-US"/>
              <a:t>）机械学习</a:t>
            </a:r>
            <a:r>
              <a:rPr lang="zh-CN" altLang="en-US"/>
              <a:t>方法</a:t>
            </a:r>
            <a:endParaRPr lang="zh-CN" altLang="en-US"/>
          </a:p>
        </p:txBody>
      </p:sp>
      <p:sp>
        <p:nvSpPr>
          <p:cNvPr id="74" name="右箭头 73"/>
          <p:cNvSpPr/>
          <p:nvPr/>
        </p:nvSpPr>
        <p:spPr>
          <a:xfrm>
            <a:off x="4270375" y="5694045"/>
            <a:ext cx="1015365" cy="337820"/>
          </a:xfrm>
          <a:prstGeom prst="rightArrow">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5" name="右箭头 74"/>
          <p:cNvSpPr/>
          <p:nvPr/>
        </p:nvSpPr>
        <p:spPr>
          <a:xfrm>
            <a:off x="4270375" y="3699510"/>
            <a:ext cx="1015365" cy="337820"/>
          </a:xfrm>
          <a:prstGeom prst="rightArrow">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6" name="右箭头 75"/>
          <p:cNvSpPr/>
          <p:nvPr/>
        </p:nvSpPr>
        <p:spPr>
          <a:xfrm>
            <a:off x="4270375" y="2016760"/>
            <a:ext cx="1015365" cy="337820"/>
          </a:xfrm>
          <a:prstGeom prst="rightArrow">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11874"/>
    </mc:Choice>
    <mc:Fallback>
      <p:transition spd="slow" advTm="1187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custDataLst>
              <p:tags r:id="rId1"/>
            </p:custDataLst>
          </p:nvPr>
        </p:nvGrpSpPr>
        <p:grpSpPr>
          <a:xfrm>
            <a:off x="4572000" y="1903730"/>
            <a:ext cx="3910965" cy="2896263"/>
            <a:chOff x="4572000" y="2331450"/>
            <a:chExt cx="3285600" cy="2914371"/>
          </a:xfrm>
        </p:grpSpPr>
        <p:sp>
          <p:nvSpPr>
            <p:cNvPr id="4" name="矩形 3"/>
            <p:cNvSpPr/>
            <p:nvPr>
              <p:custDataLst>
                <p:tags r:id="rId2"/>
              </p:custDataLst>
            </p:nvPr>
          </p:nvSpPr>
          <p:spPr>
            <a:xfrm>
              <a:off x="4572000" y="2345681"/>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9"/>
            <p:cNvSpPr txBox="1"/>
            <p:nvPr>
              <p:custDataLst>
                <p:tags r:id="rId3"/>
              </p:custDataLst>
            </p:nvPr>
          </p:nvSpPr>
          <p:spPr>
            <a:xfrm>
              <a:off x="5192495" y="2331450"/>
              <a:ext cx="2452266"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研究背景</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12" name="矩形 11"/>
            <p:cNvSpPr/>
            <p:nvPr>
              <p:custDataLst>
                <p:tags r:id="rId4"/>
              </p:custDataLst>
            </p:nvPr>
          </p:nvSpPr>
          <p:spPr>
            <a:xfrm>
              <a:off x="4572000" y="293227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9"/>
            <p:cNvSpPr txBox="1"/>
            <p:nvPr>
              <p:custDataLst>
                <p:tags r:id="rId5"/>
              </p:custDataLst>
            </p:nvPr>
          </p:nvSpPr>
          <p:spPr>
            <a:xfrm>
              <a:off x="5192495" y="2932277"/>
              <a:ext cx="2657725" cy="409580"/>
            </a:xfrm>
            <a:prstGeom prst="rect">
              <a:avLst/>
            </a:prstGeom>
            <a:noFill/>
          </p:spPr>
          <p:txBody>
            <a:bodyPr wrap="square" lIns="38567" tIns="19283" rIns="38567" bIns="19283" rtlCol="0">
              <a:spAutoFit/>
            </a:bodyPr>
            <a:lstStyle/>
            <a:p>
              <a:pPr marL="0" lvl="1"/>
              <a:r>
                <a:rPr lang="zh-CN" altLang="en-US" sz="2400" b="1" dirty="0">
                  <a:solidFill>
                    <a:schemeClr val="tx1"/>
                  </a:solidFill>
                  <a:latin typeface="微软雅黑" panose="020B0503020204020204" pitchFamily="34" charset="-122"/>
                  <a:ea typeface="微软雅黑" panose="020B0503020204020204" pitchFamily="34" charset="-122"/>
                  <a:sym typeface="+mn-ea"/>
                </a:rPr>
                <a:t>元强化学习框架</a:t>
              </a:r>
              <a:endParaRPr lang="zh-CN" altLang="en-US" sz="2400" b="1" dirty="0">
                <a:solidFill>
                  <a:schemeClr val="tx1"/>
                </a:solidFill>
                <a:latin typeface="微软雅黑" panose="020B0503020204020204" pitchFamily="34" charset="-122"/>
                <a:ea typeface="微软雅黑" panose="020B0503020204020204" pitchFamily="34" charset="-122"/>
                <a:sym typeface="+mn-ea"/>
              </a:endParaRPr>
            </a:p>
          </p:txBody>
        </p:sp>
        <p:sp>
          <p:nvSpPr>
            <p:cNvPr id="20" name="文本框 19"/>
            <p:cNvSpPr txBox="1"/>
            <p:nvPr>
              <p:custDataLst>
                <p:tags r:id="rId6"/>
              </p:custDataLst>
            </p:nvPr>
          </p:nvSpPr>
          <p:spPr>
            <a:xfrm>
              <a:off x="4579381" y="2420171"/>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01</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custDataLst>
                <p:tags r:id="rId7"/>
              </p:custDataLst>
            </p:nvPr>
          </p:nvSpPr>
          <p:spPr>
            <a:xfrm>
              <a:off x="4579381" y="3006768"/>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02</a:t>
              </a:r>
              <a:endPar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custDataLst>
                <p:tags r:id="rId8"/>
              </p:custDataLst>
            </p:nvPr>
          </p:nvSpPr>
          <p:spPr>
            <a:xfrm>
              <a:off x="4579381" y="358384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9"/>
            <p:cNvSpPr txBox="1"/>
            <p:nvPr>
              <p:custDataLst>
                <p:tags r:id="rId9"/>
              </p:custDataLst>
            </p:nvPr>
          </p:nvSpPr>
          <p:spPr>
            <a:xfrm>
              <a:off x="5199875" y="3569616"/>
              <a:ext cx="2657725"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多类型车间单目标</a:t>
              </a:r>
              <a:r>
                <a:rPr lang="zh-CN" altLang="en-US" sz="2400" dirty="0">
                  <a:solidFill>
                    <a:srgbClr val="00458E"/>
                  </a:solidFill>
                  <a:latin typeface="微软雅黑" panose="020B0503020204020204" pitchFamily="34" charset="-122"/>
                  <a:ea typeface="微软雅黑" panose="020B0503020204020204" pitchFamily="34" charset="-122"/>
                </a:rPr>
                <a:t>调度</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10"/>
              </p:custDataLst>
            </p:nvPr>
          </p:nvSpPr>
          <p:spPr>
            <a:xfrm>
              <a:off x="4586762" y="3658337"/>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11"/>
              </p:custDataLst>
            </p:nvPr>
          </p:nvSpPr>
          <p:spPr>
            <a:xfrm>
              <a:off x="4586762" y="4213133"/>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9"/>
            <p:cNvSpPr txBox="1"/>
            <p:nvPr>
              <p:custDataLst>
                <p:tags r:id="rId12"/>
              </p:custDataLst>
            </p:nvPr>
          </p:nvSpPr>
          <p:spPr>
            <a:xfrm>
              <a:off x="5207256" y="4198902"/>
              <a:ext cx="2642963"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基于分解的多目标</a:t>
              </a:r>
              <a:r>
                <a:rPr lang="zh-CN" altLang="en-US" sz="2400" dirty="0">
                  <a:solidFill>
                    <a:srgbClr val="00458E"/>
                  </a:solidFill>
                  <a:latin typeface="微软雅黑" panose="020B0503020204020204" pitchFamily="34" charset="-122"/>
                  <a:ea typeface="微软雅黑" panose="020B0503020204020204" pitchFamily="34" charset="-122"/>
                </a:rPr>
                <a:t>调度</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13"/>
              </p:custDataLst>
            </p:nvPr>
          </p:nvSpPr>
          <p:spPr>
            <a:xfrm>
              <a:off x="4594143" y="4287623"/>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04</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custDataLst>
                <p:tags r:id="rId14"/>
              </p:custDataLst>
            </p:nvPr>
          </p:nvSpPr>
          <p:spPr>
            <a:xfrm>
              <a:off x="4594143" y="4850472"/>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9"/>
            <p:cNvSpPr txBox="1"/>
            <p:nvPr>
              <p:custDataLst>
                <p:tags r:id="rId15"/>
              </p:custDataLst>
            </p:nvPr>
          </p:nvSpPr>
          <p:spPr>
            <a:xfrm>
              <a:off x="5214638" y="4836241"/>
              <a:ext cx="2452266"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总结与展望</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16"/>
              </p:custDataLst>
            </p:nvPr>
          </p:nvSpPr>
          <p:spPr>
            <a:xfrm>
              <a:off x="4601524" y="4924962"/>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05</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59"/>
    </mc:Choice>
    <mc:Fallback>
      <p:transition spd="slow" advTm="35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zh-CN" altLang="en-US" dirty="0"/>
              <a:t>建模</a:t>
            </a:r>
            <a:endParaRPr lang="zh-CN" altLang="en-US" dirty="0"/>
          </a:p>
        </p:txBody>
      </p:sp>
      <p:sp>
        <p:nvSpPr>
          <p:cNvPr id="7" name="文本框 6"/>
          <p:cNvSpPr txBox="1"/>
          <p:nvPr/>
        </p:nvSpPr>
        <p:spPr>
          <a:xfrm>
            <a:off x="141051" y="64105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数学模型</a:t>
            </a:r>
            <a:endParaRPr lang="zh-CN" altLang="en-US" b="1"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2"/>
          </p:nvPr>
        </p:nvSpPr>
        <p:spPr/>
        <p:txBody>
          <a:bodyPr/>
          <a:lstStyle/>
          <a:p>
            <a:r>
              <a:rPr lang="en-US" altLang="zh-CN" dirty="0">
                <a:solidFill>
                  <a:schemeClr val="tx1"/>
                </a:solidFill>
                <a:latin typeface="Times New Roman" panose="02020603050405020304" pitchFamily="18" charset="0"/>
                <a:cs typeface="Times New Roman" panose="02020603050405020304" pitchFamily="18" charset="0"/>
              </a:rPr>
              <a:t>3</a:t>
            </a:r>
            <a:endParaRPr lang="en-US" altLang="zh-CN" dirty="0">
              <a:solidFill>
                <a:schemeClr val="tx1"/>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0" y="1323975"/>
            <a:ext cx="4259580" cy="1892300"/>
          </a:xfrm>
          <a:prstGeom prst="rect">
            <a:avLst/>
          </a:prstGeom>
        </p:spPr>
      </p:pic>
      <p:sp>
        <p:nvSpPr>
          <p:cNvPr id="9" name="文本框 8"/>
          <p:cNvSpPr txBox="1"/>
          <p:nvPr/>
        </p:nvSpPr>
        <p:spPr>
          <a:xfrm>
            <a:off x="81" y="321280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异构图</a:t>
            </a:r>
            <a:r>
              <a:rPr lang="zh-CN" altLang="en-US" b="1" dirty="0">
                <a:latin typeface="微软雅黑" panose="020B0503020204020204" pitchFamily="34" charset="-122"/>
                <a:ea typeface="微软雅黑" panose="020B0503020204020204" pitchFamily="34" charset="-122"/>
                <a:sym typeface="+mn-ea"/>
              </a:rPr>
              <a:t>模型</a:t>
            </a:r>
            <a:endParaRPr lang="zh-CN" altLang="en-US" b="1" dirty="0">
              <a:latin typeface="微软雅黑" panose="020B0503020204020204" pitchFamily="34" charset="-122"/>
              <a:ea typeface="微软雅黑" panose="020B0503020204020204" pitchFamily="34" charset="-122"/>
              <a:sym typeface="+mn-ea"/>
            </a:endParaRPr>
          </a:p>
        </p:txBody>
      </p:sp>
      <p:pic>
        <p:nvPicPr>
          <p:cNvPr id="11" name="图片 10" descr="Fig2-1-fsp-graph"/>
          <p:cNvPicPr>
            <a:picLocks noChangeAspect="1"/>
          </p:cNvPicPr>
          <p:nvPr/>
        </p:nvPicPr>
        <p:blipFill>
          <a:blip r:embed="rId2"/>
          <a:stretch>
            <a:fillRect/>
          </a:stretch>
        </p:blipFill>
        <p:spPr>
          <a:xfrm>
            <a:off x="560070" y="4384040"/>
            <a:ext cx="2632075" cy="1582420"/>
          </a:xfrm>
          <a:prstGeom prst="rect">
            <a:avLst/>
          </a:prstGeom>
        </p:spPr>
      </p:pic>
      <p:sp>
        <p:nvSpPr>
          <p:cNvPr id="14" name="文本框 13"/>
          <p:cNvSpPr txBox="1"/>
          <p:nvPr/>
        </p:nvSpPr>
        <p:spPr>
          <a:xfrm>
            <a:off x="688975" y="6089650"/>
            <a:ext cx="2197100" cy="368300"/>
          </a:xfrm>
          <a:prstGeom prst="rect">
            <a:avLst/>
          </a:prstGeom>
          <a:noFill/>
        </p:spPr>
        <p:txBody>
          <a:bodyPr wrap="square" rtlCol="0">
            <a:spAutoFit/>
          </a:bodyPr>
          <a:p>
            <a:r>
              <a:rPr lang="en-US" altLang="zh-CN"/>
              <a:t>NPFSP </a:t>
            </a:r>
            <a:r>
              <a:rPr lang="zh-CN" altLang="en-US"/>
              <a:t>的异构图表示</a:t>
            </a:r>
            <a:endParaRPr lang="zh-CN" altLang="en-US"/>
          </a:p>
        </p:txBody>
      </p:sp>
      <p:sp>
        <p:nvSpPr>
          <p:cNvPr id="16" name="文本框 15"/>
          <p:cNvSpPr txBox="1"/>
          <p:nvPr/>
        </p:nvSpPr>
        <p:spPr>
          <a:xfrm>
            <a:off x="1061085" y="3895090"/>
            <a:ext cx="1301750" cy="368300"/>
          </a:xfrm>
          <a:prstGeom prst="rect">
            <a:avLst/>
          </a:prstGeom>
          <a:noFill/>
        </p:spPr>
        <p:txBody>
          <a:bodyPr wrap="square" rtlCol="0">
            <a:spAutoFit/>
          </a:bodyPr>
          <a:p>
            <a:r>
              <a:rPr lang="en-US" altLang="zh-CN"/>
              <a:t>G = (V, C, D)</a:t>
            </a:r>
            <a:endParaRPr lang="en-US" altLang="zh-CN"/>
          </a:p>
        </p:txBody>
      </p:sp>
      <p:pic>
        <p:nvPicPr>
          <p:cNvPr id="19" name="图片 18" descr="Fig2-2-fjsp-graph"/>
          <p:cNvPicPr>
            <a:picLocks noChangeAspect="1"/>
          </p:cNvPicPr>
          <p:nvPr/>
        </p:nvPicPr>
        <p:blipFill>
          <a:blip r:embed="rId3"/>
          <a:stretch>
            <a:fillRect/>
          </a:stretch>
        </p:blipFill>
        <p:spPr>
          <a:xfrm>
            <a:off x="4065270" y="3949065"/>
            <a:ext cx="4622800" cy="1564640"/>
          </a:xfrm>
          <a:prstGeom prst="rect">
            <a:avLst/>
          </a:prstGeom>
        </p:spPr>
      </p:pic>
      <p:sp>
        <p:nvSpPr>
          <p:cNvPr id="20" name="文本框 19"/>
          <p:cNvSpPr txBox="1"/>
          <p:nvPr/>
        </p:nvSpPr>
        <p:spPr>
          <a:xfrm>
            <a:off x="5246370" y="5626100"/>
            <a:ext cx="2476500" cy="306705"/>
          </a:xfrm>
          <a:prstGeom prst="rect">
            <a:avLst/>
          </a:prstGeom>
        </p:spPr>
        <p:txBody>
          <a:bodyPr wrap="square">
            <a:spAutoFit/>
          </a:bodyPr>
          <a:p>
            <a:r>
              <a:rPr lang="en-US" altLang="zh-CN" sz="1400" i="1">
                <a:solidFill>
                  <a:srgbClr val="000000"/>
                </a:solidFill>
                <a:latin typeface="Times New Roman" panose="02020603050405020304" pitchFamily="18" charset="0"/>
                <a:ea typeface="CMMI12"/>
                <a:cs typeface="Times New Roman" panose="02020603050405020304" pitchFamily="18" charset="0"/>
              </a:rPr>
              <a:t>O</a:t>
            </a:r>
            <a:r>
              <a:rPr lang="en-US" altLang="zh-CN" sz="1400">
                <a:solidFill>
                  <a:srgbClr val="000000"/>
                </a:solidFill>
                <a:latin typeface="Times New Roman" panose="02020603050405020304" pitchFamily="18" charset="0"/>
                <a:ea typeface="CMR8"/>
                <a:cs typeface="Times New Roman" panose="02020603050405020304" pitchFamily="18" charset="0"/>
              </a:rPr>
              <a:t>22 </a:t>
            </a:r>
            <a:r>
              <a:rPr lang="zh-CN" altLang="en-US" sz="1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分配至 </a:t>
            </a:r>
            <a:r>
              <a:rPr lang="en-US" altLang="zh-CN" sz="1400" i="1">
                <a:solidFill>
                  <a:srgbClr val="000000"/>
                </a:solidFill>
                <a:latin typeface="Times New Roman" panose="02020603050405020304" pitchFamily="18" charset="0"/>
                <a:ea typeface="CMMI12"/>
                <a:cs typeface="Times New Roman" panose="02020603050405020304" pitchFamily="18" charset="0"/>
              </a:rPr>
              <a:t>M</a:t>
            </a:r>
            <a:r>
              <a:rPr lang="en-US" altLang="zh-CN" sz="1400">
                <a:solidFill>
                  <a:srgbClr val="000000"/>
                </a:solidFill>
                <a:latin typeface="Times New Roman" panose="02020603050405020304" pitchFamily="18" charset="0"/>
                <a:ea typeface="CMR8"/>
                <a:cs typeface="Times New Roman" panose="02020603050405020304" pitchFamily="18" charset="0"/>
              </a:rPr>
              <a:t>3</a:t>
            </a:r>
            <a:endParaRPr lang="en-US" altLang="zh-CN" sz="1400">
              <a:solidFill>
                <a:srgbClr val="000000"/>
              </a:solidFill>
              <a:latin typeface="Times New Roman" panose="02020603050405020304" pitchFamily="18" charset="0"/>
              <a:ea typeface="CMR8"/>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9946"/>
    </mc:Choice>
    <mc:Fallback>
      <p:transition spd="slow" advTm="1994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元强化学习</a:t>
            </a:r>
            <a:r>
              <a:rPr lang="zh-CN" altLang="en-US" dirty="0"/>
              <a:t>框架</a:t>
            </a:r>
            <a:endParaRPr lang="zh-CN" altLang="en-US" dirty="0"/>
          </a:p>
        </p:txBody>
      </p:sp>
      <p:sp>
        <p:nvSpPr>
          <p:cNvPr id="14" name="文本框 13"/>
          <p:cNvSpPr txBox="1"/>
          <p:nvPr/>
        </p:nvSpPr>
        <p:spPr>
          <a:xfrm>
            <a:off x="141051" y="64105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元</a:t>
            </a:r>
            <a:r>
              <a:rPr lang="zh-CN" altLang="en-US" b="1" dirty="0">
                <a:latin typeface="微软雅黑" panose="020B0503020204020204" pitchFamily="34" charset="-122"/>
                <a:ea typeface="微软雅黑" panose="020B0503020204020204" pitchFamily="34" charset="-122"/>
                <a:sym typeface="+mn-ea"/>
              </a:rPr>
              <a:t>强化学习</a:t>
            </a:r>
            <a:endParaRPr lang="zh-CN" altLang="en-US" b="1"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2"/>
          </p:nvPr>
        </p:nvSpPr>
        <p:spPr/>
        <p:txBody>
          <a:bodyPr/>
          <a:lstStyle/>
          <a:p>
            <a:r>
              <a:rPr lang="en-US" altLang="zh-CN" dirty="0"/>
              <a:t>4</a:t>
            </a:r>
            <a:endParaRPr lang="en-US" altLang="zh-CN" dirty="0"/>
          </a:p>
        </p:txBody>
      </p:sp>
      <p:pic>
        <p:nvPicPr>
          <p:cNvPr id="6" name="图片 5" descr="元学习与传统机械学习对比"/>
          <p:cNvPicPr>
            <a:picLocks noChangeAspect="1"/>
          </p:cNvPicPr>
          <p:nvPr/>
        </p:nvPicPr>
        <p:blipFill>
          <a:blip r:embed="rId1"/>
          <a:stretch>
            <a:fillRect/>
          </a:stretch>
        </p:blipFill>
        <p:spPr>
          <a:xfrm>
            <a:off x="398145" y="1330325"/>
            <a:ext cx="4446905" cy="1934210"/>
          </a:xfrm>
          <a:prstGeom prst="rect">
            <a:avLst/>
          </a:prstGeom>
        </p:spPr>
      </p:pic>
      <p:pic>
        <p:nvPicPr>
          <p:cNvPr id="16" name="图片 15"/>
          <p:cNvPicPr>
            <a:picLocks noChangeAspect="1"/>
          </p:cNvPicPr>
          <p:nvPr/>
        </p:nvPicPr>
        <p:blipFill>
          <a:blip r:embed="rId2"/>
          <a:stretch>
            <a:fillRect/>
          </a:stretch>
        </p:blipFill>
        <p:spPr>
          <a:xfrm>
            <a:off x="5195570" y="1366520"/>
            <a:ext cx="2496820" cy="514985"/>
          </a:xfrm>
          <a:prstGeom prst="rect">
            <a:avLst/>
          </a:prstGeom>
        </p:spPr>
      </p:pic>
      <p:pic>
        <p:nvPicPr>
          <p:cNvPr id="17" name="图片 16"/>
          <p:cNvPicPr>
            <a:picLocks noChangeAspect="1"/>
          </p:cNvPicPr>
          <p:nvPr/>
        </p:nvPicPr>
        <p:blipFill>
          <a:blip r:embed="rId3"/>
          <a:stretch>
            <a:fillRect/>
          </a:stretch>
        </p:blipFill>
        <p:spPr>
          <a:xfrm>
            <a:off x="5259070" y="1801495"/>
            <a:ext cx="2709545" cy="523875"/>
          </a:xfrm>
          <a:prstGeom prst="rect">
            <a:avLst/>
          </a:prstGeom>
        </p:spPr>
      </p:pic>
      <p:pic>
        <p:nvPicPr>
          <p:cNvPr id="18" name="图片 17"/>
          <p:cNvPicPr>
            <a:picLocks noChangeAspect="1"/>
          </p:cNvPicPr>
          <p:nvPr/>
        </p:nvPicPr>
        <p:blipFill>
          <a:blip r:embed="rId4"/>
          <a:stretch>
            <a:fillRect/>
          </a:stretch>
        </p:blipFill>
        <p:spPr>
          <a:xfrm>
            <a:off x="5259705" y="2244090"/>
            <a:ext cx="3513455" cy="534670"/>
          </a:xfrm>
          <a:prstGeom prst="rect">
            <a:avLst/>
          </a:prstGeom>
        </p:spPr>
      </p:pic>
      <p:pic>
        <p:nvPicPr>
          <p:cNvPr id="19" name="图片 18"/>
          <p:cNvPicPr>
            <a:picLocks noChangeAspect="1"/>
          </p:cNvPicPr>
          <p:nvPr/>
        </p:nvPicPr>
        <p:blipFill>
          <a:blip r:embed="rId5"/>
          <a:stretch>
            <a:fillRect/>
          </a:stretch>
        </p:blipFill>
        <p:spPr>
          <a:xfrm>
            <a:off x="4845050" y="3072130"/>
            <a:ext cx="4305300" cy="542925"/>
          </a:xfrm>
          <a:prstGeom prst="rect">
            <a:avLst/>
          </a:prstGeom>
        </p:spPr>
      </p:pic>
      <p:pic>
        <p:nvPicPr>
          <p:cNvPr id="20" name="图片 19"/>
          <p:cNvPicPr>
            <a:picLocks noChangeAspect="1"/>
          </p:cNvPicPr>
          <p:nvPr/>
        </p:nvPicPr>
        <p:blipFill>
          <a:blip r:embed="rId6"/>
          <a:stretch>
            <a:fillRect/>
          </a:stretch>
        </p:blipFill>
        <p:spPr>
          <a:xfrm>
            <a:off x="4956175" y="3535680"/>
            <a:ext cx="1848485" cy="447675"/>
          </a:xfrm>
          <a:prstGeom prst="rect">
            <a:avLst/>
          </a:prstGeom>
        </p:spPr>
      </p:pic>
      <p:pic>
        <p:nvPicPr>
          <p:cNvPr id="22" name="图片 21"/>
          <p:cNvPicPr>
            <a:picLocks noChangeAspect="1"/>
          </p:cNvPicPr>
          <p:nvPr/>
        </p:nvPicPr>
        <p:blipFill>
          <a:blip r:embed="rId7"/>
          <a:stretch>
            <a:fillRect/>
          </a:stretch>
        </p:blipFill>
        <p:spPr>
          <a:xfrm>
            <a:off x="4324350" y="4278630"/>
            <a:ext cx="4819650" cy="577850"/>
          </a:xfrm>
          <a:prstGeom prst="rect">
            <a:avLst/>
          </a:prstGeom>
        </p:spPr>
      </p:pic>
      <p:pic>
        <p:nvPicPr>
          <p:cNvPr id="23" name="图片 22" descr="fig3-meta-rl-framework"/>
          <p:cNvPicPr>
            <a:picLocks noChangeAspect="1"/>
          </p:cNvPicPr>
          <p:nvPr/>
        </p:nvPicPr>
        <p:blipFill>
          <a:blip r:embed="rId8"/>
          <a:stretch>
            <a:fillRect/>
          </a:stretch>
        </p:blipFill>
        <p:spPr>
          <a:xfrm>
            <a:off x="583565" y="3811905"/>
            <a:ext cx="3695700" cy="2383790"/>
          </a:xfrm>
          <a:prstGeom prst="rect">
            <a:avLst/>
          </a:prstGeom>
        </p:spPr>
      </p:pic>
      <p:sp>
        <p:nvSpPr>
          <p:cNvPr id="24" name="文本框 23"/>
          <p:cNvSpPr txBox="1"/>
          <p:nvPr/>
        </p:nvSpPr>
        <p:spPr>
          <a:xfrm>
            <a:off x="1908175" y="3264535"/>
            <a:ext cx="3048000" cy="460375"/>
          </a:xfrm>
          <a:prstGeom prst="rect">
            <a:avLst/>
          </a:prstGeom>
          <a:noFill/>
        </p:spPr>
        <p:txBody>
          <a:bodyPr wrap="square" rtlCol="0">
            <a:spAutoFit/>
          </a:bodyPr>
          <a:p>
            <a:r>
              <a:rPr lang="zh-CN" altLang="en-US" sz="1200" b="1">
                <a:sym typeface="+mn-ea"/>
              </a:rPr>
              <a:t>训练流程对比</a:t>
            </a:r>
            <a:endParaRPr lang="zh-CN" altLang="en-US" sz="1200" b="1"/>
          </a:p>
          <a:p>
            <a:endParaRPr lang="zh-CN" altLang="en-US" sz="1200" b="1"/>
          </a:p>
        </p:txBody>
      </p:sp>
      <p:sp>
        <p:nvSpPr>
          <p:cNvPr id="25" name="文本框 24"/>
          <p:cNvSpPr txBox="1"/>
          <p:nvPr/>
        </p:nvSpPr>
        <p:spPr>
          <a:xfrm>
            <a:off x="1405890" y="6282690"/>
            <a:ext cx="3048000" cy="275590"/>
          </a:xfrm>
          <a:prstGeom prst="rect">
            <a:avLst/>
          </a:prstGeom>
          <a:noFill/>
        </p:spPr>
        <p:txBody>
          <a:bodyPr wrap="square" rtlCol="0">
            <a:spAutoFit/>
          </a:bodyPr>
          <a:p>
            <a:r>
              <a:rPr lang="zh-CN" altLang="en-US" sz="1200" b="1"/>
              <a:t>元强化学习框架</a:t>
            </a:r>
            <a:endParaRPr lang="zh-CN" altLang="en-US" sz="1200" b="1"/>
          </a:p>
        </p:txBody>
      </p:sp>
      <p:sp>
        <p:nvSpPr>
          <p:cNvPr id="26" name="左大括号 25"/>
          <p:cNvSpPr/>
          <p:nvPr/>
        </p:nvSpPr>
        <p:spPr>
          <a:xfrm>
            <a:off x="5189220" y="1379855"/>
            <a:ext cx="190500" cy="1301750"/>
          </a:xfrm>
          <a:prstGeom prst="leftBrace">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左大括号 26"/>
          <p:cNvSpPr/>
          <p:nvPr/>
        </p:nvSpPr>
        <p:spPr>
          <a:xfrm>
            <a:off x="4897120" y="3143250"/>
            <a:ext cx="203200" cy="702945"/>
          </a:xfrm>
          <a:prstGeom prst="leftBrace">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7844"/>
    </mc:Choice>
    <mc:Fallback>
      <p:transition spd="slow" advTm="3784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元强化学习</a:t>
            </a:r>
            <a:r>
              <a:rPr lang="zh-CN" altLang="en-US" dirty="0"/>
              <a:t>框架</a:t>
            </a:r>
            <a:endParaRPr lang="zh-CN" altLang="en-US" dirty="0"/>
          </a:p>
        </p:txBody>
      </p:sp>
      <p:sp>
        <p:nvSpPr>
          <p:cNvPr id="3" name="文本框 2"/>
          <p:cNvSpPr txBox="1"/>
          <p:nvPr/>
        </p:nvSpPr>
        <p:spPr>
          <a:xfrm>
            <a:off x="141051" y="64105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马尔可夫决策过程（</a:t>
            </a:r>
            <a:r>
              <a:rPr lang="en-US" altLang="zh-CN" b="1" dirty="0">
                <a:latin typeface="微软雅黑" panose="020B0503020204020204" pitchFamily="34" charset="-122"/>
                <a:ea typeface="微软雅黑" panose="020B0503020204020204" pitchFamily="34" charset="-122"/>
                <a:sym typeface="+mn-ea"/>
              </a:rPr>
              <a:t>MDP</a:t>
            </a:r>
            <a:r>
              <a:rPr lang="zh-CN" altLang="en-US" b="1" dirty="0">
                <a:latin typeface="微软雅黑" panose="020B0503020204020204" pitchFamily="34" charset="-122"/>
                <a:ea typeface="微软雅黑" panose="020B0503020204020204" pitchFamily="34" charset="-122"/>
                <a:sym typeface="+mn-ea"/>
              </a:rPr>
              <a:t>）</a:t>
            </a:r>
            <a:endParaRPr lang="zh-CN" altLang="en-US" b="1"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2"/>
          </p:nvPr>
        </p:nvSpPr>
        <p:spPr/>
        <p:txBody>
          <a:bodyPr/>
          <a:lstStyle/>
          <a:p>
            <a:r>
              <a:rPr lang="en-US" altLang="zh-CN" dirty="0"/>
              <a:t>5</a:t>
            </a:r>
            <a:endParaRPr lang="en-US" altLang="zh-CN" dirty="0"/>
          </a:p>
        </p:txBody>
      </p:sp>
      <p:sp>
        <p:nvSpPr>
          <p:cNvPr id="6" name="文本框 5"/>
          <p:cNvSpPr txBox="1"/>
          <p:nvPr/>
        </p:nvSpPr>
        <p:spPr>
          <a:xfrm>
            <a:off x="577850" y="1253173"/>
            <a:ext cx="5080000" cy="337185"/>
          </a:xfrm>
          <a:prstGeom prst="rect">
            <a:avLst/>
          </a:prstGeom>
        </p:spPr>
        <p:txBody>
          <a:bodyPr>
            <a:spAutoFit/>
          </a:bodyPr>
          <a:p>
            <a:r>
              <a:rPr lang="en-US" altLang="zh-CN" sz="1600" i="1">
                <a:solidFill>
                  <a:srgbClr val="000000"/>
                </a:solidFill>
                <a:latin typeface="Times New Roman" panose="02020603050405020304" pitchFamily="18" charset="0"/>
                <a:ea typeface="CMMI12"/>
                <a:cs typeface="Times New Roman" panose="02020603050405020304" pitchFamily="18" charset="0"/>
              </a:rPr>
              <a:t>M </a:t>
            </a:r>
            <a:r>
              <a:rPr lang="en-US" altLang="zh-CN" sz="1600">
                <a:solidFill>
                  <a:srgbClr val="000000"/>
                </a:solidFill>
                <a:latin typeface="Times New Roman" panose="02020603050405020304" pitchFamily="18" charset="0"/>
                <a:ea typeface="CMR12"/>
                <a:cs typeface="Times New Roman" panose="02020603050405020304" pitchFamily="18" charset="0"/>
              </a:rPr>
              <a:t>= (</a:t>
            </a:r>
            <a:r>
              <a:rPr lang="en-US" altLang="zh-CN" sz="1600" i="1">
                <a:solidFill>
                  <a:srgbClr val="000000"/>
                </a:solidFill>
                <a:latin typeface="Times New Roman" panose="02020603050405020304" pitchFamily="18" charset="0"/>
                <a:ea typeface="CMMI12"/>
                <a:cs typeface="Times New Roman" panose="02020603050405020304" pitchFamily="18" charset="0"/>
              </a:rPr>
              <a:t>S, A, </a:t>
            </a:r>
            <a:r>
              <a:rPr lang="en-US" altLang="zh-CN" sz="1600" i="1">
                <a:solidFill>
                  <a:srgbClr val="000000"/>
                </a:solidFill>
                <a:latin typeface="Times New Roman" panose="02020603050405020304" pitchFamily="18" charset="0"/>
                <a:ea typeface="CMMI12"/>
                <a:cs typeface="Times New Roman" panose="02020603050405020304" pitchFamily="18" charset="0"/>
              </a:rPr>
              <a:t>T, </a:t>
            </a:r>
            <a:r>
              <a:rPr lang="en-US" altLang="zh-CN" sz="1600" i="1">
                <a:solidFill>
                  <a:srgbClr val="000000"/>
                </a:solidFill>
                <a:latin typeface="Times New Roman" panose="02020603050405020304" pitchFamily="18" charset="0"/>
                <a:ea typeface="CMMI12"/>
                <a:cs typeface="Times New Roman" panose="02020603050405020304" pitchFamily="18" charset="0"/>
              </a:rPr>
              <a:t>R, H</a:t>
            </a:r>
            <a:r>
              <a:rPr lang="en-US" altLang="zh-CN" sz="1600">
                <a:solidFill>
                  <a:srgbClr val="000000"/>
                </a:solidFill>
                <a:latin typeface="Times New Roman" panose="02020603050405020304" pitchFamily="18" charset="0"/>
                <a:ea typeface="CMR12"/>
                <a:cs typeface="Times New Roman" panose="02020603050405020304" pitchFamily="18" charset="0"/>
              </a:rPr>
              <a:t>)</a:t>
            </a:r>
            <a:endParaRPr lang="en-US" altLang="zh-CN" sz="1600">
              <a:solidFill>
                <a:srgbClr val="000000"/>
              </a:solidFill>
              <a:latin typeface="Times New Roman" panose="02020603050405020304" pitchFamily="18" charset="0"/>
              <a:ea typeface="CMR12"/>
              <a:cs typeface="Times New Roman" panose="02020603050405020304" pitchFamily="18" charset="0"/>
            </a:endParaRPr>
          </a:p>
        </p:txBody>
      </p:sp>
      <p:sp>
        <p:nvSpPr>
          <p:cNvPr id="10" name="文本框 9"/>
          <p:cNvSpPr txBox="1"/>
          <p:nvPr/>
        </p:nvSpPr>
        <p:spPr>
          <a:xfrm>
            <a:off x="343535" y="1640840"/>
            <a:ext cx="6461760" cy="645160"/>
          </a:xfrm>
          <a:prstGeom prst="rect">
            <a:avLst/>
          </a:prstGeom>
          <a:noFill/>
        </p:spPr>
        <p:txBody>
          <a:bodyPr wrap="square" rtlCol="0">
            <a:spAutoFit/>
          </a:bodyPr>
          <a:p>
            <a:r>
              <a:rPr lang="zh-CN" altLang="en-US"/>
              <a:t>（</a:t>
            </a:r>
            <a:r>
              <a:rPr lang="en-US" altLang="zh-CN"/>
              <a:t>1</a:t>
            </a:r>
            <a:r>
              <a:rPr lang="zh-CN" altLang="en-US"/>
              <a:t>）</a:t>
            </a:r>
            <a:r>
              <a:rPr lang="en-US" altLang="zh-CN" i="1"/>
              <a:t>S</a:t>
            </a:r>
            <a:r>
              <a:rPr lang="en-US" altLang="zh-CN"/>
              <a:t>:</a:t>
            </a:r>
            <a:r>
              <a:rPr lang="zh-CN" altLang="en-US"/>
              <a:t>状态</a:t>
            </a:r>
            <a:endParaRPr lang="zh-CN" altLang="en-US"/>
          </a:p>
          <a:p>
            <a:pPr indent="457200"/>
            <a:r>
              <a:rPr lang="zh-CN" altLang="en-US"/>
              <a:t>异构图表示调度问题</a:t>
            </a:r>
            <a:r>
              <a:rPr lang="zh-CN" altLang="en-US">
                <a:latin typeface="Arial" panose="020B0604020202020204" pitchFamily="34" charset="0"/>
                <a:cs typeface="Arial" panose="020B0604020202020204" pitchFamily="34" charset="0"/>
              </a:rPr>
              <a:t>→</a:t>
            </a:r>
            <a:r>
              <a:rPr lang="zh-CN" altLang="en-US"/>
              <a:t>工件，机器加工状态等</a:t>
            </a:r>
            <a:r>
              <a:rPr lang="zh-CN" altLang="en-US"/>
              <a:t>信息</a:t>
            </a:r>
            <a:endParaRPr lang="zh-CN" altLang="en-US"/>
          </a:p>
        </p:txBody>
      </p:sp>
      <p:sp>
        <p:nvSpPr>
          <p:cNvPr id="14" name="文本框 13"/>
          <p:cNvSpPr txBox="1"/>
          <p:nvPr/>
        </p:nvSpPr>
        <p:spPr>
          <a:xfrm>
            <a:off x="343535" y="2197100"/>
            <a:ext cx="4572000" cy="645160"/>
          </a:xfrm>
          <a:prstGeom prst="rect">
            <a:avLst/>
          </a:prstGeom>
          <a:noFill/>
        </p:spPr>
        <p:txBody>
          <a:bodyPr wrap="square" rtlCol="0" anchor="t">
            <a:spAutoFit/>
          </a:bodyPr>
          <a:p>
            <a:r>
              <a:rPr lang="zh-CN" altLang="en-US">
                <a:sym typeface="+mn-ea"/>
              </a:rPr>
              <a:t>（</a:t>
            </a:r>
            <a:r>
              <a:rPr lang="en-US" altLang="zh-CN">
                <a:sym typeface="+mn-ea"/>
              </a:rPr>
              <a:t>2</a:t>
            </a:r>
            <a:r>
              <a:rPr lang="zh-CN" altLang="en-US">
                <a:sym typeface="+mn-ea"/>
              </a:rPr>
              <a:t>）</a:t>
            </a:r>
            <a:r>
              <a:rPr lang="en-US" altLang="zh-CN" i="1">
                <a:sym typeface="+mn-ea"/>
              </a:rPr>
              <a:t>A</a:t>
            </a:r>
            <a:r>
              <a:rPr lang="en-US" altLang="zh-CN">
                <a:sym typeface="+mn-ea"/>
              </a:rPr>
              <a:t>:</a:t>
            </a:r>
            <a:r>
              <a:rPr lang="zh-CN" altLang="en-US">
                <a:sym typeface="+mn-ea"/>
              </a:rPr>
              <a:t>动作</a:t>
            </a:r>
            <a:endParaRPr lang="zh-CN" altLang="en-US">
              <a:sym typeface="+mn-ea"/>
            </a:endParaRPr>
          </a:p>
          <a:p>
            <a:pPr indent="457200"/>
            <a:r>
              <a:rPr lang="zh-CN" altLang="en-US">
                <a:latin typeface="Arial" panose="020B0604020202020204" pitchFamily="34" charset="0"/>
                <a:cs typeface="Arial" panose="020B0604020202020204" pitchFamily="34" charset="0"/>
                <a:sym typeface="+mn-ea"/>
              </a:rPr>
              <a:t>工序</a:t>
            </a:r>
            <a:r>
              <a:rPr lang="en-US" altLang="zh-CN">
                <a:latin typeface="Arial" panose="020B0604020202020204" pitchFamily="34" charset="0"/>
                <a:cs typeface="Arial" panose="020B0604020202020204" pitchFamily="34" charset="0"/>
                <a:sym typeface="+mn-ea"/>
              </a:rPr>
              <a:t>--</a:t>
            </a:r>
            <a:r>
              <a:rPr lang="zh-CN" altLang="en-US">
                <a:latin typeface="Arial" panose="020B0604020202020204" pitchFamily="34" charset="0"/>
                <a:cs typeface="Arial" panose="020B0604020202020204" pitchFamily="34" charset="0"/>
                <a:sym typeface="+mn-ea"/>
              </a:rPr>
              <a:t>机器对</a:t>
            </a:r>
            <a:r>
              <a:rPr lang="en-US" altLang="zh-CN">
                <a:latin typeface="Arial" panose="020B0604020202020204" pitchFamily="34" charset="0"/>
                <a:cs typeface="Arial" panose="020B0604020202020204" pitchFamily="34" charset="0"/>
                <a:sym typeface="+mn-ea"/>
              </a:rPr>
              <a:t> </a:t>
            </a:r>
            <a:r>
              <a:rPr lang="zh-CN" altLang="en-US">
                <a:latin typeface="Arial" panose="020B0604020202020204" pitchFamily="34" charset="0"/>
                <a:cs typeface="Arial" panose="020B0604020202020204" pitchFamily="34" charset="0"/>
                <a:sym typeface="+mn-ea"/>
              </a:rPr>
              <a:t>←</a:t>
            </a:r>
            <a:r>
              <a:rPr lang="en-US" altLang="zh-CN">
                <a:latin typeface="Arial" panose="020B0604020202020204" pitchFamily="34" charset="0"/>
                <a:cs typeface="Arial" panose="020B0604020202020204" pitchFamily="34" charset="0"/>
                <a:sym typeface="+mn-ea"/>
              </a:rPr>
              <a:t> </a:t>
            </a:r>
            <a:r>
              <a:rPr lang="zh-CN" altLang="en-US">
                <a:latin typeface="Arial" panose="020B0604020202020204" pitchFamily="34" charset="0"/>
                <a:cs typeface="Arial" panose="020B0604020202020204" pitchFamily="34" charset="0"/>
                <a:sym typeface="+mn-ea"/>
              </a:rPr>
              <a:t>动作</a:t>
            </a:r>
            <a:r>
              <a:rPr lang="zh-CN" altLang="en-US">
                <a:latin typeface="Arial" panose="020B0604020202020204" pitchFamily="34" charset="0"/>
                <a:cs typeface="Arial" panose="020B0604020202020204" pitchFamily="34" charset="0"/>
                <a:sym typeface="+mn-ea"/>
              </a:rPr>
              <a:t>掩码</a:t>
            </a:r>
            <a:endParaRPr lang="zh-CN" altLang="en-US">
              <a:latin typeface="Arial" panose="020B0604020202020204" pitchFamily="34" charset="0"/>
              <a:cs typeface="Arial" panose="020B0604020202020204" pitchFamily="34" charset="0"/>
              <a:sym typeface="+mn-ea"/>
            </a:endParaRPr>
          </a:p>
        </p:txBody>
      </p:sp>
      <p:sp>
        <p:nvSpPr>
          <p:cNvPr id="15" name="文本框 14"/>
          <p:cNvSpPr txBox="1"/>
          <p:nvPr/>
        </p:nvSpPr>
        <p:spPr>
          <a:xfrm>
            <a:off x="343535" y="4885055"/>
            <a:ext cx="4572000" cy="368300"/>
          </a:xfrm>
          <a:prstGeom prst="rect">
            <a:avLst/>
          </a:prstGeom>
          <a:noFill/>
        </p:spPr>
        <p:txBody>
          <a:bodyPr wrap="square" rtlCol="0" anchor="t">
            <a:spAutoFit/>
          </a:bodyPr>
          <a:p>
            <a:r>
              <a:rPr lang="zh-CN" altLang="en-US">
                <a:sym typeface="+mn-ea"/>
              </a:rPr>
              <a:t>（</a:t>
            </a:r>
            <a:r>
              <a:rPr lang="en-US" altLang="zh-CN">
                <a:sym typeface="+mn-ea"/>
              </a:rPr>
              <a:t>4</a:t>
            </a:r>
            <a:r>
              <a:rPr lang="zh-CN" altLang="en-US">
                <a:sym typeface="+mn-ea"/>
              </a:rPr>
              <a:t>）</a:t>
            </a:r>
            <a:r>
              <a:rPr lang="en-US" altLang="zh-CN" i="1">
                <a:sym typeface="+mn-ea"/>
              </a:rPr>
              <a:t>R</a:t>
            </a:r>
            <a:r>
              <a:rPr lang="en-US" altLang="zh-CN">
                <a:sym typeface="+mn-ea"/>
              </a:rPr>
              <a:t>:</a:t>
            </a:r>
            <a:r>
              <a:rPr lang="zh-CN" altLang="en-US">
                <a:sym typeface="+mn-ea"/>
              </a:rPr>
              <a:t>奖励</a:t>
            </a:r>
            <a:endParaRPr lang="zh-CN" altLang="en-US">
              <a:sym typeface="+mn-ea"/>
            </a:endParaRPr>
          </a:p>
        </p:txBody>
      </p:sp>
      <p:sp>
        <p:nvSpPr>
          <p:cNvPr id="16" name="文本框 15"/>
          <p:cNvSpPr txBox="1"/>
          <p:nvPr/>
        </p:nvSpPr>
        <p:spPr>
          <a:xfrm>
            <a:off x="343535" y="4204335"/>
            <a:ext cx="4572000" cy="645160"/>
          </a:xfrm>
          <a:prstGeom prst="rect">
            <a:avLst/>
          </a:prstGeom>
          <a:noFill/>
        </p:spPr>
        <p:txBody>
          <a:bodyPr wrap="square" rtlCol="0" anchor="t">
            <a:spAutoFit/>
          </a:bodyPr>
          <a:p>
            <a:r>
              <a:rPr lang="zh-CN" altLang="en-US">
                <a:sym typeface="+mn-ea"/>
              </a:rPr>
              <a:t>（</a:t>
            </a:r>
            <a:r>
              <a:rPr lang="en-US" altLang="zh-CN">
                <a:sym typeface="+mn-ea"/>
              </a:rPr>
              <a:t>3</a:t>
            </a:r>
            <a:r>
              <a:rPr lang="zh-CN" altLang="en-US">
                <a:sym typeface="+mn-ea"/>
              </a:rPr>
              <a:t>）</a:t>
            </a:r>
            <a:r>
              <a:rPr lang="en-US" altLang="zh-CN" i="1">
                <a:sym typeface="+mn-ea"/>
              </a:rPr>
              <a:t>T</a:t>
            </a:r>
            <a:r>
              <a:rPr lang="en-US" altLang="zh-CN">
                <a:sym typeface="+mn-ea"/>
              </a:rPr>
              <a:t>:</a:t>
            </a:r>
            <a:r>
              <a:rPr lang="zh-CN" altLang="en-US">
                <a:sym typeface="+mn-ea"/>
              </a:rPr>
              <a:t>状态转移</a:t>
            </a:r>
            <a:br>
              <a:rPr lang="zh-CN" altLang="en-US">
                <a:sym typeface="+mn-ea"/>
              </a:rPr>
            </a:br>
            <a:r>
              <a:rPr lang="en-US" altLang="zh-CN">
                <a:sym typeface="+mn-ea"/>
              </a:rPr>
              <a:t>	</a:t>
            </a:r>
            <a:r>
              <a:rPr lang="zh-CN" altLang="en-US">
                <a:sym typeface="+mn-ea"/>
              </a:rPr>
              <a:t>更新异构图；更新节点</a:t>
            </a:r>
            <a:r>
              <a:rPr lang="zh-CN" altLang="en-US">
                <a:sym typeface="+mn-ea"/>
              </a:rPr>
              <a:t>特征</a:t>
            </a:r>
            <a:endParaRPr lang="zh-CN" altLang="en-US">
              <a:sym typeface="+mn-ea"/>
            </a:endParaRPr>
          </a:p>
        </p:txBody>
      </p:sp>
      <p:sp>
        <p:nvSpPr>
          <p:cNvPr id="17" name="文本框 16"/>
          <p:cNvSpPr txBox="1"/>
          <p:nvPr/>
        </p:nvSpPr>
        <p:spPr>
          <a:xfrm>
            <a:off x="343535" y="5556250"/>
            <a:ext cx="4572000" cy="645160"/>
          </a:xfrm>
          <a:prstGeom prst="rect">
            <a:avLst/>
          </a:prstGeom>
          <a:noFill/>
        </p:spPr>
        <p:txBody>
          <a:bodyPr wrap="square" rtlCol="0" anchor="t">
            <a:spAutoFit/>
          </a:bodyPr>
          <a:p>
            <a:r>
              <a:rPr lang="zh-CN" altLang="en-US">
                <a:sym typeface="+mn-ea"/>
              </a:rPr>
              <a:t>（</a:t>
            </a:r>
            <a:r>
              <a:rPr lang="en-US" altLang="zh-CN">
                <a:sym typeface="+mn-ea"/>
              </a:rPr>
              <a:t>5</a:t>
            </a:r>
            <a:r>
              <a:rPr lang="zh-CN" altLang="en-US">
                <a:sym typeface="+mn-ea"/>
              </a:rPr>
              <a:t>）</a:t>
            </a:r>
            <a:r>
              <a:rPr lang="en-US" altLang="zh-CN" i="1">
                <a:sym typeface="+mn-ea"/>
              </a:rPr>
              <a:t>H</a:t>
            </a:r>
            <a:r>
              <a:rPr lang="en-US" altLang="zh-CN">
                <a:sym typeface="+mn-ea"/>
              </a:rPr>
              <a:t>:</a:t>
            </a:r>
            <a:r>
              <a:rPr lang="zh-CN" altLang="en-US">
                <a:sym typeface="+mn-ea"/>
              </a:rPr>
              <a:t>轨迹</a:t>
            </a:r>
            <a:r>
              <a:rPr lang="zh-CN" altLang="en-US">
                <a:sym typeface="+mn-ea"/>
              </a:rPr>
              <a:t>长度</a:t>
            </a:r>
            <a:endParaRPr lang="zh-CN" altLang="en-US">
              <a:sym typeface="+mn-ea"/>
            </a:endParaRPr>
          </a:p>
          <a:p>
            <a:endParaRPr lang="zh-CN" altLang="en-US">
              <a:sym typeface="+mn-ea"/>
            </a:endParaRPr>
          </a:p>
        </p:txBody>
      </p:sp>
      <mc:AlternateContent xmlns:mc="http://schemas.openxmlformats.org/markup-compatibility/2006">
        <mc:Choice xmlns:a14="http://schemas.microsoft.com/office/drawing/2010/main" Requires="a14">
          <p:sp>
            <p:nvSpPr>
              <p:cNvPr id="19" name="文本框 18"/>
              <p:cNvSpPr txBox="1"/>
              <p:nvPr/>
            </p:nvSpPr>
            <p:spPr>
              <a:xfrm>
                <a:off x="1061085" y="2861945"/>
                <a:ext cx="6545580" cy="661035"/>
              </a:xfrm>
              <a:prstGeom prst="rect">
                <a:avLst/>
              </a:prstGeom>
              <a:noFill/>
            </p:spPr>
            <p:txBody>
              <a:bodyPr wrap="square" rtlCol="0">
                <a:spAutoFit/>
              </a:bodyPr>
              <a:p>
                <a:r>
                  <a:rPr lang="zh-CN" altLang="en-US"/>
                  <a:t>工序-机器可加工约束（</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zh-CN" altLang="en-US">
                            <a:sym typeface="+mn-ea"/>
                          </a:rPr>
                          <m:t>𝓜</m:t>
                        </m:r>
                      </m:e>
                      <m:sub>
                        <m:r>
                          <a:rPr lang="en-US" altLang="zh-CN" i="1">
                            <a:latin typeface="Cambria Math" panose="02040503050406030204" pitchFamily="18" charset="0"/>
                            <a:cs typeface="Cambria Math" panose="02040503050406030204" pitchFamily="18" charset="0"/>
                          </a:rPr>
                          <m:t>proc</m:t>
                        </m:r>
                      </m:sub>
                    </m:sSub>
                  </m:oMath>
                </a14:m>
                <a:r>
                  <a:rPr lang="en-US" altLang="zh-CN"/>
                  <a:t>）：</a:t>
                </a:r>
                <a:r>
                  <a:rPr lang="zh-CN" altLang="en-US"/>
                  <a:t>来源于的工序-机器邻接矩阵。</a:t>
                </a:r>
                <a:endParaRPr lang="zh-CN" altLang="en-US"/>
              </a:p>
              <a:p>
                <a:r>
                  <a:rPr lang="zh-CN" altLang="en-US"/>
                  <a:t>工件完工约束（</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zh-CN" altLang="en-US">
                            <a:latin typeface="Cambria Math" panose="02040503050406030204" pitchFamily="18" charset="0"/>
                            <a:sym typeface="+mn-ea"/>
                          </a:rPr>
                          <m:t>𝓜</m:t>
                        </m:r>
                      </m:e>
                      <m:sub>
                        <m:r>
                          <m:rPr>
                            <m:sty m:val="p"/>
                          </m:rPr>
                          <a:rPr lang="en-US" altLang="zh-CN">
                            <a:latin typeface="Cambria Math" panose="02040503050406030204" pitchFamily="18" charset="0"/>
                            <a:sym typeface="+mn-ea"/>
                          </a:rPr>
                          <m:t>job</m:t>
                        </m:r>
                      </m:sub>
                    </m:sSub>
                  </m:oMath>
                </a14:m>
                <a:r>
                  <a:rPr lang="en-US" altLang="zh-CN"/>
                  <a:t>）：</a:t>
                </a:r>
                <a:r>
                  <a:rPr lang="zh-CN" altLang="en-US"/>
                  <a:t>屏蔽已完工</a:t>
                </a:r>
                <a:r>
                  <a:rPr lang="zh-CN" altLang="en-US"/>
                  <a:t>的工件对应的全部动作。</a:t>
                </a:r>
                <a:endParaRPr lang="zh-CN" altLang="en-US"/>
              </a:p>
            </p:txBody>
          </p:sp>
        </mc:Choice>
        <mc:Fallback>
          <p:sp>
            <p:nvSpPr>
              <p:cNvPr id="19" name="文本框 18"/>
              <p:cNvSpPr txBox="1">
                <a:spLocks noRot="1" noChangeAspect="1" noMove="1" noResize="1" noEditPoints="1" noAdjustHandles="1" noChangeArrowheads="1" noChangeShapeType="1" noTextEdit="1"/>
              </p:cNvSpPr>
              <p:nvPr/>
            </p:nvSpPr>
            <p:spPr>
              <a:xfrm>
                <a:off x="1061085" y="2861945"/>
                <a:ext cx="6545580" cy="661035"/>
              </a:xfrm>
              <a:prstGeom prst="rect">
                <a:avLst/>
              </a:prstGeom>
              <a:blipFill rotWithShape="1">
                <a:blip r:embed="rId1"/>
                <a:stretch>
                  <a:fillRect r="-67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1061085" y="3533140"/>
                <a:ext cx="6888480" cy="661035"/>
              </a:xfrm>
              <a:prstGeom prst="rect">
                <a:avLst/>
              </a:prstGeom>
              <a:noFill/>
            </p:spPr>
            <p:txBody>
              <a:bodyPr wrap="square" rtlCol="0">
                <a:spAutoFit/>
              </a:bodyPr>
              <a:p>
                <a:r>
                  <a:rPr lang="zh-CN" altLang="en-US"/>
                  <a:t>置换约束（</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zh-CN" altLang="en-US">
                            <a:latin typeface="Cambria Math" panose="02040503050406030204" pitchFamily="18" charset="0"/>
                            <a:sym typeface="+mn-ea"/>
                          </a:rPr>
                          <m:t>𝓜</m:t>
                        </m:r>
                      </m:e>
                      <m:sub>
                        <m:r>
                          <a:rPr lang="en-US" altLang="zh-CN">
                            <a:latin typeface="Cambria Math" panose="02040503050406030204" pitchFamily="18" charset="0"/>
                            <a:cs typeface="Cambria Math" panose="02040503050406030204" pitchFamily="18" charset="0"/>
                            <a:sym typeface="+mn-ea"/>
                          </a:rPr>
                          <m:t>perm</m:t>
                        </m:r>
                      </m:sub>
                    </m:sSub>
                  </m:oMath>
                </a14:m>
                <a:r>
                  <a:rPr lang="en-US" altLang="zh-CN"/>
                  <a:t>）</a:t>
                </a:r>
                <a:r>
                  <a:rPr lang="zh-CN" altLang="en-US"/>
                  <a:t>；无等待约束（</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zh-CN" altLang="en-US">
                            <a:latin typeface="Cambria Math" panose="02040503050406030204" pitchFamily="18" charset="0"/>
                            <a:sym typeface="+mn-ea"/>
                          </a:rPr>
                          <m:t>𝓜</m:t>
                        </m:r>
                      </m:e>
                      <m:sub>
                        <m:r>
                          <a:rPr lang="en-US" altLang="zh-CN">
                            <a:latin typeface="Cambria Math" panose="02040503050406030204" pitchFamily="18" charset="0"/>
                            <a:cs typeface="Cambria Math" panose="02040503050406030204" pitchFamily="18" charset="0"/>
                            <a:sym typeface="+mn-ea"/>
                          </a:rPr>
                          <m:t>nw</m:t>
                        </m:r>
                      </m:sub>
                    </m:sSub>
                  </m:oMath>
                </a14:m>
                <a:r>
                  <a:rPr lang="en-US" altLang="zh-CN"/>
                  <a:t>）</a:t>
                </a:r>
                <a:r>
                  <a:rPr lang="zh-CN" altLang="en-US"/>
                  <a:t>与阻塞约束（</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zh-CN" altLang="en-US">
                            <a:latin typeface="Cambria Math" panose="02040503050406030204" pitchFamily="18" charset="0"/>
                            <a:sym typeface="+mn-ea"/>
                          </a:rPr>
                          <m:t>𝓜</m:t>
                        </m:r>
                      </m:e>
                      <m:sub>
                        <m:r>
                          <a:rPr lang="en-US" altLang="zh-CN">
                            <a:latin typeface="Cambria Math" panose="02040503050406030204" pitchFamily="18" charset="0"/>
                            <a:cs typeface="Cambria Math" panose="02040503050406030204" pitchFamily="18" charset="0"/>
                            <a:sym typeface="+mn-ea"/>
                          </a:rPr>
                          <m:t>blk</m:t>
                        </m:r>
                      </m:sub>
                    </m:sSub>
                  </m:oMath>
                </a14:m>
                <a:r>
                  <a:rPr lang="en-US" altLang="zh-CN"/>
                  <a:t>）</a:t>
                </a:r>
                <a:endParaRPr lang="en-US" altLang="zh-CN"/>
              </a:p>
              <a:p>
                <a14:m>
                  <m:oMath xmlns:m="http://schemas.openxmlformats.org/officeDocument/2006/math">
                    <m:r>
                      <a:rPr lang="zh-CN" altLang="en-US">
                        <a:latin typeface="Cambria Math" panose="02040503050406030204" pitchFamily="18" charset="0"/>
                        <a:sym typeface="+mn-ea"/>
                      </a:rPr>
                      <m:t>𝓜</m:t>
                    </m:r>
                  </m:oMath>
                </a14:m>
                <a:r>
                  <a:rPr lang="en-US" altLang="zh-CN"/>
                  <a:t> =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zh-CN" altLang="en-US">
                            <a:latin typeface="Cambria Math" panose="02040503050406030204" pitchFamily="18" charset="0"/>
                            <a:sym typeface="+mn-ea"/>
                          </a:rPr>
                          <m:t>𝓜</m:t>
                        </m:r>
                      </m:e>
                      <m:sub>
                        <m:r>
                          <a:rPr lang="en-US" altLang="zh-CN" i="1">
                            <a:latin typeface="Cambria Math" panose="02040503050406030204" pitchFamily="18" charset="0"/>
                            <a:cs typeface="Cambria Math" panose="02040503050406030204" pitchFamily="18" charset="0"/>
                          </a:rPr>
                          <m:t>𝑝𝑟𝑜𝑐</m:t>
                        </m:r>
                      </m:sub>
                    </m:sSub>
                  </m:oMath>
                </a14:m>
                <a:r>
                  <a:rPr lang="en-US" altLang="zh-CN"/>
                  <a:t> ∧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zh-CN" altLang="en-US">
                            <a:latin typeface="Cambria Math" panose="02040503050406030204" pitchFamily="18" charset="0"/>
                            <a:sym typeface="+mn-ea"/>
                          </a:rPr>
                          <m:t>𝓜</m:t>
                        </m:r>
                      </m:e>
                      <m:sub>
                        <m:r>
                          <m:rPr>
                            <m:sty m:val="p"/>
                          </m:rPr>
                          <a:rPr lang="en-US" altLang="zh-CN">
                            <a:latin typeface="Cambria Math" panose="02040503050406030204" pitchFamily="18" charset="0"/>
                            <a:sym typeface="+mn-ea"/>
                          </a:rPr>
                          <m:t>job</m:t>
                        </m:r>
                      </m:sub>
                    </m:sSub>
                  </m:oMath>
                </a14:m>
                <a:r>
                  <a:rPr lang="en-US" altLang="zh-CN"/>
                  <a:t>……</a:t>
                </a:r>
                <a:endParaRPr lang="en-US" altLang="zh-CN"/>
              </a:p>
            </p:txBody>
          </p:sp>
        </mc:Choice>
        <mc:Fallback>
          <p:sp>
            <p:nvSpPr>
              <p:cNvPr id="20" name="文本框 19"/>
              <p:cNvSpPr txBox="1">
                <a:spLocks noRot="1" noChangeAspect="1" noMove="1" noResize="1" noEditPoints="1" noAdjustHandles="1" noChangeArrowheads="1" noChangeShapeType="1" noTextEdit="1"/>
              </p:cNvSpPr>
              <p:nvPr/>
            </p:nvSpPr>
            <p:spPr>
              <a:xfrm>
                <a:off x="1061085" y="3533140"/>
                <a:ext cx="6888480" cy="66103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793115" y="5181600"/>
                <a:ext cx="7289800" cy="368300"/>
              </a:xfrm>
              <a:prstGeom prst="rect">
                <a:avLst/>
              </a:prstGeom>
              <a:noFill/>
            </p:spPr>
            <p:txBody>
              <a:bodyPr wrap="square" rtlCol="0">
                <a:spAutoFit/>
              </a:bodyPr>
              <a:p>
                <a:r>
                  <a:rPr lang="zh-CN" altLang="en-US"/>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r</m:t>
                        </m:r>
                      </m:e>
                      <m:sub>
                        <m:r>
                          <a:rPr lang="en-US" altLang="zh-CN">
                            <a:latin typeface="Cambria Math" panose="02040503050406030204" pitchFamily="18" charset="0"/>
                            <a:cs typeface="Cambria Math" panose="02040503050406030204" pitchFamily="18" charset="0"/>
                            <a:sym typeface="+mn-ea"/>
                          </a:rPr>
                          <m:t>t</m:t>
                        </m:r>
                      </m:sub>
                    </m:sSub>
                  </m:oMath>
                </a14:m>
                <a:r>
                  <a:rPr lang="en-US" altLang="zh-CN"/>
                  <a:t> =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a:latin typeface="Cambria Math" panose="02040503050406030204" pitchFamily="18" charset="0"/>
                            <a:cs typeface="Cambria Math" panose="02040503050406030204" pitchFamily="18" charset="0"/>
                            <a:sym typeface="+mn-ea"/>
                          </a:rPr>
                          <m:t>𝑚𝑎𝑥</m:t>
                        </m:r>
                      </m:sub>
                    </m:sSub>
                  </m:oMath>
                </a14:m>
                <a:r>
                  <a:rPr lang="en-US" altLang="zh-CN"/>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sub>
                    </m:sSub>
                  </m:oMath>
                </a14:m>
                <a:r>
                  <a:rPr lang="en-US" altLang="zh-CN"/>
                  <a:t>) −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a:latin typeface="Cambria Math" panose="02040503050406030204" pitchFamily="18" charset="0"/>
                            <a:cs typeface="Cambria Math" panose="02040503050406030204" pitchFamily="18" charset="0"/>
                            <a:sym typeface="+mn-ea"/>
                          </a:rPr>
                          <m:t>𝑚𝑎𝑥</m:t>
                        </m:r>
                      </m:sub>
                    </m:sSub>
                  </m:oMath>
                </a14:m>
                <a:r>
                  <a:rPr lang="en-US" altLang="zh-CN"/>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oMath>
                </a14:m>
                <a:r>
                  <a:rPr lang="en-US" altLang="zh-CN"/>
                  <a:t>)             </a:t>
                </a:r>
                <a:r>
                  <a:rPr lang="en-US" altLang="zh-CN">
                    <a:latin typeface="Arial" panose="020B0604020202020204" pitchFamily="34" charset="0"/>
                    <a:cs typeface="Arial" panose="020B0604020202020204" pitchFamily="34" charset="0"/>
                  </a:rPr>
                  <a:t>→       </a:t>
                </a:r>
                <a14:m>
                  <m:oMath xmlns:m="http://schemas.openxmlformats.org/officeDocument/2006/math">
                    <m:nary>
                      <m:naryPr>
                        <m:chr m:val="∑"/>
                        <m:limLoc m:val="undOvr"/>
                        <m:subHide m:val="on"/>
                        <m:supHide m:val="on"/>
                        <m:ctrlPr>
                          <a:rPr lang="en-US" altLang="zh-CN" i="1">
                            <a:latin typeface="Cambria Math" panose="02040503050406030204" pitchFamily="18" charset="0"/>
                            <a:cs typeface="Cambria Math" panose="02040503050406030204" pitchFamily="18" charset="0"/>
                          </a:rPr>
                        </m:ctrlPr>
                      </m:naryPr>
                      <m:sub/>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a:latin typeface="Cambria Math" panose="02040503050406030204" pitchFamily="18" charset="0"/>
                                <a:cs typeface="Cambria Math" panose="02040503050406030204" pitchFamily="18" charset="0"/>
                                <a:sym typeface="+mn-ea"/>
                              </a:rPr>
                              <m:t>𝑡</m:t>
                            </m:r>
                          </m:sub>
                        </m:sSub>
                      </m:e>
                    </m:nary>
                  </m:oMath>
                </a14:m>
                <a:r>
                  <a:rPr lang="en-US" altLang="zh-CN">
                    <a:latin typeface="Arial" panose="020B0604020202020204" pitchFamily="34" charset="0"/>
                    <a:cs typeface="Arial" panose="020B0604020202020204" pitchFamily="34" charset="0"/>
                  </a:rPr>
                  <a:t>=</a:t>
                </a: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a:latin typeface="Cambria Math" panose="02040503050406030204" pitchFamily="18" charset="0"/>
                              <a:cs typeface="Cambria Math" panose="02040503050406030204" pitchFamily="18" charset="0"/>
                              <a:sym typeface="+mn-ea"/>
                            </a:rPr>
                            <m:t>𝑚𝑎𝑥</m:t>
                          </m:r>
                        </m:sub>
                      </m:sSub>
                    </m:oMath>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0</m:t>
                          </m:r>
                        </m:sub>
                      </m:sSub>
                    </m:oMath>
                  </m:oMathPara>
                </a14:m>
                <a:r>
                  <a:rPr lang="en-US" altLang="zh-CN">
                    <a:sym typeface="+mn-ea"/>
                  </a:rPr>
                  <a:t>) − </a:t>
                </a: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a:latin typeface="Cambria Math" panose="02040503050406030204" pitchFamily="18" charset="0"/>
                              <a:cs typeface="Cambria Math" panose="02040503050406030204" pitchFamily="18" charset="0"/>
                              <a:sym typeface="+mn-ea"/>
                            </a:rPr>
                            <m:t>𝑚𝑎𝑥</m:t>
                          </m:r>
                        </m:sub>
                      </m:sSub>
                    </m:oMath>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oMath>
                  </m:oMathPara>
                </a14:m>
                <a:r>
                  <a:rPr lang="en-US" altLang="zh-CN">
                    <a:sym typeface="+mn-ea"/>
                  </a:rPr>
                  <a:t>) </a:t>
                </a:r>
                <a:endParaRPr lang="en-US" altLang="zh-CN">
                  <a:latin typeface="Arial" panose="020B0604020202020204" pitchFamily="34" charset="0"/>
                  <a:cs typeface="Arial" panose="020B0604020202020204" pitchFamily="34" charset="0"/>
                </a:endParaRPr>
              </a:p>
            </p:txBody>
          </p:sp>
        </mc:Choice>
        <mc:Fallback>
          <p:sp>
            <p:nvSpPr>
              <p:cNvPr id="21" name="文本框 20"/>
              <p:cNvSpPr txBox="1">
                <a:spLocks noRot="1" noChangeAspect="1" noMove="1" noResize="1" noEditPoints="1" noAdjustHandles="1" noChangeArrowheads="1" noChangeShapeType="1" noTextEdit="1"/>
              </p:cNvSpPr>
              <p:nvPr/>
            </p:nvSpPr>
            <p:spPr>
              <a:xfrm>
                <a:off x="793115" y="5181600"/>
                <a:ext cx="728980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508000" y="6136640"/>
                <a:ext cx="4925695" cy="368300"/>
              </a:xfrm>
              <a:prstGeom prst="rect">
                <a:avLst/>
              </a:prstGeom>
              <a:noFill/>
            </p:spPr>
            <p:txBody>
              <a:bodyPr wrap="square" rtlCol="0">
                <a:spAutoFit/>
              </a:bodyPr>
              <a:p>
                <a:r>
                  <a:rPr lang="zh-CN" altLang="en-US" b="1"/>
                  <a:t>策略</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a:sym typeface="+mn-ea"/>
                          </a:rPr>
                          <m:t>：</m:t>
                        </m:r>
                        <m:r>
                          <a:rPr lang="en-US" altLang="zh-CN">
                            <a:sym typeface="+mn-ea"/>
                          </a:rPr>
                          <m:t>π</m:t>
                        </m:r>
                      </m:e>
                      <m:sub>
                        <m:r>
                          <a:rPr lang="en-US" altLang="zh-CN">
                            <a:sym typeface="+mn-ea"/>
                          </a:rPr>
                          <m:t>θ</m:t>
                        </m:r>
                      </m:sub>
                    </m:sSub>
                  </m:oMath>
                </a14:m>
                <a:r>
                  <a:rPr lang="en-US" altLang="zh-CN"/>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a</m:t>
                        </m:r>
                      </m:e>
                      <m:sub>
                        <m:r>
                          <a:rPr lang="en-US" altLang="zh-CN" i="1">
                            <a:latin typeface="Cambria Math" panose="02040503050406030204" pitchFamily="18" charset="0"/>
                            <a:cs typeface="Cambria Math" panose="02040503050406030204" pitchFamily="18" charset="0"/>
                          </a:rPr>
                          <m:t>𝑡</m:t>
                        </m:r>
                      </m:sub>
                    </m:sSub>
                  </m:oMath>
                </a14:m>
                <a:r>
                  <a:rPr lang="en-US" altLang="zh-CN"/>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sub>
                    </m:sSub>
                  </m:oMath>
                </a14:m>
                <a:r>
                  <a:rPr lang="en-US" altLang="zh-CN"/>
                  <a:t>)</a:t>
                </a:r>
                <a:endParaRPr lang="en-US" altLang="zh-CN"/>
              </a:p>
            </p:txBody>
          </p:sp>
        </mc:Choice>
        <mc:Fallback>
          <p:sp>
            <p:nvSpPr>
              <p:cNvPr id="22" name="文本框 21"/>
              <p:cNvSpPr txBox="1">
                <a:spLocks noRot="1" noChangeAspect="1" noMove="1" noResize="1" noEditPoints="1" noAdjustHandles="1" noChangeArrowheads="1" noChangeShapeType="1" noTextEdit="1"/>
              </p:cNvSpPr>
              <p:nvPr/>
            </p:nvSpPr>
            <p:spPr>
              <a:xfrm>
                <a:off x="508000" y="6136640"/>
                <a:ext cx="4925695" cy="36830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37915"/>
    </mc:Choice>
    <mc:Fallback>
      <p:transition spd="slow" advTm="3791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custDataLst>
              <p:tags r:id="rId1"/>
            </p:custDataLst>
          </p:nvPr>
        </p:nvGrpSpPr>
        <p:grpSpPr>
          <a:xfrm>
            <a:off x="4572000" y="1903730"/>
            <a:ext cx="3910965" cy="2896263"/>
            <a:chOff x="4572000" y="2331450"/>
            <a:chExt cx="3285600" cy="2914371"/>
          </a:xfrm>
        </p:grpSpPr>
        <p:sp>
          <p:nvSpPr>
            <p:cNvPr id="4" name="矩形 3"/>
            <p:cNvSpPr/>
            <p:nvPr>
              <p:custDataLst>
                <p:tags r:id="rId2"/>
              </p:custDataLst>
            </p:nvPr>
          </p:nvSpPr>
          <p:spPr>
            <a:xfrm>
              <a:off x="4572000" y="2345681"/>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9"/>
            <p:cNvSpPr txBox="1"/>
            <p:nvPr>
              <p:custDataLst>
                <p:tags r:id="rId3"/>
              </p:custDataLst>
            </p:nvPr>
          </p:nvSpPr>
          <p:spPr>
            <a:xfrm>
              <a:off x="5192495" y="2331450"/>
              <a:ext cx="2452266"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研究背景</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12" name="矩形 11"/>
            <p:cNvSpPr/>
            <p:nvPr>
              <p:custDataLst>
                <p:tags r:id="rId4"/>
              </p:custDataLst>
            </p:nvPr>
          </p:nvSpPr>
          <p:spPr>
            <a:xfrm>
              <a:off x="4572000" y="293227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9"/>
            <p:cNvSpPr txBox="1"/>
            <p:nvPr>
              <p:custDataLst>
                <p:tags r:id="rId5"/>
              </p:custDataLst>
            </p:nvPr>
          </p:nvSpPr>
          <p:spPr>
            <a:xfrm>
              <a:off x="5192495" y="2932277"/>
              <a:ext cx="2657725"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sym typeface="+mn-ea"/>
                </a:rPr>
                <a:t>元强化学习</a:t>
              </a:r>
              <a:r>
                <a:rPr lang="zh-CN" altLang="en-US" sz="2400" dirty="0">
                  <a:solidFill>
                    <a:srgbClr val="00458E"/>
                  </a:solidFill>
                  <a:latin typeface="微软雅黑" panose="020B0503020204020204" pitchFamily="34" charset="-122"/>
                  <a:ea typeface="微软雅黑" panose="020B0503020204020204" pitchFamily="34" charset="-122"/>
                  <a:sym typeface="+mn-ea"/>
                </a:rPr>
                <a:t>框架</a:t>
              </a:r>
              <a:endParaRPr lang="zh-CN" altLang="en-US" sz="2400" dirty="0">
                <a:solidFill>
                  <a:srgbClr val="00458E"/>
                </a:solidFill>
                <a:latin typeface="微软雅黑" panose="020B0503020204020204" pitchFamily="34" charset="-122"/>
                <a:ea typeface="微软雅黑" panose="020B0503020204020204" pitchFamily="34" charset="-122"/>
                <a:sym typeface="+mn-ea"/>
              </a:endParaRPr>
            </a:p>
          </p:txBody>
        </p:sp>
        <p:sp>
          <p:nvSpPr>
            <p:cNvPr id="20" name="文本框 19"/>
            <p:cNvSpPr txBox="1"/>
            <p:nvPr>
              <p:custDataLst>
                <p:tags r:id="rId6"/>
              </p:custDataLst>
            </p:nvPr>
          </p:nvSpPr>
          <p:spPr>
            <a:xfrm>
              <a:off x="4579381" y="2420171"/>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01</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custDataLst>
                <p:tags r:id="rId7"/>
              </p:custDataLst>
            </p:nvPr>
          </p:nvSpPr>
          <p:spPr>
            <a:xfrm>
              <a:off x="4579381" y="3006768"/>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02</a:t>
              </a:r>
              <a:endPar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custDataLst>
                <p:tags r:id="rId8"/>
              </p:custDataLst>
            </p:nvPr>
          </p:nvSpPr>
          <p:spPr>
            <a:xfrm>
              <a:off x="4579381" y="358384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9"/>
            <p:cNvSpPr txBox="1"/>
            <p:nvPr>
              <p:custDataLst>
                <p:tags r:id="rId9"/>
              </p:custDataLst>
            </p:nvPr>
          </p:nvSpPr>
          <p:spPr>
            <a:xfrm>
              <a:off x="5199875" y="3569616"/>
              <a:ext cx="2657725" cy="409580"/>
            </a:xfrm>
            <a:prstGeom prst="rect">
              <a:avLst/>
            </a:prstGeom>
            <a:noFill/>
          </p:spPr>
          <p:txBody>
            <a:bodyPr wrap="square" lIns="38567" tIns="19283" rIns="38567" bIns="19283" rtlCol="0">
              <a:spAutoFit/>
            </a:bodyPr>
            <a:lstStyle/>
            <a:p>
              <a:pPr marL="0" lvl="1"/>
              <a:r>
                <a:rPr lang="zh-CN" altLang="en-US" sz="2400" b="1" dirty="0">
                  <a:solidFill>
                    <a:schemeClr val="tx1"/>
                  </a:solidFill>
                  <a:latin typeface="微软雅黑" panose="020B0503020204020204" pitchFamily="34" charset="-122"/>
                  <a:ea typeface="微软雅黑" panose="020B0503020204020204" pitchFamily="34" charset="-122"/>
                </a:rPr>
                <a:t>多类型车间单目标调度</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10"/>
              </p:custDataLst>
            </p:nvPr>
          </p:nvSpPr>
          <p:spPr>
            <a:xfrm>
              <a:off x="4586762" y="3658337"/>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11"/>
              </p:custDataLst>
            </p:nvPr>
          </p:nvSpPr>
          <p:spPr>
            <a:xfrm>
              <a:off x="4586762" y="4213133"/>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9"/>
            <p:cNvSpPr txBox="1"/>
            <p:nvPr>
              <p:custDataLst>
                <p:tags r:id="rId12"/>
              </p:custDataLst>
            </p:nvPr>
          </p:nvSpPr>
          <p:spPr>
            <a:xfrm>
              <a:off x="5207256" y="4198902"/>
              <a:ext cx="2642963"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基于分解的多目标</a:t>
              </a:r>
              <a:r>
                <a:rPr lang="zh-CN" altLang="en-US" sz="2400" dirty="0">
                  <a:solidFill>
                    <a:srgbClr val="00458E"/>
                  </a:solidFill>
                  <a:latin typeface="微软雅黑" panose="020B0503020204020204" pitchFamily="34" charset="-122"/>
                  <a:ea typeface="微软雅黑" panose="020B0503020204020204" pitchFamily="34" charset="-122"/>
                </a:rPr>
                <a:t>调度</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13"/>
              </p:custDataLst>
            </p:nvPr>
          </p:nvSpPr>
          <p:spPr>
            <a:xfrm>
              <a:off x="4594143" y="4287623"/>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04</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custDataLst>
                <p:tags r:id="rId14"/>
              </p:custDataLst>
            </p:nvPr>
          </p:nvSpPr>
          <p:spPr>
            <a:xfrm>
              <a:off x="4594143" y="4850472"/>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9"/>
            <p:cNvSpPr txBox="1"/>
            <p:nvPr>
              <p:custDataLst>
                <p:tags r:id="rId15"/>
              </p:custDataLst>
            </p:nvPr>
          </p:nvSpPr>
          <p:spPr>
            <a:xfrm>
              <a:off x="5214638" y="4836241"/>
              <a:ext cx="2452266"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总结与展望</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16"/>
              </p:custDataLst>
            </p:nvPr>
          </p:nvSpPr>
          <p:spPr>
            <a:xfrm>
              <a:off x="4601524" y="4924962"/>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05</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59"/>
    </mc:Choice>
    <mc:Fallback>
      <p:transition spd="slow" advTm="35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基于元强化学习的调度模型（</a:t>
            </a:r>
            <a:r>
              <a:rPr lang="en-US" altLang="zh-CN" dirty="0"/>
              <a:t>MRL</a:t>
            </a:r>
            <a:r>
              <a:rPr lang="zh-CN" altLang="en-US" dirty="0"/>
              <a:t>）</a:t>
            </a:r>
            <a:endParaRPr lang="zh-CN" altLang="en-US" dirty="0"/>
          </a:p>
        </p:txBody>
      </p:sp>
      <p:sp>
        <p:nvSpPr>
          <p:cNvPr id="8" name="文本框 7"/>
          <p:cNvSpPr txBox="1"/>
          <p:nvPr/>
        </p:nvSpPr>
        <p:spPr>
          <a:xfrm>
            <a:off x="141051" y="64105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特征</a:t>
            </a:r>
            <a:r>
              <a:rPr lang="zh-CN" altLang="en-US" b="1" dirty="0">
                <a:latin typeface="微软雅黑" panose="020B0503020204020204" pitchFamily="34" charset="-122"/>
                <a:ea typeface="微软雅黑" panose="020B0503020204020204" pitchFamily="34" charset="-122"/>
                <a:sym typeface="+mn-ea"/>
              </a:rPr>
              <a:t>提取</a:t>
            </a:r>
            <a:endParaRPr lang="zh-CN" altLang="en-US" b="1" dirty="0">
              <a:latin typeface="微软雅黑" panose="020B0503020204020204" pitchFamily="34" charset="-122"/>
              <a:ea typeface="微软雅黑" panose="020B0503020204020204" pitchFamily="34" charset="-122"/>
              <a:sym typeface="+mn-ea"/>
            </a:endParaRPr>
          </a:p>
        </p:txBody>
      </p:sp>
      <p:sp>
        <p:nvSpPr>
          <p:cNvPr id="5" name="灯片编号占位符 4"/>
          <p:cNvSpPr>
            <a:spLocks noGrp="1"/>
          </p:cNvSpPr>
          <p:nvPr>
            <p:ph type="sldNum" sz="quarter" idx="12"/>
          </p:nvPr>
        </p:nvSpPr>
        <p:spPr/>
        <p:txBody>
          <a:bodyPr/>
          <a:lstStyle/>
          <a:p>
            <a:r>
              <a:rPr lang="en-US" altLang="zh-CN"/>
              <a:t>6</a:t>
            </a:r>
            <a:endParaRPr lang="en-US" altLang="zh-CN"/>
          </a:p>
        </p:txBody>
      </p:sp>
      <p:sp>
        <p:nvSpPr>
          <p:cNvPr id="7" name="文本框 6"/>
          <p:cNvSpPr txBox="1"/>
          <p:nvPr/>
        </p:nvSpPr>
        <p:spPr>
          <a:xfrm>
            <a:off x="292735" y="1203325"/>
            <a:ext cx="4615815" cy="645160"/>
          </a:xfrm>
          <a:prstGeom prst="rect">
            <a:avLst/>
          </a:prstGeom>
          <a:noFill/>
        </p:spPr>
        <p:txBody>
          <a:bodyPr wrap="square" rtlCol="0">
            <a:spAutoFit/>
          </a:bodyPr>
          <a:p>
            <a:r>
              <a:rPr lang="zh-CN" altLang="en-US"/>
              <a:t>（</a:t>
            </a:r>
            <a:r>
              <a:rPr lang="en-US" altLang="zh-CN"/>
              <a:t>1</a:t>
            </a:r>
            <a:r>
              <a:rPr lang="zh-CN" altLang="en-US"/>
              <a:t>）机器节点特征（邻居节点</a:t>
            </a:r>
            <a:r>
              <a:rPr lang="zh-CN" altLang="en-US"/>
              <a:t>类型单一）</a:t>
            </a:r>
            <a:br>
              <a:rPr lang="zh-CN" altLang="en-US"/>
            </a:br>
            <a:endParaRPr lang="zh-CN" altLang="en-US"/>
          </a:p>
        </p:txBody>
      </p:sp>
      <p:pic>
        <p:nvPicPr>
          <p:cNvPr id="9" name="图片 8"/>
          <p:cNvPicPr>
            <a:picLocks noChangeAspect="1"/>
          </p:cNvPicPr>
          <p:nvPr/>
        </p:nvPicPr>
        <p:blipFill>
          <a:blip r:embed="rId1"/>
          <a:stretch>
            <a:fillRect/>
          </a:stretch>
        </p:blipFill>
        <p:spPr>
          <a:xfrm>
            <a:off x="660400" y="1687195"/>
            <a:ext cx="1758950" cy="359410"/>
          </a:xfrm>
          <a:prstGeom prst="rect">
            <a:avLst/>
          </a:prstGeom>
        </p:spPr>
      </p:pic>
      <p:pic>
        <p:nvPicPr>
          <p:cNvPr id="12" name="图片 11"/>
          <p:cNvPicPr>
            <a:picLocks noChangeAspect="1"/>
          </p:cNvPicPr>
          <p:nvPr/>
        </p:nvPicPr>
        <p:blipFill>
          <a:blip r:embed="rId2"/>
          <a:stretch>
            <a:fillRect/>
          </a:stretch>
        </p:blipFill>
        <p:spPr>
          <a:xfrm>
            <a:off x="400050" y="1995805"/>
            <a:ext cx="4782185" cy="481330"/>
          </a:xfrm>
          <a:prstGeom prst="rect">
            <a:avLst/>
          </a:prstGeom>
        </p:spPr>
      </p:pic>
      <p:pic>
        <p:nvPicPr>
          <p:cNvPr id="13" name="图片 12"/>
          <p:cNvPicPr>
            <a:picLocks noChangeAspect="1"/>
          </p:cNvPicPr>
          <p:nvPr/>
        </p:nvPicPr>
        <p:blipFill>
          <a:blip r:embed="rId3"/>
          <a:stretch>
            <a:fillRect/>
          </a:stretch>
        </p:blipFill>
        <p:spPr>
          <a:xfrm>
            <a:off x="231775" y="2422525"/>
            <a:ext cx="5220335" cy="646430"/>
          </a:xfrm>
          <a:prstGeom prst="rect">
            <a:avLst/>
          </a:prstGeom>
        </p:spPr>
      </p:pic>
      <p:pic>
        <p:nvPicPr>
          <p:cNvPr id="14" name="图片 13"/>
          <p:cNvPicPr>
            <a:picLocks noChangeAspect="1"/>
          </p:cNvPicPr>
          <p:nvPr/>
        </p:nvPicPr>
        <p:blipFill>
          <a:blip r:embed="rId4"/>
          <a:stretch>
            <a:fillRect/>
          </a:stretch>
        </p:blipFill>
        <p:spPr>
          <a:xfrm>
            <a:off x="400050" y="2913380"/>
            <a:ext cx="4202430" cy="916940"/>
          </a:xfrm>
          <a:prstGeom prst="rect">
            <a:avLst/>
          </a:prstGeom>
        </p:spPr>
      </p:pic>
      <p:pic>
        <p:nvPicPr>
          <p:cNvPr id="17" name="图片 16"/>
          <p:cNvPicPr>
            <a:picLocks noChangeAspect="1"/>
          </p:cNvPicPr>
          <p:nvPr/>
        </p:nvPicPr>
        <p:blipFill>
          <a:blip r:embed="rId5"/>
          <a:stretch>
            <a:fillRect/>
          </a:stretch>
        </p:blipFill>
        <p:spPr>
          <a:xfrm>
            <a:off x="400050" y="4363720"/>
            <a:ext cx="7485380" cy="541655"/>
          </a:xfrm>
          <a:prstGeom prst="rect">
            <a:avLst/>
          </a:prstGeom>
        </p:spPr>
      </p:pic>
      <p:sp>
        <p:nvSpPr>
          <p:cNvPr id="18" name="文本框 17"/>
          <p:cNvSpPr txBox="1"/>
          <p:nvPr/>
        </p:nvSpPr>
        <p:spPr>
          <a:xfrm>
            <a:off x="343535" y="3830320"/>
            <a:ext cx="5060315" cy="368300"/>
          </a:xfrm>
          <a:prstGeom prst="rect">
            <a:avLst/>
          </a:prstGeom>
          <a:noFill/>
        </p:spPr>
        <p:txBody>
          <a:bodyPr wrap="square" rtlCol="0">
            <a:spAutoFit/>
          </a:bodyPr>
          <a:p>
            <a:r>
              <a:rPr lang="zh-CN" altLang="en-US"/>
              <a:t>（</a:t>
            </a:r>
            <a:r>
              <a:rPr lang="en-US" altLang="zh-CN"/>
              <a:t>2</a:t>
            </a:r>
            <a:r>
              <a:rPr lang="zh-CN" altLang="en-US"/>
              <a:t>）工序节点特征（邻居节点类型</a:t>
            </a:r>
            <a:r>
              <a:rPr lang="zh-CN" altLang="en-US"/>
              <a:t>复杂）</a:t>
            </a:r>
            <a:endParaRPr lang="zh-CN" altLang="en-US"/>
          </a:p>
        </p:txBody>
      </p:sp>
      <p:grpSp>
        <p:nvGrpSpPr>
          <p:cNvPr id="59" name="组合 58"/>
          <p:cNvGrpSpPr/>
          <p:nvPr/>
        </p:nvGrpSpPr>
        <p:grpSpPr>
          <a:xfrm>
            <a:off x="1059180" y="5047615"/>
            <a:ext cx="1360170" cy="1315720"/>
            <a:chOff x="1847" y="8421"/>
            <a:chExt cx="2382" cy="2322"/>
          </a:xfrm>
        </p:grpSpPr>
        <p:sp>
          <p:nvSpPr>
            <p:cNvPr id="38" name="椭圆 37"/>
            <p:cNvSpPr/>
            <p:nvPr/>
          </p:nvSpPr>
          <p:spPr>
            <a:xfrm>
              <a:off x="1847" y="884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0" name="椭圆 39"/>
            <p:cNvSpPr/>
            <p:nvPr/>
          </p:nvSpPr>
          <p:spPr>
            <a:xfrm>
              <a:off x="2711" y="8421"/>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1" name="椭圆 40"/>
            <p:cNvSpPr/>
            <p:nvPr/>
          </p:nvSpPr>
          <p:spPr>
            <a:xfrm>
              <a:off x="1847" y="964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2" name="椭圆 41"/>
            <p:cNvSpPr/>
            <p:nvPr/>
          </p:nvSpPr>
          <p:spPr>
            <a:xfrm>
              <a:off x="3657" y="884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3" name="椭圆 42"/>
            <p:cNvSpPr/>
            <p:nvPr/>
          </p:nvSpPr>
          <p:spPr>
            <a:xfrm>
              <a:off x="2711" y="928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4" name="椭圆 43"/>
            <p:cNvSpPr/>
            <p:nvPr/>
          </p:nvSpPr>
          <p:spPr>
            <a:xfrm>
              <a:off x="2711" y="10189"/>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46" name="椭圆 45"/>
            <p:cNvSpPr/>
            <p:nvPr/>
          </p:nvSpPr>
          <p:spPr>
            <a:xfrm>
              <a:off x="3657" y="9646"/>
              <a:ext cx="573" cy="555"/>
            </a:xfrm>
            <a:prstGeom prst="ellipse">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cxnSp>
          <p:nvCxnSpPr>
            <p:cNvPr id="47" name="直接连接符 46"/>
            <p:cNvCxnSpPr>
              <a:stCxn id="38" idx="6"/>
              <a:endCxn id="40" idx="2"/>
            </p:cNvCxnSpPr>
            <p:nvPr/>
          </p:nvCxnSpPr>
          <p:spPr>
            <a:xfrm flipV="1">
              <a:off x="2420" y="8699"/>
              <a:ext cx="291" cy="425"/>
            </a:xfrm>
            <a:prstGeom prst="line">
              <a:avLst/>
            </a:prstGeom>
          </p:spPr>
          <p:style>
            <a:lnRef idx="2">
              <a:schemeClr val="accent1"/>
            </a:lnRef>
            <a:fillRef idx="0">
              <a:srgbClr val="FFFFFF"/>
            </a:fillRef>
            <a:effectRef idx="0">
              <a:srgbClr val="FFFFFF"/>
            </a:effectRef>
            <a:fontRef idx="minor">
              <a:schemeClr val="tx1"/>
            </a:fontRef>
          </p:style>
        </p:cxnSp>
        <p:cxnSp>
          <p:nvCxnSpPr>
            <p:cNvPr id="48" name="直接连接符 47"/>
            <p:cNvCxnSpPr>
              <a:stCxn id="41" idx="6"/>
              <a:endCxn id="43" idx="2"/>
            </p:cNvCxnSpPr>
            <p:nvPr/>
          </p:nvCxnSpPr>
          <p:spPr>
            <a:xfrm flipV="1">
              <a:off x="2420" y="9564"/>
              <a:ext cx="291" cy="360"/>
            </a:xfrm>
            <a:prstGeom prst="line">
              <a:avLst/>
            </a:prstGeom>
          </p:spPr>
          <p:style>
            <a:lnRef idx="2">
              <a:schemeClr val="accent1"/>
            </a:lnRef>
            <a:fillRef idx="0">
              <a:srgbClr val="FFFFFF"/>
            </a:fillRef>
            <a:effectRef idx="0">
              <a:srgbClr val="FFFFFF"/>
            </a:effectRef>
            <a:fontRef idx="minor">
              <a:schemeClr val="tx1"/>
            </a:fontRef>
          </p:style>
        </p:cxnSp>
        <p:cxnSp>
          <p:nvCxnSpPr>
            <p:cNvPr id="49" name="直接连接符 48"/>
            <p:cNvCxnSpPr>
              <a:endCxn id="44" idx="1"/>
            </p:cNvCxnSpPr>
            <p:nvPr/>
          </p:nvCxnSpPr>
          <p:spPr>
            <a:xfrm>
              <a:off x="2429" y="9933"/>
              <a:ext cx="366" cy="337"/>
            </a:xfrm>
            <a:prstGeom prst="line">
              <a:avLst/>
            </a:prstGeom>
          </p:spPr>
          <p:style>
            <a:lnRef idx="2">
              <a:schemeClr val="accent1"/>
            </a:lnRef>
            <a:fillRef idx="0">
              <a:srgbClr val="FFFFFF"/>
            </a:fillRef>
            <a:effectRef idx="0">
              <a:srgbClr val="FFFFFF"/>
            </a:effectRef>
            <a:fontRef idx="minor">
              <a:schemeClr val="tx1"/>
            </a:fontRef>
          </p:style>
        </p:cxnSp>
        <p:cxnSp>
          <p:nvCxnSpPr>
            <p:cNvPr id="50" name="直接连接符 49"/>
            <p:cNvCxnSpPr>
              <a:endCxn id="40" idx="2"/>
            </p:cNvCxnSpPr>
            <p:nvPr/>
          </p:nvCxnSpPr>
          <p:spPr>
            <a:xfrm flipV="1">
              <a:off x="2439" y="8699"/>
              <a:ext cx="272" cy="1224"/>
            </a:xfrm>
            <a:prstGeom prst="line">
              <a:avLst/>
            </a:prstGeom>
          </p:spPr>
          <p:style>
            <a:lnRef idx="2">
              <a:schemeClr val="accent1"/>
            </a:lnRef>
            <a:fillRef idx="0">
              <a:srgbClr val="FFFFFF"/>
            </a:fillRef>
            <a:effectRef idx="0">
              <a:srgbClr val="FFFFFF"/>
            </a:effectRef>
            <a:fontRef idx="minor">
              <a:schemeClr val="tx1"/>
            </a:fontRef>
          </p:style>
        </p:cxnSp>
        <p:cxnSp>
          <p:nvCxnSpPr>
            <p:cNvPr id="51" name="直接连接符 50"/>
            <p:cNvCxnSpPr>
              <a:stCxn id="38" idx="6"/>
              <a:endCxn id="43" idx="2"/>
            </p:cNvCxnSpPr>
            <p:nvPr/>
          </p:nvCxnSpPr>
          <p:spPr>
            <a:xfrm>
              <a:off x="2420" y="9124"/>
              <a:ext cx="291" cy="440"/>
            </a:xfrm>
            <a:prstGeom prst="line">
              <a:avLst/>
            </a:prstGeom>
          </p:spPr>
          <p:style>
            <a:lnRef idx="2">
              <a:schemeClr val="accent1"/>
            </a:lnRef>
            <a:fillRef idx="0">
              <a:srgbClr val="FFFFFF"/>
            </a:fillRef>
            <a:effectRef idx="0">
              <a:srgbClr val="FFFFFF"/>
            </a:effectRef>
            <a:fontRef idx="minor">
              <a:schemeClr val="tx1"/>
            </a:fontRef>
          </p:style>
        </p:cxnSp>
        <p:cxnSp>
          <p:nvCxnSpPr>
            <p:cNvPr id="52" name="直接连接符 51"/>
            <p:cNvCxnSpPr>
              <a:endCxn id="44" idx="1"/>
            </p:cNvCxnSpPr>
            <p:nvPr/>
          </p:nvCxnSpPr>
          <p:spPr>
            <a:xfrm>
              <a:off x="2419" y="9083"/>
              <a:ext cx="376" cy="1187"/>
            </a:xfrm>
            <a:prstGeom prst="line">
              <a:avLst/>
            </a:prstGeom>
          </p:spPr>
          <p:style>
            <a:lnRef idx="2">
              <a:schemeClr val="accent1"/>
            </a:lnRef>
            <a:fillRef idx="0">
              <a:srgbClr val="FFFFFF"/>
            </a:fillRef>
            <a:effectRef idx="0">
              <a:srgbClr val="FFFFFF"/>
            </a:effectRef>
            <a:fontRef idx="minor">
              <a:schemeClr val="tx1"/>
            </a:fontRef>
          </p:style>
        </p:cxnSp>
        <p:cxnSp>
          <p:nvCxnSpPr>
            <p:cNvPr id="53" name="直接连接符 52"/>
            <p:cNvCxnSpPr>
              <a:stCxn id="40" idx="6"/>
              <a:endCxn id="42" idx="2"/>
            </p:cNvCxnSpPr>
            <p:nvPr/>
          </p:nvCxnSpPr>
          <p:spPr>
            <a:xfrm>
              <a:off x="3284" y="8699"/>
              <a:ext cx="373" cy="425"/>
            </a:xfrm>
            <a:prstGeom prst="line">
              <a:avLst/>
            </a:prstGeom>
          </p:spPr>
          <p:style>
            <a:lnRef idx="2">
              <a:schemeClr val="accent1"/>
            </a:lnRef>
            <a:fillRef idx="0">
              <a:srgbClr val="FFFFFF"/>
            </a:fillRef>
            <a:effectRef idx="0">
              <a:srgbClr val="FFFFFF"/>
            </a:effectRef>
            <a:fontRef idx="minor">
              <a:schemeClr val="tx1"/>
            </a:fontRef>
          </p:style>
        </p:cxnSp>
        <p:cxnSp>
          <p:nvCxnSpPr>
            <p:cNvPr id="54" name="直接连接符 53"/>
            <p:cNvCxnSpPr>
              <a:stCxn id="43" idx="6"/>
              <a:endCxn id="42" idx="2"/>
            </p:cNvCxnSpPr>
            <p:nvPr/>
          </p:nvCxnSpPr>
          <p:spPr>
            <a:xfrm flipV="1">
              <a:off x="3284" y="9124"/>
              <a:ext cx="373" cy="440"/>
            </a:xfrm>
            <a:prstGeom prst="line">
              <a:avLst/>
            </a:prstGeom>
          </p:spPr>
          <p:style>
            <a:lnRef idx="2">
              <a:schemeClr val="accent1"/>
            </a:lnRef>
            <a:fillRef idx="0">
              <a:srgbClr val="FFFFFF"/>
            </a:fillRef>
            <a:effectRef idx="0">
              <a:srgbClr val="FFFFFF"/>
            </a:effectRef>
            <a:fontRef idx="minor">
              <a:schemeClr val="tx1"/>
            </a:fontRef>
          </p:style>
        </p:cxnSp>
        <p:cxnSp>
          <p:nvCxnSpPr>
            <p:cNvPr id="55" name="直接连接符 54"/>
            <p:cNvCxnSpPr>
              <a:stCxn id="43" idx="6"/>
              <a:endCxn id="46" idx="2"/>
            </p:cNvCxnSpPr>
            <p:nvPr/>
          </p:nvCxnSpPr>
          <p:spPr>
            <a:xfrm>
              <a:off x="3284" y="9564"/>
              <a:ext cx="373" cy="360"/>
            </a:xfrm>
            <a:prstGeom prst="line">
              <a:avLst/>
            </a:prstGeom>
          </p:spPr>
          <p:style>
            <a:lnRef idx="2">
              <a:schemeClr val="accent1"/>
            </a:lnRef>
            <a:fillRef idx="0">
              <a:srgbClr val="FFFFFF"/>
            </a:fillRef>
            <a:effectRef idx="0">
              <a:srgbClr val="FFFFFF"/>
            </a:effectRef>
            <a:fontRef idx="minor">
              <a:schemeClr val="tx1"/>
            </a:fontRef>
          </p:style>
        </p:cxnSp>
        <p:cxnSp>
          <p:nvCxnSpPr>
            <p:cNvPr id="56" name="直接连接符 55"/>
            <p:cNvCxnSpPr>
              <a:endCxn id="46" idx="2"/>
            </p:cNvCxnSpPr>
            <p:nvPr/>
          </p:nvCxnSpPr>
          <p:spPr>
            <a:xfrm>
              <a:off x="3299" y="8753"/>
              <a:ext cx="358" cy="1171"/>
            </a:xfrm>
            <a:prstGeom prst="line">
              <a:avLst/>
            </a:prstGeom>
          </p:spPr>
          <p:style>
            <a:lnRef idx="2">
              <a:schemeClr val="accent1"/>
            </a:lnRef>
            <a:fillRef idx="0">
              <a:srgbClr val="FFFFFF"/>
            </a:fillRef>
            <a:effectRef idx="0">
              <a:srgbClr val="FFFFFF"/>
            </a:effectRef>
            <a:fontRef idx="minor">
              <a:schemeClr val="tx1"/>
            </a:fontRef>
          </p:style>
        </p:cxnSp>
        <p:cxnSp>
          <p:nvCxnSpPr>
            <p:cNvPr id="57" name="直接连接符 56"/>
            <p:cNvCxnSpPr>
              <a:endCxn id="44" idx="7"/>
            </p:cNvCxnSpPr>
            <p:nvPr/>
          </p:nvCxnSpPr>
          <p:spPr>
            <a:xfrm flipH="1">
              <a:off x="3200" y="9903"/>
              <a:ext cx="489" cy="367"/>
            </a:xfrm>
            <a:prstGeom prst="line">
              <a:avLst/>
            </a:prstGeom>
          </p:spPr>
          <p:style>
            <a:lnRef idx="2">
              <a:schemeClr val="accent1"/>
            </a:lnRef>
            <a:fillRef idx="0">
              <a:srgbClr val="FFFFFF"/>
            </a:fillRef>
            <a:effectRef idx="0">
              <a:srgbClr val="FFFFFF"/>
            </a:effectRef>
            <a:fontRef idx="minor">
              <a:schemeClr val="tx1"/>
            </a:fontRef>
          </p:style>
        </p:cxnSp>
        <p:cxnSp>
          <p:nvCxnSpPr>
            <p:cNvPr id="58" name="直接连接符 57"/>
            <p:cNvCxnSpPr/>
            <p:nvPr/>
          </p:nvCxnSpPr>
          <p:spPr>
            <a:xfrm flipV="1">
              <a:off x="3209" y="9143"/>
              <a:ext cx="430" cy="1130"/>
            </a:xfrm>
            <a:prstGeom prst="line">
              <a:avLst/>
            </a:prstGeom>
          </p:spPr>
          <p:style>
            <a:lnRef idx="2">
              <a:schemeClr val="accent1"/>
            </a:lnRef>
            <a:fillRef idx="0">
              <a:srgbClr val="FFFFFF"/>
            </a:fillRef>
            <a:effectRef idx="0">
              <a:srgbClr val="FFFFFF"/>
            </a:effectRef>
            <a:fontRef idx="minor">
              <a:schemeClr val="tx1"/>
            </a:fontRef>
          </p:style>
        </p:cxnSp>
      </p:grpSp>
      <p:sp>
        <p:nvSpPr>
          <p:cNvPr id="20" name="文本框 19"/>
          <p:cNvSpPr txBox="1"/>
          <p:nvPr/>
        </p:nvSpPr>
        <p:spPr>
          <a:xfrm>
            <a:off x="1461135" y="6379845"/>
            <a:ext cx="3048000" cy="368300"/>
          </a:xfrm>
          <a:prstGeom prst="rect">
            <a:avLst/>
          </a:prstGeom>
          <a:noFill/>
        </p:spPr>
        <p:txBody>
          <a:bodyPr wrap="square" rtlCol="0">
            <a:spAutoFit/>
          </a:bodyPr>
          <a:p>
            <a:r>
              <a:rPr lang="en-US" altLang="zh-CN"/>
              <a:t>MLP</a:t>
            </a:r>
            <a:endParaRPr lang="en-US" altLang="zh-CN"/>
          </a:p>
        </p:txBody>
      </p:sp>
      <p:pic>
        <p:nvPicPr>
          <p:cNvPr id="21" name="图片 20" descr="Fig2-1-fsp-graph"/>
          <p:cNvPicPr>
            <a:picLocks noChangeAspect="1"/>
          </p:cNvPicPr>
          <p:nvPr/>
        </p:nvPicPr>
        <p:blipFill>
          <a:blip r:embed="rId6"/>
          <a:stretch>
            <a:fillRect/>
          </a:stretch>
        </p:blipFill>
        <p:spPr>
          <a:xfrm>
            <a:off x="6211570" y="1463040"/>
            <a:ext cx="2112645" cy="12706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892"/>
    </mc:Choice>
    <mc:Fallback>
      <p:transition spd="slow" advTm="5789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基于元强化学习的调度模型（</a:t>
            </a:r>
            <a:r>
              <a:rPr lang="en-US" altLang="zh-CN" dirty="0">
                <a:sym typeface="+mn-ea"/>
              </a:rPr>
              <a:t>MRL</a:t>
            </a:r>
            <a:r>
              <a:rPr lang="zh-CN" altLang="en-US" dirty="0">
                <a:sym typeface="+mn-ea"/>
              </a:rPr>
              <a:t>）</a:t>
            </a:r>
            <a:endParaRPr lang="zh-CN" altLang="en-US" dirty="0"/>
          </a:p>
        </p:txBody>
      </p:sp>
      <p:sp>
        <p:nvSpPr>
          <p:cNvPr id="8" name="文本框 7"/>
          <p:cNvSpPr txBox="1"/>
          <p:nvPr/>
        </p:nvSpPr>
        <p:spPr>
          <a:xfrm>
            <a:off x="141051" y="64105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en-US" altLang="zh-CN" b="1" dirty="0">
                <a:latin typeface="微软雅黑" panose="020B0503020204020204" pitchFamily="34" charset="-122"/>
                <a:ea typeface="微软雅黑" panose="020B0503020204020204" pitchFamily="34" charset="-122"/>
                <a:sym typeface="+mn-ea"/>
              </a:rPr>
              <a:t>MRL</a:t>
            </a:r>
            <a:r>
              <a:rPr lang="zh-CN" altLang="en-US" b="1" dirty="0">
                <a:latin typeface="微软雅黑" panose="020B0503020204020204" pitchFamily="34" charset="-122"/>
                <a:ea typeface="微软雅黑" panose="020B0503020204020204" pitchFamily="34" charset="-122"/>
                <a:sym typeface="+mn-ea"/>
              </a:rPr>
              <a:t>训练</a:t>
            </a:r>
            <a:r>
              <a:rPr lang="zh-CN" altLang="en-US" b="1" dirty="0">
                <a:latin typeface="微软雅黑" panose="020B0503020204020204" pitchFamily="34" charset="-122"/>
                <a:ea typeface="微软雅黑" panose="020B0503020204020204" pitchFamily="34" charset="-122"/>
                <a:sym typeface="+mn-ea"/>
              </a:rPr>
              <a:t>算法</a:t>
            </a:r>
            <a:endParaRPr lang="zh-CN" altLang="en-US" b="1" dirty="0">
              <a:latin typeface="微软雅黑" panose="020B0503020204020204" pitchFamily="34" charset="-122"/>
              <a:ea typeface="微软雅黑" panose="020B0503020204020204" pitchFamily="34" charset="-122"/>
              <a:sym typeface="+mn-ea"/>
            </a:endParaRPr>
          </a:p>
        </p:txBody>
      </p:sp>
      <p:sp>
        <p:nvSpPr>
          <p:cNvPr id="5" name="灯片编号占位符 4"/>
          <p:cNvSpPr>
            <a:spLocks noGrp="1"/>
          </p:cNvSpPr>
          <p:nvPr>
            <p:ph type="sldNum" sz="quarter" idx="12"/>
          </p:nvPr>
        </p:nvSpPr>
        <p:spPr/>
        <p:txBody>
          <a:bodyPr/>
          <a:lstStyle/>
          <a:p>
            <a:r>
              <a:rPr lang="en-US" altLang="zh-CN"/>
              <a:t>7</a:t>
            </a:r>
            <a:endParaRPr lang="en-US" altLang="zh-CN"/>
          </a:p>
        </p:txBody>
      </p:sp>
      <p:pic>
        <p:nvPicPr>
          <p:cNvPr id="3" name="图片 2" descr="训练算法部分"/>
          <p:cNvPicPr>
            <a:picLocks noChangeAspect="1"/>
          </p:cNvPicPr>
          <p:nvPr/>
        </p:nvPicPr>
        <p:blipFill>
          <a:blip r:embed="rId1"/>
          <a:stretch>
            <a:fillRect/>
          </a:stretch>
        </p:blipFill>
        <p:spPr>
          <a:xfrm>
            <a:off x="570230" y="1139825"/>
            <a:ext cx="7750810" cy="3139440"/>
          </a:xfrm>
          <a:prstGeom prst="rect">
            <a:avLst/>
          </a:prstGeom>
        </p:spPr>
      </p:pic>
      <p:pic>
        <p:nvPicPr>
          <p:cNvPr id="4" name="图片 3"/>
          <p:cNvPicPr>
            <a:picLocks noChangeAspect="1"/>
          </p:cNvPicPr>
          <p:nvPr/>
        </p:nvPicPr>
        <p:blipFill>
          <a:blip r:embed="rId2"/>
          <a:stretch>
            <a:fillRect/>
          </a:stretch>
        </p:blipFill>
        <p:spPr>
          <a:xfrm>
            <a:off x="1882775" y="4556125"/>
            <a:ext cx="5182235" cy="637540"/>
          </a:xfrm>
          <a:prstGeom prst="rect">
            <a:avLst/>
          </a:prstGeom>
        </p:spPr>
      </p:pic>
      <p:sp>
        <p:nvSpPr>
          <p:cNvPr id="10" name="文本框 9"/>
          <p:cNvSpPr txBox="1"/>
          <p:nvPr/>
        </p:nvSpPr>
        <p:spPr>
          <a:xfrm>
            <a:off x="1073785" y="4690745"/>
            <a:ext cx="3048000" cy="368300"/>
          </a:xfrm>
          <a:prstGeom prst="rect">
            <a:avLst/>
          </a:prstGeom>
          <a:noFill/>
        </p:spPr>
        <p:txBody>
          <a:bodyPr wrap="square" rtlCol="0">
            <a:spAutoFit/>
          </a:bodyPr>
          <a:p>
            <a:r>
              <a:rPr lang="en-US" altLang="zh-CN"/>
              <a:t>PPO</a:t>
            </a:r>
            <a:r>
              <a:rPr lang="zh-CN" altLang="en-US"/>
              <a:t>损失：</a:t>
            </a:r>
            <a:endParaRPr lang="zh-CN" altLang="en-US"/>
          </a:p>
        </p:txBody>
      </p:sp>
      <p:pic>
        <p:nvPicPr>
          <p:cNvPr id="15" name="图片 14"/>
          <p:cNvPicPr>
            <a:picLocks noChangeAspect="1"/>
          </p:cNvPicPr>
          <p:nvPr/>
        </p:nvPicPr>
        <p:blipFill>
          <a:blip r:embed="rId3"/>
          <a:stretch>
            <a:fillRect/>
          </a:stretch>
        </p:blipFill>
        <p:spPr>
          <a:xfrm>
            <a:off x="684530" y="5233035"/>
            <a:ext cx="5744845" cy="1301750"/>
          </a:xfrm>
          <a:prstGeom prst="rect">
            <a:avLst/>
          </a:prstGeom>
        </p:spPr>
      </p:pic>
      <p:sp>
        <p:nvSpPr>
          <p:cNvPr id="16" name="文本框 15"/>
          <p:cNvSpPr txBox="1"/>
          <p:nvPr/>
        </p:nvSpPr>
        <p:spPr>
          <a:xfrm>
            <a:off x="3842385" y="4241165"/>
            <a:ext cx="3048000" cy="275590"/>
          </a:xfrm>
          <a:prstGeom prst="rect">
            <a:avLst/>
          </a:prstGeom>
          <a:noFill/>
        </p:spPr>
        <p:txBody>
          <a:bodyPr wrap="square" rtlCol="0">
            <a:spAutoFit/>
          </a:bodyPr>
          <a:p>
            <a:r>
              <a:rPr lang="zh-CN" altLang="en-US" sz="1200" b="1"/>
              <a:t>训练部分</a:t>
            </a:r>
            <a:endParaRPr lang="zh-CN" altLang="en-US" sz="1200" b="1"/>
          </a:p>
        </p:txBody>
      </p:sp>
    </p:spTree>
  </p:cSld>
  <p:clrMapOvr>
    <a:masterClrMapping/>
  </p:clrMapOvr>
  <mc:AlternateContent xmlns:mc="http://schemas.openxmlformats.org/markup-compatibility/2006">
    <mc:Choice xmlns:p14="http://schemas.microsoft.com/office/powerpoint/2010/main" Requires="p14">
      <p:transition spd="slow" p14:dur="2000" advTm="57892"/>
    </mc:Choice>
    <mc:Fallback>
      <p:transition spd="slow" advTm="5789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基于元强化学习的调度模型（</a:t>
            </a:r>
            <a:r>
              <a:rPr lang="en-US" altLang="zh-CN" dirty="0">
                <a:sym typeface="+mn-ea"/>
              </a:rPr>
              <a:t>MRL</a:t>
            </a:r>
            <a:r>
              <a:rPr lang="zh-CN" altLang="en-US" dirty="0">
                <a:sym typeface="+mn-ea"/>
              </a:rPr>
              <a:t>）</a:t>
            </a:r>
            <a:endParaRPr lang="zh-CN" altLang="en-US" dirty="0"/>
          </a:p>
        </p:txBody>
      </p:sp>
      <p:sp>
        <p:nvSpPr>
          <p:cNvPr id="8" name="文本框 7"/>
          <p:cNvSpPr txBox="1"/>
          <p:nvPr/>
        </p:nvSpPr>
        <p:spPr>
          <a:xfrm>
            <a:off x="141051" y="64105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en-US" altLang="zh-CN" b="1" dirty="0">
                <a:latin typeface="微软雅黑" panose="020B0503020204020204" pitchFamily="34" charset="-122"/>
                <a:ea typeface="微软雅黑" panose="020B0503020204020204" pitchFamily="34" charset="-122"/>
                <a:sym typeface="+mn-ea"/>
              </a:rPr>
              <a:t>FiLM</a:t>
            </a:r>
            <a:r>
              <a:rPr lang="zh-CN" altLang="en-US" b="1" dirty="0">
                <a:latin typeface="微软雅黑" panose="020B0503020204020204" pitchFamily="34" charset="-122"/>
                <a:ea typeface="微软雅黑" panose="020B0503020204020204" pitchFamily="34" charset="-122"/>
                <a:sym typeface="+mn-ea"/>
              </a:rPr>
              <a:t>：抑制</a:t>
            </a:r>
            <a:r>
              <a:rPr lang="zh-CN" altLang="en-US" b="1" dirty="0">
                <a:latin typeface="微软雅黑" panose="020B0503020204020204" pitchFamily="34" charset="-122"/>
                <a:ea typeface="微软雅黑" panose="020B0503020204020204" pitchFamily="34" charset="-122"/>
                <a:sym typeface="+mn-ea"/>
              </a:rPr>
              <a:t>噪音</a:t>
            </a:r>
            <a:endParaRPr lang="zh-CN" altLang="en-US" b="1" dirty="0">
              <a:latin typeface="微软雅黑" panose="020B0503020204020204" pitchFamily="34" charset="-122"/>
              <a:ea typeface="微软雅黑" panose="020B0503020204020204" pitchFamily="34" charset="-122"/>
              <a:sym typeface="+mn-ea"/>
            </a:endParaRPr>
          </a:p>
        </p:txBody>
      </p:sp>
      <p:sp>
        <p:nvSpPr>
          <p:cNvPr id="5" name="灯片编号占位符 4"/>
          <p:cNvSpPr>
            <a:spLocks noGrp="1"/>
          </p:cNvSpPr>
          <p:nvPr>
            <p:ph type="sldNum" sz="quarter" idx="12"/>
          </p:nvPr>
        </p:nvSpPr>
        <p:spPr/>
        <p:txBody>
          <a:bodyPr/>
          <a:lstStyle/>
          <a:p>
            <a:r>
              <a:rPr lang="en-US" altLang="zh-CN"/>
              <a:t>8</a:t>
            </a:r>
            <a:endParaRPr lang="en-US" altLang="zh-CN"/>
          </a:p>
        </p:txBody>
      </p:sp>
      <p:pic>
        <p:nvPicPr>
          <p:cNvPr id="3" name="图片 2" descr="FiLM"/>
          <p:cNvPicPr>
            <a:picLocks noChangeAspect="1"/>
          </p:cNvPicPr>
          <p:nvPr/>
        </p:nvPicPr>
        <p:blipFill>
          <a:blip r:embed="rId1"/>
          <a:stretch>
            <a:fillRect/>
          </a:stretch>
        </p:blipFill>
        <p:spPr>
          <a:xfrm>
            <a:off x="1557020" y="1372870"/>
            <a:ext cx="4056380" cy="1249045"/>
          </a:xfrm>
          <a:prstGeom prst="rect">
            <a:avLst/>
          </a:prstGeom>
        </p:spPr>
      </p:pic>
      <p:pic>
        <p:nvPicPr>
          <p:cNvPr id="4" name="图片 3" descr="适应算法部分"/>
          <p:cNvPicPr>
            <a:picLocks noChangeAspect="1"/>
          </p:cNvPicPr>
          <p:nvPr/>
        </p:nvPicPr>
        <p:blipFill>
          <a:blip r:embed="rId2"/>
          <a:stretch>
            <a:fillRect/>
          </a:stretch>
        </p:blipFill>
        <p:spPr>
          <a:xfrm>
            <a:off x="1512570" y="3403600"/>
            <a:ext cx="3954780" cy="3157855"/>
          </a:xfrm>
          <a:prstGeom prst="rect">
            <a:avLst/>
          </a:prstGeom>
        </p:spPr>
      </p:pic>
      <p:sp>
        <p:nvSpPr>
          <p:cNvPr id="7" name="文本框 6"/>
          <p:cNvSpPr txBox="1"/>
          <p:nvPr/>
        </p:nvSpPr>
        <p:spPr>
          <a:xfrm>
            <a:off x="231856" y="279116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en-US" altLang="zh-CN" b="1" dirty="0">
                <a:latin typeface="微软雅黑" panose="020B0503020204020204" pitchFamily="34" charset="-122"/>
                <a:ea typeface="微软雅黑" panose="020B0503020204020204" pitchFamily="34" charset="-122"/>
                <a:sym typeface="+mn-ea"/>
              </a:rPr>
              <a:t>MRL</a:t>
            </a:r>
            <a:r>
              <a:rPr lang="zh-CN" altLang="en-US" b="1" dirty="0">
                <a:latin typeface="微软雅黑" panose="020B0503020204020204" pitchFamily="34" charset="-122"/>
                <a:ea typeface="微软雅黑" panose="020B0503020204020204" pitchFamily="34" charset="-122"/>
                <a:sym typeface="+mn-ea"/>
              </a:rPr>
              <a:t>适应</a:t>
            </a:r>
            <a:r>
              <a:rPr lang="zh-CN" altLang="en-US" b="1" dirty="0">
                <a:latin typeface="微软雅黑" panose="020B0503020204020204" pitchFamily="34" charset="-122"/>
                <a:ea typeface="微软雅黑" panose="020B0503020204020204" pitchFamily="34" charset="-122"/>
                <a:sym typeface="+mn-ea"/>
              </a:rPr>
              <a:t>算法</a:t>
            </a:r>
            <a:endParaRPr lang="zh-CN" altLang="en-US" b="1" dirty="0">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3"/>
          <a:stretch>
            <a:fillRect/>
          </a:stretch>
        </p:blipFill>
        <p:spPr>
          <a:xfrm>
            <a:off x="631825" y="1372870"/>
            <a:ext cx="2248535" cy="321310"/>
          </a:xfrm>
          <a:prstGeom prst="rect">
            <a:avLst/>
          </a:prstGeom>
        </p:spPr>
      </p:pic>
      <p:sp>
        <p:nvSpPr>
          <p:cNvPr id="12" name="任意多边形 11"/>
          <p:cNvSpPr/>
          <p:nvPr/>
        </p:nvSpPr>
        <p:spPr>
          <a:xfrm>
            <a:off x="1124585" y="1652905"/>
            <a:ext cx="444500" cy="577850"/>
          </a:xfrm>
          <a:custGeom>
            <a:avLst/>
            <a:gdLst>
              <a:gd name="connisteX0" fmla="*/ 444500 w 444500"/>
              <a:gd name="connsiteY0" fmla="*/ 577850 h 577850"/>
              <a:gd name="connisteX1" fmla="*/ 114300 w 444500"/>
              <a:gd name="connsiteY1" fmla="*/ 387350 h 577850"/>
              <a:gd name="connisteX2" fmla="*/ 0 w 444500"/>
              <a:gd name="connsiteY2" fmla="*/ 0 h 577850"/>
              <a:gd name="connisteX3" fmla="*/ 12700 w 444500"/>
              <a:gd name="connsiteY3" fmla="*/ 6350 h 577850"/>
            </a:gdLst>
            <a:ahLst/>
            <a:cxnLst>
              <a:cxn ang="0">
                <a:pos x="connisteX0" y="connsiteY0"/>
              </a:cxn>
              <a:cxn ang="0">
                <a:pos x="connisteX1" y="connsiteY1"/>
              </a:cxn>
              <a:cxn ang="0">
                <a:pos x="connisteX2" y="connsiteY2"/>
              </a:cxn>
              <a:cxn ang="0">
                <a:pos x="connisteX3" y="connsiteY3"/>
              </a:cxn>
            </a:cxnLst>
            <a:rect l="l" t="t" r="r" b="b"/>
            <a:pathLst>
              <a:path w="444500" h="577850">
                <a:moveTo>
                  <a:pt x="444500" y="577850"/>
                </a:moveTo>
                <a:cubicBezTo>
                  <a:pt x="381000" y="547370"/>
                  <a:pt x="203200" y="502920"/>
                  <a:pt x="114300" y="387350"/>
                </a:cubicBezTo>
                <a:cubicBezTo>
                  <a:pt x="25400" y="271780"/>
                  <a:pt x="20320" y="76200"/>
                  <a:pt x="0" y="0"/>
                </a:cubicBezTo>
              </a:path>
            </a:pathLst>
          </a:cu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任意多边形 13"/>
          <p:cNvSpPr/>
          <p:nvPr/>
        </p:nvSpPr>
        <p:spPr>
          <a:xfrm>
            <a:off x="441325" y="1323340"/>
            <a:ext cx="2654300" cy="383540"/>
          </a:xfrm>
          <a:custGeom>
            <a:avLst/>
            <a:gdLst>
              <a:gd name="connisteX0" fmla="*/ 683346 w 2654254"/>
              <a:gd name="connsiteY0" fmla="*/ 323332 h 383259"/>
              <a:gd name="connisteX1" fmla="*/ 168996 w 2654254"/>
              <a:gd name="connsiteY1" fmla="*/ 367782 h 383259"/>
              <a:gd name="connisteX2" fmla="*/ 207096 w 2654254"/>
              <a:gd name="connsiteY2" fmla="*/ 82032 h 383259"/>
              <a:gd name="connisteX3" fmla="*/ 2093046 w 2654254"/>
              <a:gd name="connsiteY3" fmla="*/ 18532 h 383259"/>
              <a:gd name="connisteX4" fmla="*/ 2537546 w 2654254"/>
              <a:gd name="connsiteY4" fmla="*/ 297932 h 383259"/>
              <a:gd name="connisteX5" fmla="*/ 683346 w 2654254"/>
              <a:gd name="connsiteY5" fmla="*/ 323332 h 38325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654254" h="383260">
                <a:moveTo>
                  <a:pt x="683347" y="323332"/>
                </a:moveTo>
                <a:cubicBezTo>
                  <a:pt x="209637" y="337302"/>
                  <a:pt x="264247" y="416042"/>
                  <a:pt x="168997" y="367782"/>
                </a:cubicBezTo>
                <a:cubicBezTo>
                  <a:pt x="73747" y="319522"/>
                  <a:pt x="-177713" y="151882"/>
                  <a:pt x="207097" y="82032"/>
                </a:cubicBezTo>
                <a:cubicBezTo>
                  <a:pt x="591907" y="12182"/>
                  <a:pt x="1626957" y="-24648"/>
                  <a:pt x="2093047" y="18532"/>
                </a:cubicBezTo>
                <a:cubicBezTo>
                  <a:pt x="2559137" y="61712"/>
                  <a:pt x="2819487" y="236972"/>
                  <a:pt x="2537547" y="297932"/>
                </a:cubicBezTo>
                <a:cubicBezTo>
                  <a:pt x="2255607" y="358892"/>
                  <a:pt x="1157057" y="309362"/>
                  <a:pt x="683347" y="323332"/>
                </a:cubicBezTo>
                <a:close/>
              </a:path>
            </a:pathLst>
          </a:cu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p:cNvPicPr>
            <a:picLocks noChangeAspect="1"/>
          </p:cNvPicPr>
          <p:nvPr/>
        </p:nvPicPr>
        <p:blipFill>
          <a:blip r:embed="rId4"/>
          <a:stretch>
            <a:fillRect/>
          </a:stretch>
        </p:blipFill>
        <p:spPr>
          <a:xfrm>
            <a:off x="937895" y="5977255"/>
            <a:ext cx="3534410" cy="436245"/>
          </a:xfrm>
          <a:prstGeom prst="rect">
            <a:avLst/>
          </a:prstGeom>
        </p:spPr>
      </p:pic>
      <p:pic>
        <p:nvPicPr>
          <p:cNvPr id="18" name="图片 17"/>
          <p:cNvPicPr>
            <a:picLocks noChangeAspect="1"/>
          </p:cNvPicPr>
          <p:nvPr/>
        </p:nvPicPr>
        <p:blipFill>
          <a:blip r:embed="rId5"/>
          <a:stretch>
            <a:fillRect/>
          </a:stretch>
        </p:blipFill>
        <p:spPr>
          <a:xfrm>
            <a:off x="5293995" y="4430395"/>
            <a:ext cx="3636010" cy="713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892"/>
    </mc:Choice>
    <mc:Fallback>
      <p:transition spd="slow" advTm="5789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基于元强化学习的调度模型（</a:t>
            </a:r>
            <a:r>
              <a:rPr lang="en-US" altLang="zh-CN" dirty="0">
                <a:sym typeface="+mn-ea"/>
              </a:rPr>
              <a:t>MRL</a:t>
            </a:r>
            <a:r>
              <a:rPr lang="zh-CN" altLang="en-US" dirty="0">
                <a:sym typeface="+mn-ea"/>
              </a:rPr>
              <a:t>）</a:t>
            </a:r>
            <a:endParaRPr lang="zh-CN" altLang="en-US" dirty="0"/>
          </a:p>
        </p:txBody>
      </p:sp>
      <p:sp>
        <p:nvSpPr>
          <p:cNvPr id="5" name="灯片编号占位符 4"/>
          <p:cNvSpPr>
            <a:spLocks noGrp="1"/>
          </p:cNvSpPr>
          <p:nvPr>
            <p:ph type="sldNum" sz="quarter" idx="12"/>
          </p:nvPr>
        </p:nvSpPr>
        <p:spPr/>
        <p:txBody>
          <a:bodyPr/>
          <a:lstStyle/>
          <a:p>
            <a:r>
              <a:rPr lang="en-US" altLang="zh-CN"/>
              <a:t>9</a:t>
            </a:r>
            <a:endParaRPr lang="en-US" altLang="zh-CN"/>
          </a:p>
        </p:txBody>
      </p:sp>
      <p:sp>
        <p:nvSpPr>
          <p:cNvPr id="11" name="文本框 10"/>
          <p:cNvSpPr txBox="1"/>
          <p:nvPr/>
        </p:nvSpPr>
        <p:spPr>
          <a:xfrm>
            <a:off x="273050" y="4519295"/>
            <a:ext cx="4572000" cy="561975"/>
          </a:xfrm>
          <a:prstGeom prst="rect">
            <a:avLst/>
          </a:prstGeom>
          <a:noFill/>
        </p:spPr>
        <p:txBody>
          <a:bodyPr wrap="square" rtlCol="0" anchor="t">
            <a:spAutoFit/>
          </a:bodyPr>
          <a:p>
            <a:pPr marL="285750" indent="-285750">
              <a:lnSpc>
                <a:spcPct val="170000"/>
              </a:lnSpc>
              <a:buClr>
                <a:srgbClr val="FF0000"/>
              </a:buClr>
              <a:buFont typeface="Wingdings" panose="05000000000000000000" pitchFamily="2" charset="2"/>
              <a:buChar char="p"/>
            </a:pPr>
            <a:r>
              <a:rPr lang="en-US" altLang="zh-CN" b="1" dirty="0">
                <a:latin typeface="微软雅黑" panose="020B0503020204020204" pitchFamily="34" charset="-122"/>
                <a:ea typeface="微软雅黑" panose="020B0503020204020204" pitchFamily="34" charset="-122"/>
                <a:sym typeface="+mn-ea"/>
              </a:rPr>
              <a:t>FiLM</a:t>
            </a:r>
            <a:r>
              <a:rPr lang="zh-CN" altLang="en-US" b="1" dirty="0">
                <a:latin typeface="微软雅黑" panose="020B0503020204020204" pitchFamily="34" charset="-122"/>
                <a:ea typeface="微软雅黑" panose="020B0503020204020204" pitchFamily="34" charset="-122"/>
                <a:sym typeface="+mn-ea"/>
              </a:rPr>
              <a:t>有效性</a:t>
            </a:r>
            <a:endParaRPr lang="zh-CN" altLang="en-US" b="1" dirty="0">
              <a:latin typeface="微软雅黑" panose="020B0503020204020204" pitchFamily="34" charset="-122"/>
              <a:ea typeface="微软雅黑" panose="020B0503020204020204" pitchFamily="34" charset="-122"/>
              <a:sym typeface="+mn-ea"/>
            </a:endParaRPr>
          </a:p>
        </p:txBody>
      </p:sp>
      <p:pic>
        <p:nvPicPr>
          <p:cNvPr id="12" name="图片 11" descr="MRL-F_vs_MRL-n_元损失曲线对比"/>
          <p:cNvPicPr>
            <a:picLocks noChangeAspect="1"/>
          </p:cNvPicPr>
          <p:nvPr/>
        </p:nvPicPr>
        <p:blipFill>
          <a:blip r:embed="rId1"/>
          <a:stretch>
            <a:fillRect/>
          </a:stretch>
        </p:blipFill>
        <p:spPr>
          <a:xfrm>
            <a:off x="2033905" y="4847590"/>
            <a:ext cx="3492500" cy="2010410"/>
          </a:xfrm>
          <a:prstGeom prst="rect">
            <a:avLst/>
          </a:prstGeom>
        </p:spPr>
      </p:pic>
      <p:sp>
        <p:nvSpPr>
          <p:cNvPr id="13" name="文本框 12"/>
          <p:cNvSpPr txBox="1"/>
          <p:nvPr/>
        </p:nvSpPr>
        <p:spPr>
          <a:xfrm>
            <a:off x="190500" y="671195"/>
            <a:ext cx="4572000" cy="561975"/>
          </a:xfrm>
          <a:prstGeom prst="rect">
            <a:avLst/>
          </a:prstGeom>
          <a:noFill/>
        </p:spPr>
        <p:txBody>
          <a:bodyPr wrap="square" rtlCol="0" anchor="t">
            <a:spAutoFit/>
          </a:bodyPr>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实验设置</a:t>
            </a:r>
            <a:endParaRPr lang="zh-CN" altLang="en-US" b="1" dirty="0">
              <a:latin typeface="微软雅黑" panose="020B0503020204020204" pitchFamily="34" charset="-122"/>
              <a:ea typeface="微软雅黑" panose="020B0503020204020204" pitchFamily="34" charset="-122"/>
              <a:sym typeface="+mn-ea"/>
            </a:endParaRPr>
          </a:p>
        </p:txBody>
      </p:sp>
      <p:pic>
        <p:nvPicPr>
          <p:cNvPr id="15" name="图片 14"/>
          <p:cNvPicPr>
            <a:picLocks noChangeAspect="1"/>
          </p:cNvPicPr>
          <p:nvPr/>
        </p:nvPicPr>
        <p:blipFill>
          <a:blip r:embed="rId2"/>
          <a:stretch>
            <a:fillRect/>
          </a:stretch>
        </p:blipFill>
        <p:spPr>
          <a:xfrm>
            <a:off x="685165" y="1283335"/>
            <a:ext cx="4077335" cy="1400810"/>
          </a:xfrm>
          <a:prstGeom prst="rect">
            <a:avLst/>
          </a:prstGeom>
        </p:spPr>
      </p:pic>
      <p:sp>
        <p:nvSpPr>
          <p:cNvPr id="17" name="文本框 16"/>
          <p:cNvSpPr txBox="1"/>
          <p:nvPr/>
        </p:nvSpPr>
        <p:spPr>
          <a:xfrm>
            <a:off x="273050" y="2787015"/>
            <a:ext cx="6441440"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敏感性分析（内循环步数，内循环学习率，元</a:t>
            </a:r>
            <a:r>
              <a:rPr lang="zh-CN" altLang="en-US" b="1" dirty="0">
                <a:latin typeface="微软雅黑" panose="020B0503020204020204" pitchFamily="34" charset="-122"/>
                <a:ea typeface="微软雅黑" panose="020B0503020204020204" pitchFamily="34" charset="-122"/>
                <a:sym typeface="+mn-ea"/>
              </a:rPr>
              <a:t>学习率）</a:t>
            </a:r>
            <a:endParaRPr lang="zh-CN" altLang="en-US" b="1" dirty="0">
              <a:latin typeface="微软雅黑" panose="020B0503020204020204" pitchFamily="34" charset="-122"/>
              <a:ea typeface="微软雅黑" panose="020B0503020204020204" pitchFamily="34" charset="-122"/>
              <a:sym typeface="+mn-ea"/>
            </a:endParaRPr>
          </a:p>
        </p:txBody>
      </p:sp>
      <p:pic>
        <p:nvPicPr>
          <p:cNvPr id="18" name="图片 17" descr="内循环步数对比曲线"/>
          <p:cNvPicPr>
            <a:picLocks noChangeAspect="1"/>
          </p:cNvPicPr>
          <p:nvPr/>
        </p:nvPicPr>
        <p:blipFill>
          <a:blip r:embed="rId3"/>
          <a:stretch>
            <a:fillRect/>
          </a:stretch>
        </p:blipFill>
        <p:spPr>
          <a:xfrm>
            <a:off x="660400" y="3399155"/>
            <a:ext cx="2128520" cy="1225550"/>
          </a:xfrm>
          <a:prstGeom prst="rect">
            <a:avLst/>
          </a:prstGeom>
        </p:spPr>
      </p:pic>
      <p:pic>
        <p:nvPicPr>
          <p:cNvPr id="19" name="图片 18" descr="内循环学习率对比曲线"/>
          <p:cNvPicPr>
            <a:picLocks noChangeAspect="1"/>
          </p:cNvPicPr>
          <p:nvPr/>
        </p:nvPicPr>
        <p:blipFill>
          <a:blip r:embed="rId4"/>
          <a:stretch>
            <a:fillRect/>
          </a:stretch>
        </p:blipFill>
        <p:spPr>
          <a:xfrm>
            <a:off x="3213735" y="3375660"/>
            <a:ext cx="2249805" cy="1294765"/>
          </a:xfrm>
          <a:prstGeom prst="rect">
            <a:avLst/>
          </a:prstGeom>
        </p:spPr>
      </p:pic>
      <p:pic>
        <p:nvPicPr>
          <p:cNvPr id="20" name="图片 19" descr="元学习率对比曲线_20代间隔"/>
          <p:cNvPicPr>
            <a:picLocks noChangeAspect="1"/>
          </p:cNvPicPr>
          <p:nvPr/>
        </p:nvPicPr>
        <p:blipFill>
          <a:blip r:embed="rId5"/>
          <a:stretch>
            <a:fillRect/>
          </a:stretch>
        </p:blipFill>
        <p:spPr>
          <a:xfrm>
            <a:off x="6020435" y="3362960"/>
            <a:ext cx="2247900" cy="12941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892"/>
    </mc:Choice>
    <mc:Fallback>
      <p:transition spd="slow" advTm="5789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基于元强化学习的调度模型（</a:t>
            </a:r>
            <a:r>
              <a:rPr lang="en-US" altLang="zh-CN" dirty="0">
                <a:sym typeface="+mn-ea"/>
              </a:rPr>
              <a:t>MRL</a:t>
            </a:r>
            <a:r>
              <a:rPr lang="zh-CN" altLang="en-US" dirty="0">
                <a:sym typeface="+mn-ea"/>
              </a:rPr>
              <a:t>）</a:t>
            </a:r>
            <a:endParaRPr lang="zh-CN" altLang="en-US" dirty="0"/>
          </a:p>
        </p:txBody>
      </p:sp>
      <p:sp>
        <p:nvSpPr>
          <p:cNvPr id="8" name="文本框 7"/>
          <p:cNvSpPr txBox="1"/>
          <p:nvPr/>
        </p:nvSpPr>
        <p:spPr>
          <a:xfrm>
            <a:off x="141051" y="64105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随机算例</a:t>
            </a:r>
            <a:r>
              <a:rPr lang="en-US" altLang="zh-CN" b="1" dirty="0">
                <a:latin typeface="微软雅黑" panose="020B0503020204020204" pitchFamily="34" charset="-122"/>
                <a:ea typeface="微软雅黑" panose="020B0503020204020204" pitchFamily="34" charset="-122"/>
                <a:sym typeface="+mn-ea"/>
              </a:rPr>
              <a:t> </a:t>
            </a:r>
            <a:endParaRPr lang="zh-CN" altLang="en-US" b="1" dirty="0">
              <a:latin typeface="微软雅黑" panose="020B0503020204020204" pitchFamily="34" charset="-122"/>
              <a:ea typeface="微软雅黑" panose="020B0503020204020204" pitchFamily="34" charset="-122"/>
              <a:sym typeface="+mn-ea"/>
            </a:endParaRPr>
          </a:p>
        </p:txBody>
      </p:sp>
      <p:sp>
        <p:nvSpPr>
          <p:cNvPr id="5" name="灯片编号占位符 4"/>
          <p:cNvSpPr>
            <a:spLocks noGrp="1"/>
          </p:cNvSpPr>
          <p:nvPr>
            <p:ph type="sldNum" sz="quarter" idx="12"/>
          </p:nvPr>
        </p:nvSpPr>
        <p:spPr/>
        <p:txBody>
          <a:bodyPr/>
          <a:lstStyle/>
          <a:p>
            <a:r>
              <a:rPr lang="en-US" altLang="zh-CN"/>
              <a:t>10</a:t>
            </a:r>
            <a:endParaRPr lang="en-US" altLang="zh-CN"/>
          </a:p>
        </p:txBody>
      </p:sp>
      <p:pic>
        <p:nvPicPr>
          <p:cNvPr id="3" name="图片 2"/>
          <p:cNvPicPr>
            <a:picLocks noChangeAspect="1"/>
          </p:cNvPicPr>
          <p:nvPr/>
        </p:nvPicPr>
        <p:blipFill>
          <a:blip r:embed="rId1"/>
          <a:stretch>
            <a:fillRect/>
          </a:stretch>
        </p:blipFill>
        <p:spPr>
          <a:xfrm>
            <a:off x="462280" y="1122045"/>
            <a:ext cx="2461260" cy="1438275"/>
          </a:xfrm>
          <a:prstGeom prst="rect">
            <a:avLst/>
          </a:prstGeom>
        </p:spPr>
      </p:pic>
      <p:pic>
        <p:nvPicPr>
          <p:cNvPr id="4" name="图片 3"/>
          <p:cNvPicPr>
            <a:picLocks noChangeAspect="1"/>
          </p:cNvPicPr>
          <p:nvPr/>
        </p:nvPicPr>
        <p:blipFill>
          <a:blip r:embed="rId2"/>
          <a:stretch>
            <a:fillRect/>
          </a:stretch>
        </p:blipFill>
        <p:spPr>
          <a:xfrm>
            <a:off x="3065780" y="975995"/>
            <a:ext cx="2513330" cy="1466850"/>
          </a:xfrm>
          <a:prstGeom prst="rect">
            <a:avLst/>
          </a:prstGeom>
        </p:spPr>
      </p:pic>
      <p:pic>
        <p:nvPicPr>
          <p:cNvPr id="7" name="图片 6"/>
          <p:cNvPicPr>
            <a:picLocks noChangeAspect="1"/>
          </p:cNvPicPr>
          <p:nvPr/>
        </p:nvPicPr>
        <p:blipFill>
          <a:blip r:embed="rId3"/>
          <a:stretch>
            <a:fillRect/>
          </a:stretch>
        </p:blipFill>
        <p:spPr>
          <a:xfrm>
            <a:off x="6094095" y="1167130"/>
            <a:ext cx="2439035" cy="2060575"/>
          </a:xfrm>
          <a:prstGeom prst="rect">
            <a:avLst/>
          </a:prstGeom>
        </p:spPr>
      </p:pic>
      <p:pic>
        <p:nvPicPr>
          <p:cNvPr id="9" name="图片 8"/>
          <p:cNvPicPr>
            <a:picLocks noChangeAspect="1"/>
          </p:cNvPicPr>
          <p:nvPr/>
        </p:nvPicPr>
        <p:blipFill>
          <a:blip r:embed="rId4"/>
          <a:stretch>
            <a:fillRect/>
          </a:stretch>
        </p:blipFill>
        <p:spPr>
          <a:xfrm>
            <a:off x="2882900" y="2931795"/>
            <a:ext cx="2543810" cy="780415"/>
          </a:xfrm>
          <a:prstGeom prst="rect">
            <a:avLst/>
          </a:prstGeom>
        </p:spPr>
      </p:pic>
      <p:sp>
        <p:nvSpPr>
          <p:cNvPr id="10" name="圆柱形 9"/>
          <p:cNvSpPr/>
          <p:nvPr/>
        </p:nvSpPr>
        <p:spPr>
          <a:xfrm>
            <a:off x="711835" y="3913505"/>
            <a:ext cx="570865" cy="473710"/>
          </a:xfrm>
          <a:prstGeom prst="can">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711835" y="3194050"/>
            <a:ext cx="624205" cy="336550"/>
          </a:xfrm>
          <a:prstGeom prst="rect">
            <a:avLst/>
          </a:prstGeom>
          <a:noFill/>
        </p:spPr>
        <p:txBody>
          <a:bodyPr wrap="square" rtlCol="0">
            <a:noAutofit/>
          </a:bodyPr>
          <a:p>
            <a:r>
              <a:rPr lang="en-US" altLang="zh-CN"/>
              <a:t>FJSP</a:t>
            </a:r>
            <a:endParaRPr lang="en-US" altLang="zh-CN"/>
          </a:p>
        </p:txBody>
      </p:sp>
      <p:sp>
        <p:nvSpPr>
          <p:cNvPr id="19" name="流程图: 多文档 18"/>
          <p:cNvSpPr/>
          <p:nvPr/>
        </p:nvSpPr>
        <p:spPr>
          <a:xfrm>
            <a:off x="648335" y="3023870"/>
            <a:ext cx="738505" cy="594995"/>
          </a:xfrm>
          <a:prstGeom prst="flowChartMultidocumen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1816735" y="3194050"/>
            <a:ext cx="516255" cy="336550"/>
          </a:xfrm>
          <a:prstGeom prst="rect">
            <a:avLst/>
          </a:prstGeom>
          <a:noFill/>
        </p:spPr>
        <p:txBody>
          <a:bodyPr wrap="square" rtlCol="0">
            <a:noAutofit/>
          </a:bodyPr>
          <a:p>
            <a:r>
              <a:rPr lang="en-US" altLang="zh-CN"/>
              <a:t>JSP</a:t>
            </a:r>
            <a:endParaRPr lang="en-US" altLang="zh-CN"/>
          </a:p>
        </p:txBody>
      </p:sp>
      <p:sp>
        <p:nvSpPr>
          <p:cNvPr id="21" name="流程图: 多文档 20"/>
          <p:cNvSpPr/>
          <p:nvPr/>
        </p:nvSpPr>
        <p:spPr>
          <a:xfrm>
            <a:off x="1753235" y="3023870"/>
            <a:ext cx="738505" cy="594995"/>
          </a:xfrm>
          <a:prstGeom prst="flowChartMultidocumen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文本框 23"/>
          <p:cNvSpPr txBox="1"/>
          <p:nvPr/>
        </p:nvSpPr>
        <p:spPr>
          <a:xfrm>
            <a:off x="684530" y="4050665"/>
            <a:ext cx="701675" cy="285750"/>
          </a:xfrm>
          <a:prstGeom prst="rect">
            <a:avLst/>
          </a:prstGeom>
          <a:noFill/>
        </p:spPr>
        <p:txBody>
          <a:bodyPr wrap="square" rtlCol="0">
            <a:noAutofit/>
          </a:bodyPr>
          <a:p>
            <a:r>
              <a:rPr lang="en-US" altLang="zh-CN" sz="1000"/>
              <a:t>MRL-FJSP</a:t>
            </a:r>
            <a:endParaRPr lang="en-US" altLang="zh-CN" sz="1000"/>
          </a:p>
        </p:txBody>
      </p:sp>
      <p:sp>
        <p:nvSpPr>
          <p:cNvPr id="25" name="圆柱形 24"/>
          <p:cNvSpPr/>
          <p:nvPr/>
        </p:nvSpPr>
        <p:spPr>
          <a:xfrm>
            <a:off x="1780540" y="3903345"/>
            <a:ext cx="570865" cy="473710"/>
          </a:xfrm>
          <a:prstGeom prst="can">
            <a:avLst/>
          </a:prstGeom>
          <a:noFill/>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1753235" y="4040505"/>
            <a:ext cx="701675" cy="285750"/>
          </a:xfrm>
          <a:prstGeom prst="rect">
            <a:avLst/>
          </a:prstGeom>
          <a:noFill/>
        </p:spPr>
        <p:txBody>
          <a:bodyPr wrap="square" rtlCol="0">
            <a:noAutofit/>
          </a:bodyPr>
          <a:p>
            <a:r>
              <a:rPr lang="en-US" altLang="zh-CN" sz="1000"/>
              <a:t>MRL-JSP</a:t>
            </a:r>
            <a:endParaRPr lang="en-US" altLang="zh-CN" sz="1000"/>
          </a:p>
        </p:txBody>
      </p:sp>
      <p:cxnSp>
        <p:nvCxnSpPr>
          <p:cNvPr id="27" name="直接箭头连接符 26"/>
          <p:cNvCxnSpPr>
            <a:stCxn id="19" idx="2"/>
            <a:endCxn id="24" idx="0"/>
          </p:cNvCxnSpPr>
          <p:nvPr/>
        </p:nvCxnSpPr>
        <p:spPr>
          <a:xfrm>
            <a:off x="966470" y="3596640"/>
            <a:ext cx="69215" cy="4540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a:off x="2065020" y="3530600"/>
            <a:ext cx="69215" cy="4540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p:nvPr/>
        </p:nvCxnSpPr>
        <p:spPr>
          <a:xfrm flipV="1">
            <a:off x="1245235" y="3437255"/>
            <a:ext cx="533400" cy="5524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p:nvPr/>
        </p:nvCxnSpPr>
        <p:spPr>
          <a:xfrm flipH="1" flipV="1">
            <a:off x="1054100" y="3540760"/>
            <a:ext cx="1080135" cy="5099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1" name="文本框 30"/>
          <p:cNvSpPr txBox="1"/>
          <p:nvPr/>
        </p:nvSpPr>
        <p:spPr>
          <a:xfrm>
            <a:off x="768350" y="3712210"/>
            <a:ext cx="476885" cy="245110"/>
          </a:xfrm>
          <a:prstGeom prst="rect">
            <a:avLst/>
          </a:prstGeom>
          <a:noFill/>
        </p:spPr>
        <p:txBody>
          <a:bodyPr wrap="square" rtlCol="0">
            <a:spAutoFit/>
          </a:bodyPr>
          <a:p>
            <a:r>
              <a:rPr lang="zh-CN" altLang="en-US" sz="1000"/>
              <a:t>训练</a:t>
            </a:r>
            <a:endParaRPr lang="zh-CN" altLang="en-US" sz="1000"/>
          </a:p>
        </p:txBody>
      </p:sp>
      <p:sp>
        <p:nvSpPr>
          <p:cNvPr id="32" name="文本框 31"/>
          <p:cNvSpPr txBox="1"/>
          <p:nvPr/>
        </p:nvSpPr>
        <p:spPr>
          <a:xfrm>
            <a:off x="1924685" y="3624580"/>
            <a:ext cx="476885" cy="245110"/>
          </a:xfrm>
          <a:prstGeom prst="rect">
            <a:avLst/>
          </a:prstGeom>
          <a:noFill/>
        </p:spPr>
        <p:txBody>
          <a:bodyPr wrap="square" rtlCol="0">
            <a:spAutoFit/>
          </a:bodyPr>
          <a:p>
            <a:r>
              <a:rPr lang="zh-CN" altLang="en-US" sz="1000"/>
              <a:t>训练</a:t>
            </a:r>
            <a:endParaRPr lang="zh-CN" altLang="en-US" sz="1000"/>
          </a:p>
        </p:txBody>
      </p:sp>
      <p:sp>
        <p:nvSpPr>
          <p:cNvPr id="33" name="文本框 32"/>
          <p:cNvSpPr txBox="1"/>
          <p:nvPr/>
        </p:nvSpPr>
        <p:spPr>
          <a:xfrm>
            <a:off x="1155700" y="3530600"/>
            <a:ext cx="476885" cy="245110"/>
          </a:xfrm>
          <a:prstGeom prst="rect">
            <a:avLst/>
          </a:prstGeom>
          <a:noFill/>
        </p:spPr>
        <p:txBody>
          <a:bodyPr wrap="square" rtlCol="0">
            <a:spAutoFit/>
          </a:bodyPr>
          <a:p>
            <a:r>
              <a:rPr lang="zh-CN" altLang="en-US" sz="1000"/>
              <a:t>求解</a:t>
            </a:r>
            <a:endParaRPr lang="zh-CN" altLang="en-US" sz="1000"/>
          </a:p>
        </p:txBody>
      </p:sp>
      <p:sp>
        <p:nvSpPr>
          <p:cNvPr id="34" name="文本框 33"/>
          <p:cNvSpPr txBox="1"/>
          <p:nvPr/>
        </p:nvSpPr>
        <p:spPr>
          <a:xfrm>
            <a:off x="1443355" y="3437255"/>
            <a:ext cx="476885" cy="245110"/>
          </a:xfrm>
          <a:prstGeom prst="rect">
            <a:avLst/>
          </a:prstGeom>
          <a:noFill/>
        </p:spPr>
        <p:txBody>
          <a:bodyPr wrap="square" rtlCol="0">
            <a:spAutoFit/>
          </a:bodyPr>
          <a:p>
            <a:r>
              <a:rPr lang="zh-CN" altLang="en-US" sz="1000"/>
              <a:t>求解</a:t>
            </a:r>
            <a:endParaRPr lang="zh-CN" altLang="en-US" sz="1000"/>
          </a:p>
        </p:txBody>
      </p:sp>
      <p:sp>
        <p:nvSpPr>
          <p:cNvPr id="36" name="文本框 35"/>
          <p:cNvSpPr txBox="1"/>
          <p:nvPr/>
        </p:nvSpPr>
        <p:spPr>
          <a:xfrm>
            <a:off x="231856" y="452471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标准算例</a:t>
            </a:r>
            <a:r>
              <a:rPr lang="en-US" altLang="zh-CN" b="1" dirty="0">
                <a:latin typeface="微软雅黑" panose="020B0503020204020204" pitchFamily="34" charset="-122"/>
                <a:ea typeface="微软雅黑" panose="020B0503020204020204" pitchFamily="34" charset="-122"/>
                <a:sym typeface="+mn-ea"/>
              </a:rPr>
              <a:t> </a:t>
            </a:r>
            <a:endParaRPr lang="zh-CN" altLang="en-US" b="1" dirty="0">
              <a:latin typeface="微软雅黑" panose="020B0503020204020204" pitchFamily="34" charset="-122"/>
              <a:ea typeface="微软雅黑" panose="020B0503020204020204" pitchFamily="34" charset="-122"/>
              <a:sym typeface="+mn-ea"/>
            </a:endParaRPr>
          </a:p>
        </p:txBody>
      </p:sp>
      <p:sp>
        <p:nvSpPr>
          <p:cNvPr id="37" name="文本框 36"/>
          <p:cNvSpPr txBox="1"/>
          <p:nvPr/>
        </p:nvSpPr>
        <p:spPr>
          <a:xfrm>
            <a:off x="305435" y="5086985"/>
            <a:ext cx="5908675" cy="1014730"/>
          </a:xfrm>
          <a:prstGeom prst="rect">
            <a:avLst/>
          </a:prstGeom>
        </p:spPr>
        <p:txBody>
          <a:bodyPr wrap="square">
            <a:spAutoFit/>
          </a:bodyPr>
          <a:p>
            <a:r>
              <a:rPr lang="en-US" altLang="zh-CN" sz="1200">
                <a:solidFill>
                  <a:srgbClr val="000000"/>
                </a:solidFill>
                <a:latin typeface="Times New Roman" panose="02020603050405020304"/>
                <a:ea typeface="Times New Roman" panose="02020603050405020304"/>
              </a:rPr>
              <a:t>NPFSP </a:t>
            </a:r>
            <a:r>
              <a:rPr lang="zh-CN" altLang="en-US" sz="1200">
                <a:solidFill>
                  <a:srgbClr val="000000"/>
                </a:solidFill>
                <a:latin typeface="宋体" panose="02010600030101010101" pitchFamily="2" charset="-122"/>
                <a:ea typeface="宋体" panose="02010600030101010101" pitchFamily="2" charset="-122"/>
              </a:rPr>
              <a:t>测试集包含 </a:t>
            </a:r>
            <a:r>
              <a:rPr lang="en-US" altLang="zh-CN" sz="1200">
                <a:solidFill>
                  <a:srgbClr val="000000"/>
                </a:solidFill>
                <a:latin typeface="Times New Roman" panose="02020603050405020304"/>
                <a:ea typeface="Times New Roman" panose="02020603050405020304"/>
              </a:rPr>
              <a:t>Taillard </a:t>
            </a:r>
            <a:r>
              <a:rPr lang="zh-CN" altLang="en-US" sz="1200">
                <a:solidFill>
                  <a:srgbClr val="000000"/>
                </a:solidFill>
                <a:latin typeface="宋体" panose="02010600030101010101" pitchFamily="2" charset="-122"/>
                <a:ea typeface="宋体" panose="02010600030101010101" pitchFamily="2" charset="-122"/>
              </a:rPr>
              <a:t>针对 </a:t>
            </a:r>
            <a:r>
              <a:rPr lang="en-US" altLang="zh-CN" sz="1200">
                <a:solidFill>
                  <a:srgbClr val="000000"/>
                </a:solidFill>
                <a:latin typeface="Times New Roman" panose="02020603050405020304"/>
                <a:ea typeface="Times New Roman" panose="02020603050405020304"/>
              </a:rPr>
              <a:t>FSP </a:t>
            </a:r>
            <a:r>
              <a:rPr lang="zh-CN" altLang="en-US" sz="1200">
                <a:solidFill>
                  <a:srgbClr val="000000"/>
                </a:solidFill>
                <a:latin typeface="宋体" panose="02010600030101010101" pitchFamily="2" charset="-122"/>
                <a:ea typeface="宋体" panose="02010600030101010101" pitchFamily="2" charset="-122"/>
              </a:rPr>
              <a:t>问题提出的的 </a:t>
            </a:r>
            <a:r>
              <a:rPr lang="en-US" altLang="zh-CN" sz="1200">
                <a:solidFill>
                  <a:srgbClr val="000000"/>
                </a:solidFill>
                <a:latin typeface="Times New Roman" panose="02020603050405020304"/>
                <a:ea typeface="Times New Roman" panose="02020603050405020304"/>
              </a:rPr>
              <a:t>ta01-04</a:t>
            </a:r>
            <a:r>
              <a:rPr lang="zh-CN" altLang="en-US" sz="1200">
                <a:solidFill>
                  <a:srgbClr val="000000"/>
                </a:solidFill>
                <a:latin typeface="宋体" panose="02010600030101010101" pitchFamily="2" charset="-122"/>
                <a:ea typeface="宋体" panose="02010600030101010101" pitchFamily="2" charset="-122"/>
              </a:rPr>
              <a:t>（算例 </a:t>
            </a:r>
            <a:r>
              <a:rPr lang="en-US" altLang="zh-CN" sz="1200">
                <a:solidFill>
                  <a:srgbClr val="000000"/>
                </a:solidFill>
                <a:latin typeface="Times New Roman" panose="02020603050405020304"/>
                <a:ea typeface="Times New Roman" panose="02020603050405020304"/>
              </a:rPr>
              <a:t>1-4</a:t>
            </a:r>
            <a:r>
              <a:rPr lang="zh-CN" altLang="en-US" sz="1200">
                <a:solidFill>
                  <a:srgbClr val="000000"/>
                </a:solidFill>
                <a:latin typeface="宋体" panose="02010600030101010101" pitchFamily="2" charset="-122"/>
                <a:ea typeface="宋体" panose="02010600030101010101" pitchFamily="2" charset="-122"/>
              </a:rPr>
              <a:t>）、</a:t>
            </a:r>
            <a:r>
              <a:rPr lang="en-US" altLang="zh-CN" sz="1200">
                <a:solidFill>
                  <a:srgbClr val="000000"/>
                </a:solidFill>
                <a:latin typeface="Times New Roman" panose="02020603050405020304"/>
                <a:ea typeface="Times New Roman" panose="02020603050405020304"/>
              </a:rPr>
              <a:t>ta11-14</a:t>
            </a:r>
            <a:r>
              <a:rPr lang="zh-CN" altLang="en-US" sz="1200">
                <a:solidFill>
                  <a:srgbClr val="000000"/>
                </a:solidFill>
                <a:latin typeface="宋体" panose="02010600030101010101" pitchFamily="2" charset="-122"/>
                <a:ea typeface="宋体" panose="02010600030101010101" pitchFamily="2" charset="-122"/>
              </a:rPr>
              <a:t>（算例 </a:t>
            </a:r>
            <a:r>
              <a:rPr lang="en-US" altLang="zh-CN" sz="1200">
                <a:solidFill>
                  <a:srgbClr val="000000"/>
                </a:solidFill>
                <a:latin typeface="Times New Roman" panose="02020603050405020304"/>
                <a:ea typeface="Times New Roman" panose="02020603050405020304"/>
              </a:rPr>
              <a:t>5-8</a:t>
            </a:r>
            <a:r>
              <a:rPr lang="zh-CN" altLang="en-US" sz="1200">
                <a:solidFill>
                  <a:srgbClr val="000000"/>
                </a:solidFill>
                <a:latin typeface="宋体" panose="02010600030101010101" pitchFamily="2" charset="-122"/>
                <a:ea typeface="宋体" panose="02010600030101010101" pitchFamily="2" charset="-122"/>
              </a:rPr>
              <a:t>）及 </a:t>
            </a:r>
            <a:r>
              <a:rPr lang="en-US" altLang="zh-CN" sz="1200">
                <a:solidFill>
                  <a:srgbClr val="000000"/>
                </a:solidFill>
                <a:latin typeface="Times New Roman" panose="02020603050405020304"/>
                <a:ea typeface="Times New Roman" panose="02020603050405020304"/>
              </a:rPr>
              <a:t>ta21-22</a:t>
            </a:r>
            <a:r>
              <a:rPr lang="zh-CN" altLang="en-US" sz="1200">
                <a:solidFill>
                  <a:srgbClr val="000000"/>
                </a:solidFill>
                <a:latin typeface="宋体" panose="02010600030101010101" pitchFamily="2" charset="-122"/>
                <a:ea typeface="宋体" panose="02010600030101010101" pitchFamily="2" charset="-122"/>
              </a:rPr>
              <a:t>（算例 </a:t>
            </a:r>
            <a:r>
              <a:rPr lang="en-US" altLang="zh-CN" sz="1200">
                <a:solidFill>
                  <a:srgbClr val="000000"/>
                </a:solidFill>
                <a:latin typeface="Times New Roman" panose="02020603050405020304"/>
                <a:ea typeface="Times New Roman" panose="02020603050405020304"/>
              </a:rPr>
              <a:t>9-10</a:t>
            </a:r>
            <a:r>
              <a:rPr lang="zh-CN" altLang="en-US" sz="1200">
                <a:solidFill>
                  <a:srgbClr val="000000"/>
                </a:solidFill>
                <a:latin typeface="宋体" panose="02010600030101010101" pitchFamily="2" charset="-122"/>
                <a:ea typeface="宋体" panose="02010600030101010101" pitchFamily="2" charset="-122"/>
              </a:rPr>
              <a:t>）；</a:t>
            </a:r>
            <a:endParaRPr lang="zh-CN" altLang="en-US" sz="1200">
              <a:solidFill>
                <a:srgbClr val="000000"/>
              </a:solidFill>
              <a:latin typeface="宋体" panose="02010600030101010101" pitchFamily="2" charset="-122"/>
              <a:ea typeface="宋体" panose="02010600030101010101" pitchFamily="2" charset="-122"/>
            </a:endParaRPr>
          </a:p>
          <a:p>
            <a:r>
              <a:rPr lang="en-US" altLang="zh-CN" sz="1200">
                <a:solidFill>
                  <a:srgbClr val="000000"/>
                </a:solidFill>
                <a:latin typeface="Times New Roman" panose="02020603050405020304"/>
                <a:ea typeface="Times New Roman" panose="02020603050405020304"/>
              </a:rPr>
              <a:t>JSP </a:t>
            </a:r>
            <a:r>
              <a:rPr lang="zh-CN" altLang="en-US" sz="1200">
                <a:solidFill>
                  <a:srgbClr val="000000"/>
                </a:solidFill>
                <a:latin typeface="宋体" panose="02010600030101010101" pitchFamily="2" charset="-122"/>
                <a:ea typeface="宋体" panose="02010600030101010101" pitchFamily="2" charset="-122"/>
              </a:rPr>
              <a:t>选取 </a:t>
            </a:r>
            <a:r>
              <a:rPr lang="en-US" altLang="zh-CN" sz="1200">
                <a:solidFill>
                  <a:srgbClr val="000000"/>
                </a:solidFill>
                <a:latin typeface="Times New Roman" panose="02020603050405020304"/>
                <a:ea typeface="Times New Roman" panose="02020603050405020304"/>
              </a:rPr>
              <a:t>Taillard </a:t>
            </a:r>
            <a:r>
              <a:rPr lang="zh-CN" altLang="en-US" sz="1200">
                <a:solidFill>
                  <a:srgbClr val="000000"/>
                </a:solidFill>
                <a:latin typeface="宋体" panose="02010600030101010101" pitchFamily="2" charset="-122"/>
                <a:ea typeface="宋体" panose="02010600030101010101" pitchFamily="2" charset="-122"/>
              </a:rPr>
              <a:t>中 </a:t>
            </a:r>
            <a:r>
              <a:rPr lang="en-US" altLang="zh-CN" sz="1200">
                <a:solidFill>
                  <a:srgbClr val="000000"/>
                </a:solidFill>
                <a:latin typeface="Times New Roman" panose="02020603050405020304"/>
                <a:ea typeface="Times New Roman" panose="02020603050405020304"/>
              </a:rPr>
              <a:t>JSP </a:t>
            </a:r>
            <a:r>
              <a:rPr lang="zh-CN" altLang="en-US" sz="1200">
                <a:solidFill>
                  <a:srgbClr val="000000"/>
                </a:solidFill>
                <a:latin typeface="宋体" panose="02010600030101010101" pitchFamily="2" charset="-122"/>
                <a:ea typeface="宋体" panose="02010600030101010101" pitchFamily="2" charset="-122"/>
              </a:rPr>
              <a:t>标准算例下的 </a:t>
            </a:r>
            <a:r>
              <a:rPr lang="en-US" altLang="zh-CN" sz="1200">
                <a:solidFill>
                  <a:srgbClr val="000000"/>
                </a:solidFill>
                <a:latin typeface="Times New Roman" panose="02020603050405020304"/>
                <a:ea typeface="Times New Roman" panose="02020603050405020304"/>
              </a:rPr>
              <a:t>ta01-05</a:t>
            </a:r>
            <a:r>
              <a:rPr lang="zh-CN" altLang="en-US" sz="1200">
                <a:solidFill>
                  <a:srgbClr val="000000"/>
                </a:solidFill>
                <a:latin typeface="宋体" panose="02010600030101010101" pitchFamily="2" charset="-122"/>
                <a:ea typeface="宋体" panose="02010600030101010101" pitchFamily="2" charset="-122"/>
              </a:rPr>
              <a:t>（算例 </a:t>
            </a:r>
            <a:r>
              <a:rPr lang="en-US" altLang="zh-CN" sz="1200">
                <a:solidFill>
                  <a:srgbClr val="000000"/>
                </a:solidFill>
                <a:latin typeface="Times New Roman" panose="02020603050405020304"/>
                <a:ea typeface="Times New Roman" panose="02020603050405020304"/>
              </a:rPr>
              <a:t>1-5</a:t>
            </a:r>
            <a:r>
              <a:rPr lang="zh-CN" altLang="en-US" sz="1200">
                <a:solidFill>
                  <a:srgbClr val="000000"/>
                </a:solidFill>
                <a:latin typeface="宋体" panose="02010600030101010101" pitchFamily="2" charset="-122"/>
                <a:ea typeface="宋体" panose="02010600030101010101" pitchFamily="2" charset="-122"/>
              </a:rPr>
              <a:t>）与 </a:t>
            </a:r>
            <a:r>
              <a:rPr lang="en-US" altLang="zh-CN" sz="1200">
                <a:solidFill>
                  <a:srgbClr val="000000"/>
                </a:solidFill>
                <a:latin typeface="Times New Roman" panose="02020603050405020304"/>
                <a:ea typeface="Times New Roman" panose="02020603050405020304"/>
              </a:rPr>
              <a:t>ta11-15</a:t>
            </a:r>
            <a:r>
              <a:rPr lang="zh-CN" altLang="en-US" sz="1200">
                <a:solidFill>
                  <a:srgbClr val="000000"/>
                </a:solidFill>
                <a:latin typeface="宋体" panose="02010600030101010101" pitchFamily="2" charset="-122"/>
                <a:ea typeface="宋体" panose="02010600030101010101" pitchFamily="2" charset="-122"/>
              </a:rPr>
              <a:t>（算例 </a:t>
            </a:r>
            <a:r>
              <a:rPr lang="en-US" altLang="zh-CN" sz="1200">
                <a:solidFill>
                  <a:srgbClr val="000000"/>
                </a:solidFill>
                <a:latin typeface="Times New Roman" panose="02020603050405020304"/>
                <a:ea typeface="Times New Roman" panose="02020603050405020304"/>
              </a:rPr>
              <a:t>6-10</a:t>
            </a:r>
            <a:r>
              <a:rPr lang="zh-CN" altLang="en-US" sz="1200">
                <a:solidFill>
                  <a:srgbClr val="000000"/>
                </a:solidFill>
                <a:latin typeface="宋体" panose="02010600030101010101" pitchFamily="2" charset="-122"/>
                <a:ea typeface="宋体" panose="02010600030101010101" pitchFamily="2" charset="-122"/>
              </a:rPr>
              <a:t>）；</a:t>
            </a:r>
            <a:endParaRPr lang="zh-CN" altLang="en-US" sz="1200">
              <a:solidFill>
                <a:srgbClr val="000000"/>
              </a:solidFill>
              <a:latin typeface="宋体" panose="02010600030101010101" pitchFamily="2" charset="-122"/>
              <a:ea typeface="宋体" panose="02010600030101010101" pitchFamily="2" charset="-122"/>
            </a:endParaRPr>
          </a:p>
          <a:p>
            <a:r>
              <a:rPr lang="en-US" altLang="zh-CN" sz="1200">
                <a:solidFill>
                  <a:srgbClr val="000000"/>
                </a:solidFill>
                <a:latin typeface="Times New Roman" panose="02020603050405020304"/>
                <a:ea typeface="Times New Roman" panose="02020603050405020304"/>
              </a:rPr>
              <a:t>FJSP </a:t>
            </a:r>
            <a:r>
              <a:rPr lang="zh-CN" altLang="en-US" sz="1200">
                <a:solidFill>
                  <a:srgbClr val="000000"/>
                </a:solidFill>
                <a:latin typeface="宋体" panose="02010600030101010101" pitchFamily="2" charset="-122"/>
                <a:ea typeface="宋体" panose="02010600030101010101" pitchFamily="2" charset="-122"/>
              </a:rPr>
              <a:t>测试集包含 </a:t>
            </a:r>
            <a:r>
              <a:rPr lang="en-US" altLang="zh-CN" sz="1200">
                <a:solidFill>
                  <a:srgbClr val="000000"/>
                </a:solidFill>
                <a:latin typeface="Times New Roman" panose="02020603050405020304"/>
                <a:ea typeface="Times New Roman" panose="02020603050405020304"/>
              </a:rPr>
              <a:t>Brandimarte </a:t>
            </a:r>
            <a:r>
              <a:rPr lang="zh-CN" altLang="en-US" sz="1200">
                <a:solidFill>
                  <a:srgbClr val="000000"/>
                </a:solidFill>
                <a:latin typeface="宋体" panose="02010600030101010101" pitchFamily="2" charset="-122"/>
                <a:ea typeface="宋体" panose="02010600030101010101" pitchFamily="2" charset="-122"/>
              </a:rPr>
              <a:t>的 </a:t>
            </a:r>
            <a:r>
              <a:rPr lang="en-US" altLang="zh-CN" sz="1200">
                <a:solidFill>
                  <a:srgbClr val="000000"/>
                </a:solidFill>
                <a:latin typeface="Times New Roman" panose="02020603050405020304"/>
                <a:ea typeface="Times New Roman" panose="02020603050405020304"/>
              </a:rPr>
              <a:t>MK01-10</a:t>
            </a:r>
            <a:r>
              <a:rPr lang="zh-CN" altLang="en-US" sz="1200">
                <a:solidFill>
                  <a:srgbClr val="000000"/>
                </a:solidFill>
                <a:latin typeface="宋体" panose="02010600030101010101" pitchFamily="2" charset="-122"/>
                <a:ea typeface="宋体" panose="02010600030101010101" pitchFamily="2" charset="-122"/>
              </a:rPr>
              <a:t>（算例 </a:t>
            </a:r>
            <a:r>
              <a:rPr lang="en-US" altLang="zh-CN" sz="1200">
                <a:solidFill>
                  <a:srgbClr val="000000"/>
                </a:solidFill>
                <a:latin typeface="Times New Roman" panose="02020603050405020304"/>
                <a:ea typeface="Times New Roman" panose="02020603050405020304"/>
              </a:rPr>
              <a:t>1-10</a:t>
            </a:r>
            <a:r>
              <a:rPr lang="zh-CN" altLang="en-US" sz="1200">
                <a:solidFill>
                  <a:srgbClr val="000000"/>
                </a:solidFill>
                <a:latin typeface="宋体" panose="02010600030101010101" pitchFamily="2" charset="-122"/>
                <a:ea typeface="宋体" panose="02010600030101010101" pitchFamily="2" charset="-122"/>
              </a:rPr>
              <a:t>）</a:t>
            </a:r>
            <a:r>
              <a:rPr lang="en-US" altLang="zh-CN" sz="1200">
                <a:solidFill>
                  <a:srgbClr val="000000"/>
                </a:solidFill>
                <a:latin typeface="Times New Roman" panose="02020603050405020304"/>
                <a:ea typeface="Times New Roman" panose="02020603050405020304"/>
              </a:rPr>
              <a:t>和Hurink 算例中的 vdata 实例集</a:t>
            </a:r>
            <a:r>
              <a:rPr lang="zh-CN" altLang="en-US" sz="1200">
                <a:solidFill>
                  <a:srgbClr val="000000"/>
                </a:solidFill>
                <a:latin typeface="宋体" panose="02010600030101010101" pitchFamily="2" charset="-122"/>
                <a:ea typeface="宋体" panose="02010600030101010101" pitchFamily="2" charset="-122"/>
              </a:rPr>
              <a:t>。</a:t>
            </a:r>
            <a:endParaRPr lang="zh-CN" altLang="en-US" sz="1200">
              <a:solidFill>
                <a:srgbClr val="000000"/>
              </a:solidFill>
              <a:latin typeface="宋体" panose="02010600030101010101" pitchFamily="2" charset="-122"/>
              <a:ea typeface="宋体" panose="02010600030101010101" pitchFamily="2" charset="-122"/>
            </a:endParaRPr>
          </a:p>
        </p:txBody>
      </p:sp>
      <p:pic>
        <p:nvPicPr>
          <p:cNvPr id="38" name="图片 37"/>
          <p:cNvPicPr>
            <a:picLocks noChangeAspect="1"/>
          </p:cNvPicPr>
          <p:nvPr/>
        </p:nvPicPr>
        <p:blipFill>
          <a:blip r:embed="rId5"/>
          <a:stretch>
            <a:fillRect/>
          </a:stretch>
        </p:blipFill>
        <p:spPr>
          <a:xfrm>
            <a:off x="5976620" y="3596640"/>
            <a:ext cx="2885440" cy="2710815"/>
          </a:xfrm>
          <a:prstGeom prst="rect">
            <a:avLst/>
          </a:prstGeom>
        </p:spPr>
      </p:pic>
      <p:sp>
        <p:nvSpPr>
          <p:cNvPr id="39" name="文本框 38"/>
          <p:cNvSpPr txBox="1"/>
          <p:nvPr/>
        </p:nvSpPr>
        <p:spPr>
          <a:xfrm>
            <a:off x="1336040" y="2505710"/>
            <a:ext cx="1016000" cy="275590"/>
          </a:xfrm>
          <a:prstGeom prst="rect">
            <a:avLst/>
          </a:prstGeom>
          <a:noFill/>
        </p:spPr>
        <p:txBody>
          <a:bodyPr wrap="square" rtlCol="0">
            <a:spAutoFit/>
          </a:bodyPr>
          <a:p>
            <a:r>
              <a:rPr lang="en-US" altLang="zh-CN" sz="1200" b="1"/>
              <a:t>NPFSP</a:t>
            </a:r>
            <a:endParaRPr lang="en-US" altLang="zh-CN" sz="1200" b="1"/>
          </a:p>
        </p:txBody>
      </p:sp>
      <p:sp>
        <p:nvSpPr>
          <p:cNvPr id="40" name="文本框 39"/>
          <p:cNvSpPr txBox="1"/>
          <p:nvPr/>
        </p:nvSpPr>
        <p:spPr>
          <a:xfrm>
            <a:off x="4069080" y="2402205"/>
            <a:ext cx="1289685" cy="275590"/>
          </a:xfrm>
          <a:prstGeom prst="rect">
            <a:avLst/>
          </a:prstGeom>
          <a:noFill/>
        </p:spPr>
        <p:txBody>
          <a:bodyPr wrap="square" rtlCol="0" anchor="t">
            <a:spAutoFit/>
          </a:bodyPr>
          <a:p>
            <a:r>
              <a:rPr lang="en-US" altLang="zh-CN" sz="1200" b="1">
                <a:sym typeface="+mn-ea"/>
              </a:rPr>
              <a:t>JSP</a:t>
            </a:r>
            <a:endParaRPr lang="en-US" altLang="zh-CN" sz="1200" b="1">
              <a:sym typeface="+mn-ea"/>
            </a:endParaRPr>
          </a:p>
        </p:txBody>
      </p:sp>
      <p:sp>
        <p:nvSpPr>
          <p:cNvPr id="41" name="文本框 40"/>
          <p:cNvSpPr txBox="1"/>
          <p:nvPr/>
        </p:nvSpPr>
        <p:spPr>
          <a:xfrm>
            <a:off x="7132955" y="927735"/>
            <a:ext cx="572770" cy="275590"/>
          </a:xfrm>
          <a:prstGeom prst="rect">
            <a:avLst/>
          </a:prstGeom>
          <a:noFill/>
        </p:spPr>
        <p:txBody>
          <a:bodyPr wrap="square" rtlCol="0" anchor="t">
            <a:spAutoFit/>
          </a:bodyPr>
          <a:p>
            <a:r>
              <a:rPr lang="en-US" altLang="zh-CN" sz="1200" b="1">
                <a:sym typeface="+mn-ea"/>
              </a:rPr>
              <a:t>FJSP</a:t>
            </a:r>
            <a:endParaRPr lang="en-US" altLang="zh-CN" sz="1200" b="1">
              <a:sym typeface="+mn-ea"/>
            </a:endParaRPr>
          </a:p>
        </p:txBody>
      </p:sp>
      <p:sp>
        <p:nvSpPr>
          <p:cNvPr id="42" name="文本框 41"/>
          <p:cNvSpPr txBox="1"/>
          <p:nvPr/>
        </p:nvSpPr>
        <p:spPr>
          <a:xfrm>
            <a:off x="6847840" y="3322955"/>
            <a:ext cx="1143000" cy="275590"/>
          </a:xfrm>
          <a:prstGeom prst="rect">
            <a:avLst/>
          </a:prstGeom>
          <a:noFill/>
        </p:spPr>
        <p:txBody>
          <a:bodyPr wrap="square" rtlCol="0" anchor="t">
            <a:spAutoFit/>
          </a:bodyPr>
          <a:p>
            <a:r>
              <a:rPr lang="en-US" altLang="zh-CN" sz="1200" b="1">
                <a:solidFill>
                  <a:srgbClr val="000000"/>
                </a:solidFill>
                <a:latin typeface="Times New Roman" panose="02020603050405020304"/>
                <a:ea typeface="Times New Roman" panose="02020603050405020304"/>
                <a:sym typeface="+mn-ea"/>
              </a:rPr>
              <a:t>vdata 实例集</a:t>
            </a:r>
            <a:endParaRPr lang="en-US" altLang="zh-CN" sz="1200" b="1">
              <a:solidFill>
                <a:srgbClr val="000000"/>
              </a:solidFill>
              <a:latin typeface="Times New Roman" panose="02020603050405020304"/>
              <a:ea typeface="Times New Roman" panose="02020603050405020304"/>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57892"/>
    </mc:Choice>
    <mc:Fallback>
      <p:transition spd="slow" advTm="5789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基于元强化学习的调度模型（</a:t>
            </a:r>
            <a:r>
              <a:rPr lang="en-US" altLang="zh-CN" dirty="0">
                <a:sym typeface="+mn-ea"/>
              </a:rPr>
              <a:t>MRL</a:t>
            </a:r>
            <a:r>
              <a:rPr lang="zh-CN" altLang="en-US" dirty="0">
                <a:sym typeface="+mn-ea"/>
              </a:rPr>
              <a:t>）</a:t>
            </a:r>
            <a:endParaRPr lang="zh-CN" altLang="en-US"/>
          </a:p>
        </p:txBody>
      </p:sp>
      <p:sp>
        <p:nvSpPr>
          <p:cNvPr id="3" name="灯片编号占位符 2"/>
          <p:cNvSpPr>
            <a:spLocks noGrp="1"/>
          </p:cNvSpPr>
          <p:nvPr>
            <p:ph type="sldNum" sz="quarter" idx="12"/>
          </p:nvPr>
        </p:nvSpPr>
        <p:spPr/>
        <p:txBody>
          <a:bodyPr/>
          <a:p>
            <a:r>
              <a:rPr lang="en-US" altLang="zh-CN" dirty="0"/>
              <a:t>11</a:t>
            </a:r>
            <a:endParaRPr lang="en-US" altLang="zh-CN" dirty="0"/>
          </a:p>
        </p:txBody>
      </p:sp>
      <p:pic>
        <p:nvPicPr>
          <p:cNvPr id="4" name="图片 3"/>
          <p:cNvPicPr>
            <a:picLocks noChangeAspect="1"/>
          </p:cNvPicPr>
          <p:nvPr/>
        </p:nvPicPr>
        <p:blipFill>
          <a:blip r:embed="rId1"/>
          <a:stretch>
            <a:fillRect/>
          </a:stretch>
        </p:blipFill>
        <p:spPr>
          <a:xfrm>
            <a:off x="334645" y="1049655"/>
            <a:ext cx="6779260" cy="5373370"/>
          </a:xfrm>
          <a:prstGeom prst="rect">
            <a:avLst/>
          </a:prstGeom>
        </p:spPr>
      </p:pic>
      <p:sp>
        <p:nvSpPr>
          <p:cNvPr id="6" name="文本框 5"/>
          <p:cNvSpPr txBox="1"/>
          <p:nvPr/>
        </p:nvSpPr>
        <p:spPr>
          <a:xfrm>
            <a:off x="7592060" y="897255"/>
            <a:ext cx="3048000" cy="368300"/>
          </a:xfrm>
          <a:prstGeom prst="rect">
            <a:avLst/>
          </a:prstGeom>
          <a:noFill/>
        </p:spPr>
        <p:txBody>
          <a:bodyPr wrap="square" rtlCol="0">
            <a:spAutoFit/>
          </a:bodyPr>
          <a:p>
            <a:r>
              <a:rPr lang="zh-CN" altLang="en-US"/>
              <a:t>结论</a:t>
            </a:r>
            <a:endParaRPr lang="zh-CN" altLang="en-US"/>
          </a:p>
        </p:txBody>
      </p:sp>
      <p:sp>
        <p:nvSpPr>
          <p:cNvPr id="7" name="文本框 6"/>
          <p:cNvSpPr txBox="1"/>
          <p:nvPr/>
        </p:nvSpPr>
        <p:spPr>
          <a:xfrm>
            <a:off x="7266305" y="1513205"/>
            <a:ext cx="1877695" cy="460375"/>
          </a:xfrm>
          <a:prstGeom prst="rect">
            <a:avLst/>
          </a:prstGeom>
          <a:noFill/>
        </p:spPr>
        <p:txBody>
          <a:bodyPr wrap="square" rtlCol="0">
            <a:spAutoFit/>
          </a:bodyPr>
          <a:p>
            <a:r>
              <a:rPr lang="en-US" altLang="zh-CN" sz="1200"/>
              <a:t>1.MRL</a:t>
            </a:r>
            <a:r>
              <a:rPr lang="zh-CN" altLang="en-US" sz="1200"/>
              <a:t>在三种类型的车间上均有较好的求解性能</a:t>
            </a:r>
            <a:endParaRPr lang="zh-CN" altLang="en-US" sz="1200"/>
          </a:p>
        </p:txBody>
      </p:sp>
      <p:sp>
        <p:nvSpPr>
          <p:cNvPr id="8" name="文本框 7"/>
          <p:cNvSpPr txBox="1"/>
          <p:nvPr/>
        </p:nvSpPr>
        <p:spPr>
          <a:xfrm>
            <a:off x="7266305" y="2027555"/>
            <a:ext cx="1765935" cy="1014730"/>
          </a:xfrm>
          <a:prstGeom prst="rect">
            <a:avLst/>
          </a:prstGeom>
          <a:noFill/>
        </p:spPr>
        <p:txBody>
          <a:bodyPr wrap="square" rtlCol="0" anchor="t">
            <a:spAutoFit/>
          </a:bodyPr>
          <a:p>
            <a:r>
              <a:rPr lang="en-US" altLang="zh-CN" sz="1200">
                <a:sym typeface="+mn-ea"/>
              </a:rPr>
              <a:t>2.MRL</a:t>
            </a:r>
            <a:r>
              <a:rPr lang="zh-CN" altLang="en-US" sz="1200">
                <a:sym typeface="+mn-ea"/>
              </a:rPr>
              <a:t>在所有算例上性能均好于启发式规则，</a:t>
            </a:r>
            <a:r>
              <a:rPr lang="zh-CN" altLang="en-US" sz="1200">
                <a:sym typeface="+mn-ea"/>
              </a:rPr>
              <a:t>求解质量接近其他强化学习方法，略差于元启发式算法</a:t>
            </a:r>
            <a:r>
              <a:rPr lang="zh-CN" altLang="en-US" sz="1200">
                <a:sym typeface="+mn-ea"/>
              </a:rPr>
              <a:t>算法。</a:t>
            </a:r>
            <a:endParaRPr lang="zh-CN" altLang="en-US" sz="1200">
              <a:sym typeface="+mn-ea"/>
            </a:endParaRPr>
          </a:p>
        </p:txBody>
      </p:sp>
      <p:sp>
        <p:nvSpPr>
          <p:cNvPr id="9" name="文本框 8"/>
          <p:cNvSpPr txBox="1"/>
          <p:nvPr/>
        </p:nvSpPr>
        <p:spPr>
          <a:xfrm>
            <a:off x="2411730" y="840105"/>
            <a:ext cx="3048000" cy="275590"/>
          </a:xfrm>
          <a:prstGeom prst="rect">
            <a:avLst/>
          </a:prstGeom>
          <a:noFill/>
        </p:spPr>
        <p:txBody>
          <a:bodyPr wrap="square" rtlCol="0">
            <a:spAutoFit/>
          </a:bodyPr>
          <a:p>
            <a:r>
              <a:rPr lang="zh-CN" altLang="en-US" sz="1200" b="1"/>
              <a:t>标准算例</a:t>
            </a:r>
            <a:r>
              <a:rPr lang="zh-CN" altLang="en-US" sz="1200" b="1"/>
              <a:t>求解结果</a:t>
            </a:r>
            <a:endParaRPr lang="zh-CN" altLang="en-US" sz="12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custDataLst>
              <p:tags r:id="rId1"/>
            </p:custDataLst>
          </p:nvPr>
        </p:nvGrpSpPr>
        <p:grpSpPr>
          <a:xfrm>
            <a:off x="4572000" y="1903730"/>
            <a:ext cx="3910965" cy="2896263"/>
            <a:chOff x="4572000" y="2331450"/>
            <a:chExt cx="3285600" cy="2914371"/>
          </a:xfrm>
        </p:grpSpPr>
        <p:sp>
          <p:nvSpPr>
            <p:cNvPr id="4" name="矩形 3"/>
            <p:cNvSpPr/>
            <p:nvPr>
              <p:custDataLst>
                <p:tags r:id="rId2"/>
              </p:custDataLst>
            </p:nvPr>
          </p:nvSpPr>
          <p:spPr>
            <a:xfrm>
              <a:off x="4572000" y="2345681"/>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9"/>
            <p:cNvSpPr txBox="1"/>
            <p:nvPr>
              <p:custDataLst>
                <p:tags r:id="rId3"/>
              </p:custDataLst>
            </p:nvPr>
          </p:nvSpPr>
          <p:spPr>
            <a:xfrm>
              <a:off x="5192495" y="2331450"/>
              <a:ext cx="2452266"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研究背景</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12" name="矩形 11"/>
            <p:cNvSpPr/>
            <p:nvPr>
              <p:custDataLst>
                <p:tags r:id="rId4"/>
              </p:custDataLst>
            </p:nvPr>
          </p:nvSpPr>
          <p:spPr>
            <a:xfrm>
              <a:off x="4572000" y="293227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9"/>
            <p:cNvSpPr txBox="1"/>
            <p:nvPr>
              <p:custDataLst>
                <p:tags r:id="rId5"/>
              </p:custDataLst>
            </p:nvPr>
          </p:nvSpPr>
          <p:spPr>
            <a:xfrm>
              <a:off x="5192495" y="2932277"/>
              <a:ext cx="2657725"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sym typeface="+mn-ea"/>
                </a:rPr>
                <a:t>元强化学习</a:t>
              </a:r>
              <a:r>
                <a:rPr lang="zh-CN" altLang="en-US" sz="2400" dirty="0">
                  <a:solidFill>
                    <a:srgbClr val="00458E"/>
                  </a:solidFill>
                  <a:latin typeface="微软雅黑" panose="020B0503020204020204" pitchFamily="34" charset="-122"/>
                  <a:ea typeface="微软雅黑" panose="020B0503020204020204" pitchFamily="34" charset="-122"/>
                  <a:sym typeface="+mn-ea"/>
                </a:rPr>
                <a:t>框架</a:t>
              </a:r>
              <a:endParaRPr lang="zh-CN" altLang="en-US" sz="2400" dirty="0">
                <a:solidFill>
                  <a:srgbClr val="00458E"/>
                </a:solidFill>
                <a:latin typeface="微软雅黑" panose="020B0503020204020204" pitchFamily="34" charset="-122"/>
                <a:ea typeface="微软雅黑" panose="020B0503020204020204" pitchFamily="34" charset="-122"/>
                <a:sym typeface="+mn-ea"/>
              </a:endParaRPr>
            </a:p>
          </p:txBody>
        </p:sp>
        <p:sp>
          <p:nvSpPr>
            <p:cNvPr id="20" name="文本框 19"/>
            <p:cNvSpPr txBox="1"/>
            <p:nvPr>
              <p:custDataLst>
                <p:tags r:id="rId6"/>
              </p:custDataLst>
            </p:nvPr>
          </p:nvSpPr>
          <p:spPr>
            <a:xfrm>
              <a:off x="4579381" y="2420171"/>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01</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custDataLst>
                <p:tags r:id="rId7"/>
              </p:custDataLst>
            </p:nvPr>
          </p:nvSpPr>
          <p:spPr>
            <a:xfrm>
              <a:off x="4579381" y="3006768"/>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02</a:t>
              </a:r>
              <a:endPar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custDataLst>
                <p:tags r:id="rId8"/>
              </p:custDataLst>
            </p:nvPr>
          </p:nvSpPr>
          <p:spPr>
            <a:xfrm>
              <a:off x="4579381" y="358384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9"/>
            <p:cNvSpPr txBox="1"/>
            <p:nvPr>
              <p:custDataLst>
                <p:tags r:id="rId9"/>
              </p:custDataLst>
            </p:nvPr>
          </p:nvSpPr>
          <p:spPr>
            <a:xfrm>
              <a:off x="5199875" y="3569616"/>
              <a:ext cx="2657725"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多类型车间单目标</a:t>
              </a:r>
              <a:r>
                <a:rPr lang="zh-CN" altLang="en-US" sz="2400" dirty="0">
                  <a:solidFill>
                    <a:srgbClr val="00458E"/>
                  </a:solidFill>
                  <a:latin typeface="微软雅黑" panose="020B0503020204020204" pitchFamily="34" charset="-122"/>
                  <a:ea typeface="微软雅黑" panose="020B0503020204020204" pitchFamily="34" charset="-122"/>
                </a:rPr>
                <a:t>调度</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10"/>
              </p:custDataLst>
            </p:nvPr>
          </p:nvSpPr>
          <p:spPr>
            <a:xfrm>
              <a:off x="4586762" y="3658337"/>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11"/>
              </p:custDataLst>
            </p:nvPr>
          </p:nvSpPr>
          <p:spPr>
            <a:xfrm>
              <a:off x="4586762" y="4213133"/>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9"/>
            <p:cNvSpPr txBox="1"/>
            <p:nvPr>
              <p:custDataLst>
                <p:tags r:id="rId12"/>
              </p:custDataLst>
            </p:nvPr>
          </p:nvSpPr>
          <p:spPr>
            <a:xfrm>
              <a:off x="5207256" y="4198902"/>
              <a:ext cx="2642963" cy="409580"/>
            </a:xfrm>
            <a:prstGeom prst="rect">
              <a:avLst/>
            </a:prstGeom>
            <a:noFill/>
          </p:spPr>
          <p:txBody>
            <a:bodyPr wrap="square" lIns="38567" tIns="19283" rIns="38567" bIns="19283" rtlCol="0">
              <a:spAutoFit/>
            </a:bodyPr>
            <a:lstStyle/>
            <a:p>
              <a:pPr marL="0" lvl="1"/>
              <a:r>
                <a:rPr lang="zh-CN" altLang="en-US" sz="2400" b="1" dirty="0">
                  <a:solidFill>
                    <a:schemeClr val="tx1"/>
                  </a:solidFill>
                  <a:latin typeface="微软雅黑" panose="020B0503020204020204" pitchFamily="34" charset="-122"/>
                  <a:ea typeface="微软雅黑" panose="020B0503020204020204" pitchFamily="34" charset="-122"/>
                </a:rPr>
                <a:t>基于分解的多目标调度</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13"/>
              </p:custDataLst>
            </p:nvPr>
          </p:nvSpPr>
          <p:spPr>
            <a:xfrm>
              <a:off x="4594143" y="4287623"/>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04</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custDataLst>
                <p:tags r:id="rId14"/>
              </p:custDataLst>
            </p:nvPr>
          </p:nvSpPr>
          <p:spPr>
            <a:xfrm>
              <a:off x="4594143" y="4850472"/>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9"/>
            <p:cNvSpPr txBox="1"/>
            <p:nvPr>
              <p:custDataLst>
                <p:tags r:id="rId15"/>
              </p:custDataLst>
            </p:nvPr>
          </p:nvSpPr>
          <p:spPr>
            <a:xfrm>
              <a:off x="5214638" y="4836241"/>
              <a:ext cx="2452266"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总结与展望</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16"/>
              </p:custDataLst>
            </p:nvPr>
          </p:nvSpPr>
          <p:spPr>
            <a:xfrm>
              <a:off x="4601524" y="4924962"/>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05</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59"/>
    </mc:Choice>
    <mc:Fallback>
      <p:transition spd="slow" advTm="35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基于分解的多目标优化</a:t>
            </a:r>
            <a:r>
              <a:rPr lang="zh-CN" altLang="en-US" dirty="0"/>
              <a:t>模型</a:t>
            </a:r>
            <a:endParaRPr lang="zh-CN" altLang="en-US" dirty="0"/>
          </a:p>
        </p:txBody>
      </p:sp>
      <p:sp>
        <p:nvSpPr>
          <p:cNvPr id="5" name="文本框 4"/>
          <p:cNvSpPr txBox="1"/>
          <p:nvPr/>
        </p:nvSpPr>
        <p:spPr>
          <a:xfrm>
            <a:off x="141051" y="641055"/>
            <a:ext cx="4581726" cy="561975"/>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多目标分解（完工时间；</a:t>
            </a:r>
            <a:r>
              <a:rPr lang="zh-CN" altLang="en-US" b="1" dirty="0">
                <a:latin typeface="微软雅黑" panose="020B0503020204020204" pitchFamily="34" charset="-122"/>
                <a:ea typeface="微软雅黑" panose="020B0503020204020204" pitchFamily="34" charset="-122"/>
                <a:sym typeface="+mn-ea"/>
              </a:rPr>
              <a:t>总拖期）</a:t>
            </a:r>
            <a:endParaRPr lang="zh-CN" altLang="en-US" b="1" dirty="0">
              <a:latin typeface="微软雅黑" panose="020B0503020204020204" pitchFamily="34" charset="-122"/>
              <a:ea typeface="微软雅黑" panose="020B0503020204020204" pitchFamily="34" charset="-122"/>
              <a:sym typeface="+mn-ea"/>
            </a:endParaRPr>
          </a:p>
        </p:txBody>
      </p:sp>
      <p:sp>
        <p:nvSpPr>
          <p:cNvPr id="6" name="灯片编号占位符 5"/>
          <p:cNvSpPr>
            <a:spLocks noGrp="1"/>
          </p:cNvSpPr>
          <p:nvPr>
            <p:ph type="sldNum" sz="quarter" idx="12"/>
          </p:nvPr>
        </p:nvSpPr>
        <p:spPr/>
        <p:txBody>
          <a:bodyPr/>
          <a:lstStyle/>
          <a:p>
            <a:r>
              <a:rPr lang="en-US" altLang="zh-CN"/>
              <a:t>12</a:t>
            </a:r>
            <a:endParaRPr lang="en-US" altLang="zh-CN"/>
          </a:p>
        </p:txBody>
      </p:sp>
      <p:pic>
        <p:nvPicPr>
          <p:cNvPr id="8" name="图片 7"/>
          <p:cNvPicPr>
            <a:picLocks noChangeAspect="1"/>
          </p:cNvPicPr>
          <p:nvPr/>
        </p:nvPicPr>
        <p:blipFill>
          <a:blip r:embed="rId1"/>
          <a:stretch>
            <a:fillRect/>
          </a:stretch>
        </p:blipFill>
        <p:spPr>
          <a:xfrm>
            <a:off x="2508250" y="1102360"/>
            <a:ext cx="6210935" cy="570865"/>
          </a:xfrm>
          <a:prstGeom prst="rect">
            <a:avLst/>
          </a:prstGeom>
        </p:spPr>
      </p:pic>
      <p:sp>
        <p:nvSpPr>
          <p:cNvPr id="10" name="文本框 9"/>
          <p:cNvSpPr txBox="1"/>
          <p:nvPr/>
        </p:nvSpPr>
        <p:spPr>
          <a:xfrm>
            <a:off x="70485" y="1203325"/>
            <a:ext cx="3048000" cy="368300"/>
          </a:xfrm>
          <a:prstGeom prst="rect">
            <a:avLst/>
          </a:prstGeom>
          <a:noFill/>
        </p:spPr>
        <p:txBody>
          <a:bodyPr wrap="square" rtlCol="0">
            <a:spAutoFit/>
          </a:bodyPr>
          <a:p>
            <a:r>
              <a:rPr lang="zh-CN" altLang="en-US"/>
              <a:t>单纯形法得到权重</a:t>
            </a:r>
            <a:r>
              <a:rPr lang="zh-CN" altLang="en-US"/>
              <a:t>集合：</a:t>
            </a:r>
            <a:endParaRPr lang="zh-CN" altLang="en-US"/>
          </a:p>
        </p:txBody>
      </p:sp>
      <p:sp>
        <p:nvSpPr>
          <p:cNvPr id="12" name="文本框 11"/>
          <p:cNvSpPr txBox="1"/>
          <p:nvPr/>
        </p:nvSpPr>
        <p:spPr>
          <a:xfrm>
            <a:off x="70485" y="1736090"/>
            <a:ext cx="3048000" cy="368300"/>
          </a:xfrm>
          <a:prstGeom prst="rect">
            <a:avLst/>
          </a:prstGeom>
          <a:noFill/>
        </p:spPr>
        <p:txBody>
          <a:bodyPr wrap="square" rtlCol="0">
            <a:spAutoFit/>
          </a:bodyPr>
          <a:p>
            <a:r>
              <a:rPr lang="zh-CN" altLang="en-US"/>
              <a:t>权重分解法（</a:t>
            </a:r>
            <a:r>
              <a:rPr lang="en-US" altLang="zh-CN"/>
              <a:t>WS</a:t>
            </a:r>
            <a:r>
              <a:rPr lang="zh-CN" altLang="en-US"/>
              <a:t>）：</a:t>
            </a:r>
            <a:endParaRPr lang="zh-CN" altLang="en-US"/>
          </a:p>
        </p:txBody>
      </p:sp>
      <p:pic>
        <p:nvPicPr>
          <p:cNvPr id="14" name="图片 13"/>
          <p:cNvPicPr>
            <a:picLocks noChangeAspect="1"/>
          </p:cNvPicPr>
          <p:nvPr/>
        </p:nvPicPr>
        <p:blipFill>
          <a:blip r:embed="rId2"/>
          <a:srcRect l="19041" t="-918"/>
          <a:stretch>
            <a:fillRect/>
          </a:stretch>
        </p:blipFill>
        <p:spPr>
          <a:xfrm>
            <a:off x="2242185" y="1571625"/>
            <a:ext cx="4781550" cy="697865"/>
          </a:xfrm>
          <a:prstGeom prst="rect">
            <a:avLst/>
          </a:prstGeom>
        </p:spPr>
      </p:pic>
      <p:pic>
        <p:nvPicPr>
          <p:cNvPr id="15" name="图片 14"/>
          <p:cNvPicPr>
            <a:picLocks noChangeAspect="1"/>
          </p:cNvPicPr>
          <p:nvPr/>
        </p:nvPicPr>
        <p:blipFill>
          <a:blip r:embed="rId3"/>
          <a:stretch>
            <a:fillRect/>
          </a:stretch>
        </p:blipFill>
        <p:spPr>
          <a:xfrm>
            <a:off x="5128260" y="2015490"/>
            <a:ext cx="4174490" cy="608330"/>
          </a:xfrm>
          <a:prstGeom prst="rect">
            <a:avLst/>
          </a:prstGeom>
        </p:spPr>
      </p:pic>
      <p:sp>
        <p:nvSpPr>
          <p:cNvPr id="17" name="直角上箭头 16"/>
          <p:cNvSpPr/>
          <p:nvPr/>
        </p:nvSpPr>
        <p:spPr>
          <a:xfrm flipH="1">
            <a:off x="4722495" y="2104390"/>
            <a:ext cx="463550" cy="260350"/>
          </a:xfrm>
          <a:prstGeom prst="ben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140970" y="2430145"/>
            <a:ext cx="4572000" cy="561975"/>
          </a:xfrm>
          <a:prstGeom prst="rect">
            <a:avLst/>
          </a:prstGeom>
          <a:noFill/>
        </p:spPr>
        <p:txBody>
          <a:bodyPr wrap="square" rtlCol="0" anchor="t">
            <a:spAutoFit/>
          </a:bodyPr>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邻域蒸馏和参数</a:t>
            </a:r>
            <a:r>
              <a:rPr lang="zh-CN" altLang="en-US" b="1" dirty="0">
                <a:latin typeface="微软雅黑" panose="020B0503020204020204" pitchFamily="34" charset="-122"/>
                <a:ea typeface="微软雅黑" panose="020B0503020204020204" pitchFamily="34" charset="-122"/>
                <a:sym typeface="+mn-ea"/>
              </a:rPr>
              <a:t>继承</a:t>
            </a:r>
            <a:endParaRPr lang="zh-CN" altLang="en-US" b="1" dirty="0">
              <a:latin typeface="微软雅黑" panose="020B0503020204020204" pitchFamily="34" charset="-122"/>
              <a:ea typeface="微软雅黑" panose="020B0503020204020204" pitchFamily="34" charset="-122"/>
              <a:sym typeface="+mn-ea"/>
            </a:endParaRPr>
          </a:p>
        </p:txBody>
      </p:sp>
      <p:sp>
        <p:nvSpPr>
          <p:cNvPr id="19" name="等腰三角形 18"/>
          <p:cNvSpPr/>
          <p:nvPr/>
        </p:nvSpPr>
        <p:spPr>
          <a:xfrm>
            <a:off x="725805" y="3077210"/>
            <a:ext cx="516890" cy="427355"/>
          </a:xfrm>
          <a:prstGeom prst="triangle">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22" name="文本框 21"/>
              <p:cNvSpPr txBox="1"/>
              <p:nvPr/>
            </p:nvSpPr>
            <p:spPr>
              <a:xfrm>
                <a:off x="840105" y="3146425"/>
                <a:ext cx="288925" cy="358140"/>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a:sym typeface="+mn-ea"/>
                            </a:rPr>
                            <m:t>λ</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p:sp>
            <p:nvSpPr>
              <p:cNvPr id="22" name="文本框 21"/>
              <p:cNvSpPr txBox="1">
                <a:spLocks noRot="1" noChangeAspect="1" noMove="1" noResize="1" noEditPoints="1" noAdjustHandles="1" noChangeArrowheads="1" noChangeShapeType="1" noTextEdit="1"/>
              </p:cNvSpPr>
              <p:nvPr/>
            </p:nvSpPr>
            <p:spPr>
              <a:xfrm>
                <a:off x="840105" y="3146425"/>
                <a:ext cx="288925" cy="358140"/>
              </a:xfrm>
              <a:prstGeom prst="rect">
                <a:avLst/>
              </a:prstGeom>
              <a:blipFill rotWithShape="1">
                <a:blip r:embed="rId4"/>
                <a:stretch>
                  <a:fillRect r="-4396"/>
                </a:stretch>
              </a:blipFill>
            </p:spPr>
            <p:txBody>
              <a:bodyPr/>
              <a:lstStyle/>
              <a:p>
                <a:r>
                  <a:rPr lang="zh-CN" altLang="en-US">
                    <a:noFill/>
                  </a:rPr>
                  <a:t> </a:t>
                </a:r>
              </a:p>
            </p:txBody>
          </p:sp>
        </mc:Fallback>
      </mc:AlternateContent>
      <p:sp>
        <p:nvSpPr>
          <p:cNvPr id="23" name="等腰三角形 22"/>
          <p:cNvSpPr/>
          <p:nvPr/>
        </p:nvSpPr>
        <p:spPr>
          <a:xfrm>
            <a:off x="1467485" y="3077210"/>
            <a:ext cx="516890" cy="427355"/>
          </a:xfrm>
          <a:prstGeom prst="triangl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24" name="文本框 23"/>
              <p:cNvSpPr txBox="1"/>
              <p:nvPr/>
            </p:nvSpPr>
            <p:spPr>
              <a:xfrm>
                <a:off x="1581785" y="3146425"/>
                <a:ext cx="288925" cy="358140"/>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a:latin typeface="Cambria Math" panose="02040503050406030204" pitchFamily="18" charset="0"/>
                              <a:sym typeface="+mn-ea"/>
                            </a:rPr>
                            <m:t>𝜆</m:t>
                          </m:r>
                        </m:e>
                        <m:sub>
                          <m:r>
                            <a:rPr lang="en-US" altLang="zh-CN">
                              <a:latin typeface="Cambria Math" panose="02040503050406030204" pitchFamily="18" charset="0"/>
                              <a:sym typeface="+mn-ea"/>
                            </a:rPr>
                            <m:t>2</m:t>
                          </m:r>
                        </m:sub>
                      </m:sSub>
                    </m:oMath>
                  </m:oMathPara>
                </a14:m>
                <a:endParaRPr lang="zh-CN" altLang="en-US"/>
              </a:p>
            </p:txBody>
          </p:sp>
        </mc:Choice>
        <mc:Fallback>
          <p:sp>
            <p:nvSpPr>
              <p:cNvPr id="24" name="文本框 23"/>
              <p:cNvSpPr txBox="1">
                <a:spLocks noRot="1" noChangeAspect="1" noMove="1" noResize="1" noEditPoints="1" noAdjustHandles="1" noChangeArrowheads="1" noChangeShapeType="1" noTextEdit="1"/>
              </p:cNvSpPr>
              <p:nvPr/>
            </p:nvSpPr>
            <p:spPr>
              <a:xfrm>
                <a:off x="1581785" y="3146425"/>
                <a:ext cx="288925" cy="358140"/>
              </a:xfrm>
              <a:prstGeom prst="rect">
                <a:avLst/>
              </a:prstGeom>
              <a:blipFill rotWithShape="1">
                <a:blip r:embed="rId5"/>
                <a:stretch>
                  <a:fillRect r="-8571"/>
                </a:stretch>
              </a:blipFill>
            </p:spPr>
            <p:txBody>
              <a:bodyPr/>
              <a:lstStyle/>
              <a:p>
                <a:r>
                  <a:rPr lang="zh-CN" altLang="en-US">
                    <a:noFill/>
                  </a:rPr>
                  <a:t> </a:t>
                </a:r>
              </a:p>
            </p:txBody>
          </p:sp>
        </mc:Fallback>
      </mc:AlternateContent>
      <p:sp>
        <p:nvSpPr>
          <p:cNvPr id="25" name="等腰三角形 24"/>
          <p:cNvSpPr/>
          <p:nvPr/>
        </p:nvSpPr>
        <p:spPr>
          <a:xfrm>
            <a:off x="2237105" y="3077210"/>
            <a:ext cx="516890" cy="427355"/>
          </a:xfrm>
          <a:prstGeom prst="triangle">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26" name="文本框 25"/>
              <p:cNvSpPr txBox="1"/>
              <p:nvPr/>
            </p:nvSpPr>
            <p:spPr>
              <a:xfrm>
                <a:off x="2351405" y="3146425"/>
                <a:ext cx="288925" cy="358140"/>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a:latin typeface="Cambria Math" panose="02040503050406030204" pitchFamily="18" charset="0"/>
                              <a:sym typeface="+mn-ea"/>
                            </a:rPr>
                            <m:t>𝜆</m:t>
                          </m:r>
                        </m:e>
                        <m:sub>
                          <m:r>
                            <a:rPr lang="en-US" altLang="zh-CN">
                              <a:latin typeface="Cambria Math" panose="02040503050406030204" pitchFamily="18" charset="0"/>
                              <a:sym typeface="+mn-ea"/>
                            </a:rPr>
                            <m:t>3</m:t>
                          </m:r>
                        </m:sub>
                      </m:sSub>
                    </m:oMath>
                  </m:oMathPara>
                </a14:m>
                <a:endParaRPr lang="zh-CN" altLang="en-US"/>
              </a:p>
            </p:txBody>
          </p:sp>
        </mc:Choice>
        <mc:Fallback>
          <p:sp>
            <p:nvSpPr>
              <p:cNvPr id="26" name="文本框 25"/>
              <p:cNvSpPr txBox="1">
                <a:spLocks noRot="1" noChangeAspect="1" noMove="1" noResize="1" noEditPoints="1" noAdjustHandles="1" noChangeArrowheads="1" noChangeShapeType="1" noTextEdit="1"/>
              </p:cNvSpPr>
              <p:nvPr/>
            </p:nvSpPr>
            <p:spPr>
              <a:xfrm>
                <a:off x="2351405" y="3146425"/>
                <a:ext cx="288925" cy="358140"/>
              </a:xfrm>
              <a:prstGeom prst="rect">
                <a:avLst/>
              </a:prstGeom>
              <a:blipFill rotWithShape="1">
                <a:blip r:embed="rId6"/>
                <a:stretch>
                  <a:fillRect r="-8571"/>
                </a:stretch>
              </a:blipFill>
            </p:spPr>
            <p:txBody>
              <a:bodyPr/>
              <a:lstStyle/>
              <a:p>
                <a:r>
                  <a:rPr lang="zh-CN" altLang="en-US">
                    <a:noFill/>
                  </a:rPr>
                  <a:t> </a:t>
                </a:r>
              </a:p>
            </p:txBody>
          </p:sp>
        </mc:Fallback>
      </mc:AlternateContent>
      <p:sp>
        <p:nvSpPr>
          <p:cNvPr id="27" name="等腰三角形 26"/>
          <p:cNvSpPr/>
          <p:nvPr/>
        </p:nvSpPr>
        <p:spPr>
          <a:xfrm>
            <a:off x="3786505" y="3077210"/>
            <a:ext cx="516890" cy="427355"/>
          </a:xfrm>
          <a:prstGeom prst="triangle">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28" name="文本框 27"/>
              <p:cNvSpPr txBox="1"/>
              <p:nvPr/>
            </p:nvSpPr>
            <p:spPr>
              <a:xfrm>
                <a:off x="3900805" y="3146425"/>
                <a:ext cx="288925" cy="358140"/>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a:latin typeface="Cambria Math" panose="02040503050406030204" pitchFamily="18" charset="0"/>
                              <a:sym typeface="+mn-ea"/>
                            </a:rPr>
                            <m:t>𝜆</m:t>
                          </m:r>
                        </m:e>
                        <m:sub>
                          <m:r>
                            <a:rPr lang="en-US" altLang="zh-CN">
                              <a:latin typeface="Cambria Math" panose="02040503050406030204" pitchFamily="18" charset="0"/>
                              <a:sym typeface="+mn-ea"/>
                            </a:rPr>
                            <m:t>4</m:t>
                          </m:r>
                        </m:sub>
                      </m:sSub>
                    </m:oMath>
                  </m:oMathPara>
                </a14:m>
                <a:endParaRPr lang="zh-CN" altLang="en-US"/>
              </a:p>
            </p:txBody>
          </p:sp>
        </mc:Choice>
        <mc:Fallback>
          <p:sp>
            <p:nvSpPr>
              <p:cNvPr id="28" name="文本框 27"/>
              <p:cNvSpPr txBox="1">
                <a:spLocks noRot="1" noChangeAspect="1" noMove="1" noResize="1" noEditPoints="1" noAdjustHandles="1" noChangeArrowheads="1" noChangeShapeType="1" noTextEdit="1"/>
              </p:cNvSpPr>
              <p:nvPr/>
            </p:nvSpPr>
            <p:spPr>
              <a:xfrm>
                <a:off x="3900805" y="3146425"/>
                <a:ext cx="288925" cy="358140"/>
              </a:xfrm>
              <a:prstGeom prst="rect">
                <a:avLst/>
              </a:prstGeom>
              <a:blipFill rotWithShape="1">
                <a:blip r:embed="rId7"/>
                <a:stretch>
                  <a:fillRect r="-8571"/>
                </a:stretch>
              </a:blipFill>
            </p:spPr>
            <p:txBody>
              <a:bodyPr/>
              <a:lstStyle/>
              <a:p>
                <a:r>
                  <a:rPr lang="zh-CN" altLang="en-US">
                    <a:noFill/>
                  </a:rPr>
                  <a:t> </a:t>
                </a:r>
              </a:p>
            </p:txBody>
          </p:sp>
        </mc:Fallback>
      </mc:AlternateContent>
      <p:sp>
        <p:nvSpPr>
          <p:cNvPr id="29" name="等腰三角形 28"/>
          <p:cNvSpPr/>
          <p:nvPr/>
        </p:nvSpPr>
        <p:spPr>
          <a:xfrm>
            <a:off x="4573905" y="3077210"/>
            <a:ext cx="516890" cy="427355"/>
          </a:xfrm>
          <a:prstGeom prst="triangl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0" name="文本框 29"/>
              <p:cNvSpPr txBox="1"/>
              <p:nvPr/>
            </p:nvSpPr>
            <p:spPr>
              <a:xfrm>
                <a:off x="4688205" y="3146425"/>
                <a:ext cx="288925" cy="358140"/>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a:latin typeface="Cambria Math" panose="02040503050406030204" pitchFamily="18" charset="0"/>
                              <a:sym typeface="+mn-ea"/>
                            </a:rPr>
                            <m:t>𝜆</m:t>
                          </m:r>
                        </m:e>
                        <m:sub>
                          <m:r>
                            <a:rPr lang="en-US" altLang="zh-CN">
                              <a:latin typeface="Cambria Math" panose="02040503050406030204" pitchFamily="18" charset="0"/>
                              <a:sym typeface="+mn-ea"/>
                            </a:rPr>
                            <m:t>5</m:t>
                          </m:r>
                        </m:sub>
                      </m:sSub>
                    </m:oMath>
                  </m:oMathPara>
                </a14:m>
                <a:endParaRPr lang="zh-CN" altLang="en-US"/>
              </a:p>
            </p:txBody>
          </p:sp>
        </mc:Choice>
        <mc:Fallback>
          <p:sp>
            <p:nvSpPr>
              <p:cNvPr id="30" name="文本框 29"/>
              <p:cNvSpPr txBox="1">
                <a:spLocks noRot="1" noChangeAspect="1" noMove="1" noResize="1" noEditPoints="1" noAdjustHandles="1" noChangeArrowheads="1" noChangeShapeType="1" noTextEdit="1"/>
              </p:cNvSpPr>
              <p:nvPr/>
            </p:nvSpPr>
            <p:spPr>
              <a:xfrm>
                <a:off x="4688205" y="3146425"/>
                <a:ext cx="288925" cy="358140"/>
              </a:xfrm>
              <a:prstGeom prst="rect">
                <a:avLst/>
              </a:prstGeom>
              <a:blipFill rotWithShape="1">
                <a:blip r:embed="rId8"/>
                <a:stretch>
                  <a:fillRect r="-8571"/>
                </a:stretch>
              </a:blipFill>
            </p:spPr>
            <p:txBody>
              <a:bodyPr/>
              <a:lstStyle/>
              <a:p>
                <a:r>
                  <a:rPr lang="zh-CN" altLang="en-US">
                    <a:noFill/>
                  </a:rPr>
                  <a:t> </a:t>
                </a:r>
              </a:p>
            </p:txBody>
          </p:sp>
        </mc:Fallback>
      </mc:AlternateContent>
      <p:sp>
        <p:nvSpPr>
          <p:cNvPr id="31" name="等腰三角形 30"/>
          <p:cNvSpPr/>
          <p:nvPr/>
        </p:nvSpPr>
        <p:spPr>
          <a:xfrm>
            <a:off x="5361305" y="3077210"/>
            <a:ext cx="516890" cy="427355"/>
          </a:xfrm>
          <a:prstGeom prst="triangle">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2" name="文本框 31"/>
              <p:cNvSpPr txBox="1"/>
              <p:nvPr/>
            </p:nvSpPr>
            <p:spPr>
              <a:xfrm>
                <a:off x="5475605" y="3146425"/>
                <a:ext cx="288925" cy="358140"/>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a:latin typeface="Cambria Math" panose="02040503050406030204" pitchFamily="18" charset="0"/>
                              <a:sym typeface="+mn-ea"/>
                            </a:rPr>
                            <m:t>𝜆</m:t>
                          </m:r>
                        </m:e>
                        <m:sub>
                          <m:r>
                            <a:rPr lang="en-US" altLang="zh-CN">
                              <a:latin typeface="Cambria Math" panose="02040503050406030204" pitchFamily="18" charset="0"/>
                              <a:sym typeface="+mn-ea"/>
                            </a:rPr>
                            <m:t>6</m:t>
                          </m:r>
                        </m:sub>
                      </m:sSub>
                    </m:oMath>
                  </m:oMathPara>
                </a14:m>
                <a:endParaRPr lang="zh-CN" altLang="en-US"/>
              </a:p>
            </p:txBody>
          </p:sp>
        </mc:Choice>
        <mc:Fallback>
          <p:sp>
            <p:nvSpPr>
              <p:cNvPr id="32" name="文本框 31"/>
              <p:cNvSpPr txBox="1">
                <a:spLocks noRot="1" noChangeAspect="1" noMove="1" noResize="1" noEditPoints="1" noAdjustHandles="1" noChangeArrowheads="1" noChangeShapeType="1" noTextEdit="1"/>
              </p:cNvSpPr>
              <p:nvPr/>
            </p:nvSpPr>
            <p:spPr>
              <a:xfrm>
                <a:off x="5475605" y="3146425"/>
                <a:ext cx="288925" cy="358140"/>
              </a:xfrm>
              <a:prstGeom prst="rect">
                <a:avLst/>
              </a:prstGeom>
              <a:blipFill rotWithShape="1">
                <a:blip r:embed="rId9"/>
                <a:stretch>
                  <a:fillRect r="-8571"/>
                </a:stretch>
              </a:blipFill>
            </p:spPr>
            <p:txBody>
              <a:bodyPr/>
              <a:lstStyle/>
              <a:p>
                <a:r>
                  <a:rPr lang="zh-CN" altLang="en-US">
                    <a:noFill/>
                  </a:rPr>
                  <a:t> </a:t>
                </a:r>
              </a:p>
            </p:txBody>
          </p:sp>
        </mc:Fallback>
      </mc:AlternateContent>
      <p:sp>
        <p:nvSpPr>
          <p:cNvPr id="33" name="等腰三角形 32"/>
          <p:cNvSpPr/>
          <p:nvPr/>
        </p:nvSpPr>
        <p:spPr>
          <a:xfrm>
            <a:off x="7088505" y="3077210"/>
            <a:ext cx="516890" cy="427355"/>
          </a:xfrm>
          <a:prstGeom prst="triangl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4" name="文本框 33"/>
              <p:cNvSpPr txBox="1"/>
              <p:nvPr/>
            </p:nvSpPr>
            <p:spPr>
              <a:xfrm>
                <a:off x="7202805" y="3146425"/>
                <a:ext cx="288925" cy="358140"/>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a:latin typeface="Cambria Math" panose="02040503050406030204" pitchFamily="18" charset="0"/>
                              <a:sym typeface="+mn-ea"/>
                            </a:rPr>
                            <m:t>𝜆</m:t>
                          </m:r>
                        </m:e>
                        <m:sub>
                          <m:r>
                            <a:rPr lang="en-US" altLang="zh-CN">
                              <a:latin typeface="Cambria Math" panose="02040503050406030204" pitchFamily="18" charset="0"/>
                              <a:cs typeface="Cambria Math" panose="02040503050406030204" pitchFamily="18" charset="0"/>
                              <a:sym typeface="+mn-ea"/>
                            </a:rPr>
                            <m:t>n</m:t>
                          </m:r>
                        </m:sub>
                      </m:sSub>
                    </m:oMath>
                  </m:oMathPara>
                </a14:m>
                <a:endParaRPr lang="zh-CN" altLang="en-US"/>
              </a:p>
            </p:txBody>
          </p:sp>
        </mc:Choice>
        <mc:Fallback>
          <p:sp>
            <p:nvSpPr>
              <p:cNvPr id="34" name="文本框 33"/>
              <p:cNvSpPr txBox="1">
                <a:spLocks noRot="1" noChangeAspect="1" noMove="1" noResize="1" noEditPoints="1" noAdjustHandles="1" noChangeArrowheads="1" noChangeShapeType="1" noTextEdit="1"/>
              </p:cNvSpPr>
              <p:nvPr/>
            </p:nvSpPr>
            <p:spPr>
              <a:xfrm>
                <a:off x="7202805" y="3146425"/>
                <a:ext cx="288925" cy="358140"/>
              </a:xfrm>
              <a:prstGeom prst="rect">
                <a:avLst/>
              </a:prstGeom>
              <a:blipFill rotWithShape="1">
                <a:blip r:embed="rId10"/>
                <a:stretch>
                  <a:fillRect r="-25275"/>
                </a:stretch>
              </a:blipFill>
            </p:spPr>
            <p:txBody>
              <a:bodyPr/>
              <a:lstStyle/>
              <a:p>
                <a:r>
                  <a:rPr lang="zh-CN" altLang="en-US">
                    <a:noFill/>
                  </a:rPr>
                  <a:t> </a:t>
                </a:r>
              </a:p>
            </p:txBody>
          </p:sp>
        </mc:Fallback>
      </mc:AlternateContent>
      <p:sp>
        <p:nvSpPr>
          <p:cNvPr id="35" name="文本框 34"/>
          <p:cNvSpPr txBox="1"/>
          <p:nvPr/>
        </p:nvSpPr>
        <p:spPr>
          <a:xfrm>
            <a:off x="6219190" y="3129280"/>
            <a:ext cx="635000" cy="368300"/>
          </a:xfrm>
          <a:prstGeom prst="rect">
            <a:avLst/>
          </a:prstGeom>
          <a:noFill/>
        </p:spPr>
        <p:txBody>
          <a:bodyPr wrap="square" rtlCol="0">
            <a:spAutoFit/>
          </a:bodyPr>
          <a:p>
            <a:r>
              <a:rPr lang="en-US" altLang="zh-CN"/>
              <a:t>……</a:t>
            </a:r>
            <a:endParaRPr lang="en-US" altLang="zh-CN"/>
          </a:p>
        </p:txBody>
      </p:sp>
      <p:sp>
        <p:nvSpPr>
          <p:cNvPr id="42" name="双大括号 41"/>
          <p:cNvSpPr/>
          <p:nvPr/>
        </p:nvSpPr>
        <p:spPr>
          <a:xfrm>
            <a:off x="593725" y="3136900"/>
            <a:ext cx="2367280" cy="360680"/>
          </a:xfrm>
          <a:prstGeom prst="bracePair">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3" name="双大括号 42"/>
          <p:cNvSpPr/>
          <p:nvPr/>
        </p:nvSpPr>
        <p:spPr>
          <a:xfrm>
            <a:off x="3649345" y="3146425"/>
            <a:ext cx="2367280" cy="360680"/>
          </a:xfrm>
          <a:prstGeom prst="bracePair">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44" name="直接箭头连接符 43"/>
          <p:cNvCxnSpPr/>
          <p:nvPr/>
        </p:nvCxnSpPr>
        <p:spPr>
          <a:xfrm flipH="1">
            <a:off x="1984375" y="3456305"/>
            <a:ext cx="2660650" cy="590550"/>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sp>
        <p:nvSpPr>
          <p:cNvPr id="45" name="文本框 44"/>
          <p:cNvSpPr txBox="1"/>
          <p:nvPr/>
        </p:nvSpPr>
        <p:spPr>
          <a:xfrm>
            <a:off x="593725" y="4097655"/>
            <a:ext cx="1838960" cy="654050"/>
          </a:xfrm>
          <a:prstGeom prst="rect">
            <a:avLst/>
          </a:prstGeom>
          <a:solidFill>
            <a:schemeClr val="accent5"/>
          </a:solidFill>
        </p:spPr>
        <p:txBody>
          <a:bodyPr wrap="square" rtlCol="0">
            <a:noAutofit/>
          </a:bodyPr>
          <a:p>
            <a:pPr algn="ctr"/>
            <a:r>
              <a:rPr lang="zh-CN" altLang="en-US"/>
              <a:t>教师策略元更</a:t>
            </a:r>
            <a:endParaRPr lang="zh-CN" altLang="en-US"/>
          </a:p>
          <a:p>
            <a:pPr algn="ctr"/>
            <a:r>
              <a:rPr lang="zh-CN" altLang="en-US"/>
              <a:t>新</a:t>
            </a:r>
            <a:r>
              <a:rPr lang="en-US" altLang="zh-CN"/>
              <a:t>&amp;</a:t>
            </a:r>
            <a:r>
              <a:rPr lang="zh-CN" altLang="en-US"/>
              <a:t>保存</a:t>
            </a:r>
            <a:r>
              <a:rPr lang="zh-CN" altLang="en-US"/>
              <a:t>轨迹</a:t>
            </a:r>
            <a:endParaRPr lang="zh-CN" altLang="en-US"/>
          </a:p>
        </p:txBody>
      </p:sp>
      <p:cxnSp>
        <p:nvCxnSpPr>
          <p:cNvPr id="46" name="直接箭头连接符 45"/>
          <p:cNvCxnSpPr/>
          <p:nvPr/>
        </p:nvCxnSpPr>
        <p:spPr>
          <a:xfrm flipH="1">
            <a:off x="4911725" y="3497580"/>
            <a:ext cx="698500" cy="593725"/>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sp>
        <p:nvSpPr>
          <p:cNvPr id="48" name="文本框 47"/>
          <p:cNvSpPr txBox="1"/>
          <p:nvPr/>
        </p:nvSpPr>
        <p:spPr>
          <a:xfrm>
            <a:off x="3498850" y="4097655"/>
            <a:ext cx="2517775" cy="654050"/>
          </a:xfrm>
          <a:prstGeom prst="rect">
            <a:avLst/>
          </a:prstGeom>
          <a:solidFill>
            <a:schemeClr val="accent4"/>
          </a:solidFill>
        </p:spPr>
        <p:txBody>
          <a:bodyPr wrap="square" rtlCol="0">
            <a:noAutofit/>
          </a:bodyPr>
          <a:p>
            <a:r>
              <a:rPr lang="zh-CN" altLang="en-US"/>
              <a:t>计算教师和学生策略的</a:t>
            </a:r>
            <a:r>
              <a:rPr lang="en-US" altLang="zh-CN"/>
              <a:t>KL</a:t>
            </a:r>
            <a:r>
              <a:rPr lang="zh-CN" altLang="en-US"/>
              <a:t>散度和蒸馏后的</a:t>
            </a:r>
            <a:r>
              <a:rPr lang="zh-CN" altLang="en-US"/>
              <a:t>损失</a:t>
            </a:r>
            <a:endParaRPr lang="zh-CN" altLang="en-US"/>
          </a:p>
        </p:txBody>
      </p:sp>
      <p:cxnSp>
        <p:nvCxnSpPr>
          <p:cNvPr id="49" name="直接箭头连接符 48"/>
          <p:cNvCxnSpPr>
            <a:stCxn id="30" idx="2"/>
          </p:cNvCxnSpPr>
          <p:nvPr/>
        </p:nvCxnSpPr>
        <p:spPr>
          <a:xfrm flipH="1">
            <a:off x="4791075" y="3504565"/>
            <a:ext cx="41910" cy="554990"/>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cxnSp>
        <p:nvCxnSpPr>
          <p:cNvPr id="50" name="直接箭头连接符 49"/>
          <p:cNvCxnSpPr/>
          <p:nvPr/>
        </p:nvCxnSpPr>
        <p:spPr>
          <a:xfrm>
            <a:off x="6069330" y="4424680"/>
            <a:ext cx="901700" cy="3175"/>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sp>
        <p:nvSpPr>
          <p:cNvPr id="52" name="文本框 51"/>
          <p:cNvSpPr txBox="1"/>
          <p:nvPr/>
        </p:nvSpPr>
        <p:spPr>
          <a:xfrm>
            <a:off x="7023735" y="4072255"/>
            <a:ext cx="1694815" cy="654050"/>
          </a:xfrm>
          <a:prstGeom prst="rect">
            <a:avLst/>
          </a:prstGeom>
          <a:solidFill>
            <a:schemeClr val="accent6"/>
          </a:solidFill>
        </p:spPr>
        <p:txBody>
          <a:bodyPr wrap="square" rtlCol="0">
            <a:noAutofit/>
          </a:bodyPr>
          <a:p>
            <a:pPr algn="ctr"/>
            <a:r>
              <a:rPr lang="zh-CN" altLang="en-US"/>
              <a:t>更新学生策略的</a:t>
            </a:r>
            <a:r>
              <a:rPr lang="zh-CN" altLang="en-US"/>
              <a:t>参数</a:t>
            </a:r>
            <a:endParaRPr lang="zh-CN" altLang="en-US"/>
          </a:p>
        </p:txBody>
      </p:sp>
      <p:sp>
        <p:nvSpPr>
          <p:cNvPr id="53" name="左大括号 52"/>
          <p:cNvSpPr/>
          <p:nvPr/>
        </p:nvSpPr>
        <p:spPr>
          <a:xfrm rot="16200000">
            <a:off x="4297045" y="1049020"/>
            <a:ext cx="561975" cy="8281670"/>
          </a:xfrm>
          <a:prstGeom prst="leftBrace">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4" name="文本框 53"/>
          <p:cNvSpPr txBox="1"/>
          <p:nvPr/>
        </p:nvSpPr>
        <p:spPr>
          <a:xfrm>
            <a:off x="4791075" y="5208270"/>
            <a:ext cx="3060700" cy="275590"/>
          </a:xfrm>
          <a:prstGeom prst="rect">
            <a:avLst/>
          </a:prstGeom>
          <a:noFill/>
        </p:spPr>
        <p:txBody>
          <a:bodyPr wrap="square" rtlCol="0">
            <a:spAutoFit/>
          </a:bodyPr>
          <a:p>
            <a:r>
              <a:rPr lang="zh-CN" altLang="en-US" sz="1200"/>
              <a:t>每迭代</a:t>
            </a:r>
            <a:r>
              <a:rPr lang="en-US" altLang="zh-CN" sz="1200"/>
              <a:t>k</a:t>
            </a:r>
            <a:r>
              <a:rPr lang="zh-CN" altLang="en-US" sz="1200"/>
              <a:t>次</a:t>
            </a:r>
            <a:endParaRPr lang="zh-CN" altLang="en-US" sz="1200"/>
          </a:p>
        </p:txBody>
      </p:sp>
      <p:sp>
        <p:nvSpPr>
          <p:cNvPr id="55" name="文本框 54"/>
          <p:cNvSpPr txBox="1"/>
          <p:nvPr/>
        </p:nvSpPr>
        <p:spPr>
          <a:xfrm>
            <a:off x="3498850" y="5527040"/>
            <a:ext cx="2449830" cy="654050"/>
          </a:xfrm>
          <a:prstGeom prst="rect">
            <a:avLst/>
          </a:prstGeom>
          <a:solidFill>
            <a:schemeClr val="accent3"/>
          </a:solidFill>
        </p:spPr>
        <p:txBody>
          <a:bodyPr wrap="square" rtlCol="0">
            <a:noAutofit/>
          </a:bodyPr>
          <a:p>
            <a:pPr algn="ctr"/>
            <a:r>
              <a:rPr lang="zh-CN" altLang="en-US" sz="1600"/>
              <a:t>周期性性能验证</a:t>
            </a:r>
            <a:br>
              <a:rPr lang="zh-CN" altLang="en-US" sz="1600"/>
            </a:br>
            <a:r>
              <a:rPr lang="zh-CN" altLang="en-US" sz="1600"/>
              <a:t>计算邻域内各子问题得分</a:t>
            </a:r>
            <a:endParaRPr lang="zh-CN" altLang="en-US" sz="1600"/>
          </a:p>
        </p:txBody>
      </p:sp>
      <p:sp>
        <p:nvSpPr>
          <p:cNvPr id="56" name="文本框 55"/>
          <p:cNvSpPr txBox="1"/>
          <p:nvPr/>
        </p:nvSpPr>
        <p:spPr>
          <a:xfrm>
            <a:off x="6671310" y="5527040"/>
            <a:ext cx="2048510" cy="654050"/>
          </a:xfrm>
          <a:prstGeom prst="rect">
            <a:avLst/>
          </a:prstGeom>
          <a:solidFill>
            <a:schemeClr val="accent3"/>
          </a:solidFill>
        </p:spPr>
        <p:txBody>
          <a:bodyPr wrap="square" rtlCol="0">
            <a:noAutofit/>
          </a:bodyPr>
          <a:p>
            <a:pPr algn="ctr"/>
            <a:r>
              <a:rPr lang="zh-CN" altLang="en-US"/>
              <a:t>参数继承与验证保护，重新划分</a:t>
            </a:r>
            <a:r>
              <a:rPr lang="zh-CN" altLang="en-US"/>
              <a:t>邻域</a:t>
            </a:r>
            <a:endParaRPr lang="zh-CN" altLang="en-US"/>
          </a:p>
        </p:txBody>
      </p:sp>
      <p:cxnSp>
        <p:nvCxnSpPr>
          <p:cNvPr id="57" name="直接箭头连接符 56"/>
          <p:cNvCxnSpPr/>
          <p:nvPr/>
        </p:nvCxnSpPr>
        <p:spPr>
          <a:xfrm flipV="1">
            <a:off x="5961380" y="5856605"/>
            <a:ext cx="575945" cy="635"/>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65083"/>
    </mc:Choice>
    <mc:Fallback>
      <p:transition spd="slow" advTm="6508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基于分解的多目标优化模型</a:t>
            </a:r>
            <a:endParaRPr lang="zh-CN" altLang="en-US" dirty="0"/>
          </a:p>
        </p:txBody>
      </p:sp>
      <p:sp>
        <p:nvSpPr>
          <p:cNvPr id="7" name="灯片编号占位符 6"/>
          <p:cNvSpPr>
            <a:spLocks noGrp="1"/>
          </p:cNvSpPr>
          <p:nvPr>
            <p:ph type="sldNum" sz="quarter" idx="12"/>
          </p:nvPr>
        </p:nvSpPr>
        <p:spPr/>
        <p:txBody>
          <a:bodyPr/>
          <a:lstStyle/>
          <a:p>
            <a:r>
              <a:rPr lang="en-US" altLang="zh-CN"/>
              <a:t>13</a:t>
            </a:r>
            <a:endParaRPr lang="en-US" altLang="zh-CN"/>
          </a:p>
        </p:txBody>
      </p:sp>
      <p:pic>
        <p:nvPicPr>
          <p:cNvPr id="12" name="图片 11"/>
          <p:cNvPicPr>
            <a:picLocks noChangeAspect="1"/>
          </p:cNvPicPr>
          <p:nvPr/>
        </p:nvPicPr>
        <p:blipFill>
          <a:blip r:embed="rId1"/>
          <a:stretch>
            <a:fillRect/>
          </a:stretch>
        </p:blipFill>
        <p:spPr>
          <a:xfrm>
            <a:off x="293370" y="1169035"/>
            <a:ext cx="5588000" cy="4316095"/>
          </a:xfrm>
          <a:prstGeom prst="rect">
            <a:avLst/>
          </a:prstGeom>
        </p:spPr>
      </p:pic>
      <p:pic>
        <p:nvPicPr>
          <p:cNvPr id="13" name="图片 12"/>
          <p:cNvPicPr>
            <a:picLocks noChangeAspect="1"/>
          </p:cNvPicPr>
          <p:nvPr/>
        </p:nvPicPr>
        <p:blipFill>
          <a:blip r:embed="rId2"/>
          <a:stretch>
            <a:fillRect/>
          </a:stretch>
        </p:blipFill>
        <p:spPr>
          <a:xfrm>
            <a:off x="474345" y="6003290"/>
            <a:ext cx="3274695" cy="568960"/>
          </a:xfrm>
          <a:prstGeom prst="rect">
            <a:avLst/>
          </a:prstGeom>
        </p:spPr>
      </p:pic>
      <p:sp>
        <p:nvSpPr>
          <p:cNvPr id="18" name="文本框 17"/>
          <p:cNvSpPr txBox="1"/>
          <p:nvPr/>
        </p:nvSpPr>
        <p:spPr>
          <a:xfrm>
            <a:off x="293370" y="683895"/>
            <a:ext cx="4572000" cy="561975"/>
          </a:xfrm>
          <a:prstGeom prst="rect">
            <a:avLst/>
          </a:prstGeom>
          <a:noFill/>
        </p:spPr>
        <p:txBody>
          <a:bodyPr wrap="square" rtlCol="0" anchor="t">
            <a:spAutoFit/>
          </a:bodyPr>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算法</a:t>
            </a:r>
            <a:r>
              <a:rPr lang="zh-CN" altLang="en-US" b="1" dirty="0">
                <a:latin typeface="微软雅黑" panose="020B0503020204020204" pitchFamily="34" charset="-122"/>
                <a:ea typeface="微软雅黑" panose="020B0503020204020204" pitchFamily="34" charset="-122"/>
                <a:sym typeface="+mn-ea"/>
              </a:rPr>
              <a:t>伪代码</a:t>
            </a:r>
            <a:endParaRPr lang="zh-CN" altLang="en-US" b="1" dirty="0">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354330" y="5485130"/>
            <a:ext cx="4572000" cy="561975"/>
          </a:xfrm>
          <a:prstGeom prst="rect">
            <a:avLst/>
          </a:prstGeom>
          <a:noFill/>
        </p:spPr>
        <p:txBody>
          <a:bodyPr wrap="square" rtlCol="0" anchor="t">
            <a:spAutoFit/>
          </a:bodyPr>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实验设置与</a:t>
            </a:r>
            <a:r>
              <a:rPr lang="zh-CN" altLang="en-US" b="1" dirty="0">
                <a:latin typeface="微软雅黑" panose="020B0503020204020204" pitchFamily="34" charset="-122"/>
                <a:ea typeface="微软雅黑" panose="020B0503020204020204" pitchFamily="34" charset="-122"/>
                <a:sym typeface="+mn-ea"/>
              </a:rPr>
              <a:t>分析</a:t>
            </a:r>
            <a:endParaRPr lang="zh-CN" altLang="en-US" b="1" dirty="0">
              <a:latin typeface="微软雅黑" panose="020B0503020204020204" pitchFamily="34" charset="-122"/>
              <a:ea typeface="微软雅黑" panose="020B0503020204020204" pitchFamily="34" charset="-122"/>
              <a:sym typeface="+mn-ea"/>
            </a:endParaRPr>
          </a:p>
        </p:txBody>
      </p:sp>
      <p:pic>
        <p:nvPicPr>
          <p:cNvPr id="15" name="图片 14"/>
          <p:cNvPicPr>
            <a:picLocks noChangeAspect="1"/>
          </p:cNvPicPr>
          <p:nvPr/>
        </p:nvPicPr>
        <p:blipFill>
          <a:blip r:embed="rId3"/>
          <a:stretch>
            <a:fillRect/>
          </a:stretch>
        </p:blipFill>
        <p:spPr>
          <a:xfrm>
            <a:off x="4735830" y="5513070"/>
            <a:ext cx="2877820" cy="640715"/>
          </a:xfrm>
          <a:prstGeom prst="rect">
            <a:avLst/>
          </a:prstGeom>
        </p:spPr>
      </p:pic>
      <p:pic>
        <p:nvPicPr>
          <p:cNvPr id="17" name="图片 16"/>
          <p:cNvPicPr>
            <a:picLocks noChangeAspect="1"/>
          </p:cNvPicPr>
          <p:nvPr/>
        </p:nvPicPr>
        <p:blipFill>
          <a:blip r:embed="rId4"/>
          <a:srcRect l="16866" r="17170"/>
          <a:stretch>
            <a:fillRect/>
          </a:stretch>
        </p:blipFill>
        <p:spPr>
          <a:xfrm>
            <a:off x="5156835" y="6153785"/>
            <a:ext cx="2622550" cy="512445"/>
          </a:xfrm>
          <a:prstGeom prst="rect">
            <a:avLst/>
          </a:prstGeom>
        </p:spPr>
      </p:pic>
      <p:sp>
        <p:nvSpPr>
          <p:cNvPr id="19" name="文本框 18"/>
          <p:cNvSpPr txBox="1"/>
          <p:nvPr/>
        </p:nvSpPr>
        <p:spPr>
          <a:xfrm>
            <a:off x="4334510" y="5681980"/>
            <a:ext cx="3048000" cy="275590"/>
          </a:xfrm>
          <a:prstGeom prst="rect">
            <a:avLst/>
          </a:prstGeom>
          <a:noFill/>
        </p:spPr>
        <p:txBody>
          <a:bodyPr wrap="square" rtlCol="0">
            <a:spAutoFit/>
          </a:bodyPr>
          <a:p>
            <a:r>
              <a:rPr lang="zh-CN" altLang="en-US" sz="1200"/>
              <a:t>评价指标：</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spd="slow" p14:dur="2000" advTm="35371"/>
    </mc:Choice>
    <mc:Fallback>
      <p:transition spd="slow" advTm="3537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物理</a:t>
            </a:r>
            <a:r>
              <a:rPr lang="en-US" altLang="zh-CN" dirty="0"/>
              <a:t>-</a:t>
            </a:r>
            <a:r>
              <a:rPr lang="zh-CN" altLang="en-US" dirty="0"/>
              <a:t>感知融合的装配质量评价模型</a:t>
            </a:r>
            <a:endParaRPr lang="zh-CN" altLang="en-US" dirty="0"/>
          </a:p>
        </p:txBody>
      </p:sp>
      <p:sp>
        <p:nvSpPr>
          <p:cNvPr id="4" name="灯片编号占位符 3"/>
          <p:cNvSpPr>
            <a:spLocks noGrp="1"/>
          </p:cNvSpPr>
          <p:nvPr>
            <p:ph type="sldNum" sz="quarter" idx="12"/>
          </p:nvPr>
        </p:nvSpPr>
        <p:spPr/>
        <p:txBody>
          <a:bodyPr/>
          <a:lstStyle/>
          <a:p>
            <a:r>
              <a:rPr lang="en-US" altLang="zh-CN"/>
              <a:t>14</a:t>
            </a:r>
            <a:endParaRPr lang="en-US" altLang="zh-CN"/>
          </a:p>
        </p:txBody>
      </p:sp>
      <p:sp>
        <p:nvSpPr>
          <p:cNvPr id="14" name="文本框 13"/>
          <p:cNvSpPr txBox="1"/>
          <p:nvPr/>
        </p:nvSpPr>
        <p:spPr>
          <a:xfrm>
            <a:off x="0" y="591185"/>
            <a:ext cx="4572000" cy="561975"/>
          </a:xfrm>
          <a:prstGeom prst="rect">
            <a:avLst/>
          </a:prstGeom>
          <a:noFill/>
        </p:spPr>
        <p:txBody>
          <a:bodyPr wrap="square" rtlCol="0" anchor="t">
            <a:spAutoFit/>
          </a:bodyPr>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实验设置与</a:t>
            </a:r>
            <a:r>
              <a:rPr lang="zh-CN" altLang="en-US" b="1" dirty="0">
                <a:latin typeface="微软雅黑" panose="020B0503020204020204" pitchFamily="34" charset="-122"/>
                <a:ea typeface="微软雅黑" panose="020B0503020204020204" pitchFamily="34" charset="-122"/>
                <a:sym typeface="+mn-ea"/>
              </a:rPr>
              <a:t>分析</a:t>
            </a:r>
            <a:endParaRPr lang="zh-CN" altLang="en-US" b="1" dirty="0">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1"/>
          <a:stretch>
            <a:fillRect/>
          </a:stretch>
        </p:blipFill>
        <p:spPr>
          <a:xfrm>
            <a:off x="459740" y="1383665"/>
            <a:ext cx="5630545" cy="4928235"/>
          </a:xfrm>
          <a:prstGeom prst="rect">
            <a:avLst/>
          </a:prstGeom>
        </p:spPr>
      </p:pic>
      <p:sp>
        <p:nvSpPr>
          <p:cNvPr id="5" name="文本框 4"/>
          <p:cNvSpPr txBox="1"/>
          <p:nvPr/>
        </p:nvSpPr>
        <p:spPr>
          <a:xfrm>
            <a:off x="1956435" y="1153160"/>
            <a:ext cx="3048000" cy="275590"/>
          </a:xfrm>
          <a:prstGeom prst="rect">
            <a:avLst/>
          </a:prstGeom>
          <a:noFill/>
        </p:spPr>
        <p:txBody>
          <a:bodyPr wrap="square" rtlCol="0">
            <a:spAutoFit/>
          </a:bodyPr>
          <a:p>
            <a:r>
              <a:rPr lang="zh-CN" altLang="en-US" sz="1200" b="1"/>
              <a:t>随机算例求解结果</a:t>
            </a:r>
            <a:endParaRPr lang="zh-CN" altLang="en-US" sz="1200" b="1"/>
          </a:p>
        </p:txBody>
      </p:sp>
    </p:spTree>
  </p:cSld>
  <p:clrMapOvr>
    <a:masterClrMapping/>
  </p:clrMapOvr>
  <mc:AlternateContent xmlns:mc="http://schemas.openxmlformats.org/markup-compatibility/2006">
    <mc:Choice xmlns:p14="http://schemas.microsoft.com/office/powerpoint/2010/main" Requires="p14">
      <p:transition spd="slow" p14:dur="2000" advTm="43667"/>
    </mc:Choice>
    <mc:Fallback>
      <p:transition spd="slow" advTm="4366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基于分解的多目标优化模型</a:t>
            </a:r>
            <a:endParaRPr lang="zh-CN" altLang="en-US"/>
          </a:p>
        </p:txBody>
      </p:sp>
      <p:sp>
        <p:nvSpPr>
          <p:cNvPr id="3" name="灯片编号占位符 2"/>
          <p:cNvSpPr>
            <a:spLocks noGrp="1"/>
          </p:cNvSpPr>
          <p:nvPr>
            <p:ph type="sldNum" sz="quarter" idx="12"/>
          </p:nvPr>
        </p:nvSpPr>
        <p:spPr/>
        <p:txBody>
          <a:bodyPr/>
          <a:p>
            <a:r>
              <a:rPr lang="en-US" altLang="zh-CN" dirty="0"/>
              <a:t>15</a:t>
            </a:r>
            <a:endParaRPr lang="en-US" altLang="zh-CN" dirty="0"/>
          </a:p>
        </p:txBody>
      </p:sp>
      <p:pic>
        <p:nvPicPr>
          <p:cNvPr id="4" name="图片 3"/>
          <p:cNvPicPr>
            <a:picLocks noChangeAspect="1"/>
          </p:cNvPicPr>
          <p:nvPr/>
        </p:nvPicPr>
        <p:blipFill>
          <a:blip r:embed="rId1"/>
          <a:stretch>
            <a:fillRect/>
          </a:stretch>
        </p:blipFill>
        <p:spPr>
          <a:xfrm>
            <a:off x="609600" y="1061720"/>
            <a:ext cx="4817745" cy="2828925"/>
          </a:xfrm>
          <a:prstGeom prst="rect">
            <a:avLst/>
          </a:prstGeom>
        </p:spPr>
      </p:pic>
      <p:pic>
        <p:nvPicPr>
          <p:cNvPr id="5" name="图片 4"/>
          <p:cNvPicPr>
            <a:picLocks noChangeAspect="1"/>
          </p:cNvPicPr>
          <p:nvPr/>
        </p:nvPicPr>
        <p:blipFill>
          <a:blip r:embed="rId2"/>
          <a:stretch>
            <a:fillRect/>
          </a:stretch>
        </p:blipFill>
        <p:spPr>
          <a:xfrm>
            <a:off x="819150" y="4095750"/>
            <a:ext cx="4197350" cy="2273935"/>
          </a:xfrm>
          <a:prstGeom prst="rect">
            <a:avLst/>
          </a:prstGeom>
        </p:spPr>
      </p:pic>
      <p:pic>
        <p:nvPicPr>
          <p:cNvPr id="6" name="图片 5" descr="MK09_solutions_distribution_final"/>
          <p:cNvPicPr>
            <a:picLocks noChangeAspect="1"/>
          </p:cNvPicPr>
          <p:nvPr/>
        </p:nvPicPr>
        <p:blipFill>
          <a:blip r:embed="rId3"/>
          <a:stretch>
            <a:fillRect/>
          </a:stretch>
        </p:blipFill>
        <p:spPr>
          <a:xfrm>
            <a:off x="5575935" y="1099820"/>
            <a:ext cx="2966720" cy="1964690"/>
          </a:xfrm>
          <a:prstGeom prst="rect">
            <a:avLst/>
          </a:prstGeom>
        </p:spPr>
      </p:pic>
      <p:pic>
        <p:nvPicPr>
          <p:cNvPr id="7" name="图片 6" descr="MK10_solutions_distribution_extreme_points"/>
          <p:cNvPicPr>
            <a:picLocks noChangeAspect="1"/>
          </p:cNvPicPr>
          <p:nvPr/>
        </p:nvPicPr>
        <p:blipFill>
          <a:blip r:embed="rId4"/>
          <a:stretch>
            <a:fillRect/>
          </a:stretch>
        </p:blipFill>
        <p:spPr>
          <a:xfrm>
            <a:off x="5659755" y="3496945"/>
            <a:ext cx="2882900" cy="1991360"/>
          </a:xfrm>
          <a:prstGeom prst="rect">
            <a:avLst/>
          </a:prstGeom>
        </p:spPr>
      </p:pic>
      <p:sp>
        <p:nvSpPr>
          <p:cNvPr id="8" name="文本框 7"/>
          <p:cNvSpPr txBox="1"/>
          <p:nvPr/>
        </p:nvSpPr>
        <p:spPr>
          <a:xfrm>
            <a:off x="1797050" y="824230"/>
            <a:ext cx="1879600" cy="275590"/>
          </a:xfrm>
          <a:prstGeom prst="rect">
            <a:avLst/>
          </a:prstGeom>
          <a:noFill/>
        </p:spPr>
        <p:txBody>
          <a:bodyPr wrap="square" rtlCol="0" anchor="t">
            <a:spAutoFit/>
          </a:bodyPr>
          <a:p>
            <a:r>
              <a:rPr lang="en-US" altLang="zh-CN" sz="1200" b="1">
                <a:solidFill>
                  <a:srgbClr val="000000"/>
                </a:solidFill>
                <a:latin typeface="Times New Roman" panose="02020603050405020304"/>
                <a:ea typeface="Times New Roman" panose="02020603050405020304"/>
                <a:sym typeface="+mn-ea"/>
              </a:rPr>
              <a:t>FJSP</a:t>
            </a:r>
            <a:r>
              <a:rPr lang="zh-CN" altLang="en-US" sz="1200" b="1">
                <a:solidFill>
                  <a:srgbClr val="000000"/>
                </a:solidFill>
                <a:latin typeface="Times New Roman" panose="02020603050405020304"/>
                <a:ea typeface="Times New Roman" panose="02020603050405020304"/>
                <a:sym typeface="+mn-ea"/>
              </a:rPr>
              <a:t>的</a:t>
            </a:r>
            <a:r>
              <a:rPr lang="en-US" altLang="zh-CN" sz="1200" b="1">
                <a:solidFill>
                  <a:srgbClr val="000000"/>
                </a:solidFill>
                <a:latin typeface="Times New Roman" panose="02020603050405020304"/>
                <a:ea typeface="Times New Roman" panose="02020603050405020304"/>
                <a:sym typeface="+mn-ea"/>
              </a:rPr>
              <a:t>Brandimarte</a:t>
            </a:r>
            <a:r>
              <a:rPr lang="zh-CN" altLang="en-US" sz="1200" b="1">
                <a:solidFill>
                  <a:srgbClr val="000000"/>
                </a:solidFill>
                <a:latin typeface="Times New Roman" panose="02020603050405020304"/>
                <a:ea typeface="Times New Roman" panose="02020603050405020304"/>
                <a:sym typeface="+mn-ea"/>
              </a:rPr>
              <a:t>算例</a:t>
            </a:r>
            <a:r>
              <a:rPr lang="en-US" altLang="zh-CN" sz="1200">
                <a:solidFill>
                  <a:srgbClr val="000000"/>
                </a:solidFill>
                <a:latin typeface="Times New Roman" panose="02020603050405020304"/>
                <a:ea typeface="Times New Roman" panose="02020603050405020304"/>
                <a:sym typeface="+mn-ea"/>
              </a:rPr>
              <a:t> </a:t>
            </a:r>
            <a:endParaRPr lang="en-US" altLang="zh-CN" sz="1200">
              <a:solidFill>
                <a:srgbClr val="000000"/>
              </a:solidFill>
              <a:latin typeface="Times New Roman" panose="02020603050405020304"/>
              <a:ea typeface="Times New Roman" panose="02020603050405020304"/>
              <a:sym typeface="+mn-ea"/>
            </a:endParaRPr>
          </a:p>
        </p:txBody>
      </p:sp>
      <p:sp>
        <p:nvSpPr>
          <p:cNvPr id="9" name="文本框 8"/>
          <p:cNvSpPr txBox="1"/>
          <p:nvPr/>
        </p:nvSpPr>
        <p:spPr>
          <a:xfrm>
            <a:off x="1657350" y="3890645"/>
            <a:ext cx="2076450" cy="275590"/>
          </a:xfrm>
          <a:prstGeom prst="rect">
            <a:avLst/>
          </a:prstGeom>
        </p:spPr>
        <p:txBody>
          <a:bodyPr wrap="square">
            <a:spAutoFit/>
          </a:bodyPr>
          <a:p>
            <a:r>
              <a:rPr lang="zh-CN" altLang="en-US" sz="1200" b="1">
                <a:solidFill>
                  <a:srgbClr val="000000"/>
                </a:solidFill>
                <a:latin typeface="宋体" panose="02010600030101010101" pitchFamily="2" charset="-122"/>
                <a:ea typeface="宋体" panose="02010600030101010101" pitchFamily="2" charset="-122"/>
              </a:rPr>
              <a:t>各算例上的最优目标值对比</a:t>
            </a:r>
            <a:endParaRPr lang="zh-CN" altLang="en-US" sz="1200" b="1">
              <a:solidFill>
                <a:srgbClr val="000000"/>
              </a:solidFill>
              <a:latin typeface="宋体" panose="02010600030101010101" pitchFamily="2" charset="-122"/>
              <a:ea typeface="宋体" panose="02010600030101010101" pitchFamily="2" charset="-122"/>
            </a:endParaRPr>
          </a:p>
        </p:txBody>
      </p:sp>
      <p:sp>
        <p:nvSpPr>
          <p:cNvPr id="10" name="文本框 9"/>
          <p:cNvSpPr txBox="1"/>
          <p:nvPr/>
        </p:nvSpPr>
        <p:spPr>
          <a:xfrm>
            <a:off x="6347460" y="3064510"/>
            <a:ext cx="3048000" cy="275590"/>
          </a:xfrm>
          <a:prstGeom prst="rect">
            <a:avLst/>
          </a:prstGeom>
          <a:noFill/>
        </p:spPr>
        <p:txBody>
          <a:bodyPr wrap="square" rtlCol="0">
            <a:spAutoFit/>
          </a:bodyPr>
          <a:p>
            <a:r>
              <a:rPr lang="en-US" altLang="zh-CN" sz="1200" b="1"/>
              <a:t>Mk09 </a:t>
            </a:r>
            <a:r>
              <a:rPr lang="zh-CN" altLang="en-US" sz="1200" b="1"/>
              <a:t>算例的解集分布图</a:t>
            </a:r>
            <a:endParaRPr lang="zh-CN" altLang="en-US" sz="1200" b="1"/>
          </a:p>
        </p:txBody>
      </p:sp>
      <p:sp>
        <p:nvSpPr>
          <p:cNvPr id="12" name="文本框 11"/>
          <p:cNvSpPr txBox="1"/>
          <p:nvPr/>
        </p:nvSpPr>
        <p:spPr>
          <a:xfrm>
            <a:off x="6442710" y="5518150"/>
            <a:ext cx="2584450" cy="275590"/>
          </a:xfrm>
          <a:prstGeom prst="rect">
            <a:avLst/>
          </a:prstGeom>
          <a:noFill/>
        </p:spPr>
        <p:txBody>
          <a:bodyPr wrap="square" rtlCol="0">
            <a:spAutoFit/>
          </a:bodyPr>
          <a:p>
            <a:r>
              <a:rPr lang="en-US" altLang="zh-CN" sz="1200" b="1"/>
              <a:t>Mk10 </a:t>
            </a:r>
            <a:r>
              <a:rPr lang="zh-CN" altLang="en-US" sz="1200" b="1"/>
              <a:t>算例的解集分布图</a:t>
            </a:r>
            <a:endParaRPr lang="zh-CN" altLang="en-US" sz="1200" b="1"/>
          </a:p>
        </p:txBody>
      </p:sp>
      <p:sp>
        <p:nvSpPr>
          <p:cNvPr id="13" name="文本框 12"/>
          <p:cNvSpPr txBox="1"/>
          <p:nvPr/>
        </p:nvSpPr>
        <p:spPr>
          <a:xfrm>
            <a:off x="5251450" y="5813425"/>
            <a:ext cx="3048000" cy="737235"/>
          </a:xfrm>
          <a:prstGeom prst="rect">
            <a:avLst/>
          </a:prstGeom>
          <a:noFill/>
          <a:ln>
            <a:solidFill>
              <a:srgbClr val="FF0000"/>
            </a:solidFill>
          </a:ln>
        </p:spPr>
        <p:txBody>
          <a:bodyPr wrap="square" rtlCol="0">
            <a:spAutoFit/>
          </a:bodyPr>
          <a:p>
            <a:r>
              <a:rPr lang="zh-CN" altLang="en-US" sz="1400" b="1"/>
              <a:t>所提方法能够为多类型车间的多目标调度问题提供兼顾解集质量与计算效率的求解方案。</a:t>
            </a:r>
            <a:endParaRPr lang="zh-CN" altLang="en-US" sz="14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custDataLst>
              <p:tags r:id="rId1"/>
            </p:custDataLst>
          </p:nvPr>
        </p:nvGrpSpPr>
        <p:grpSpPr>
          <a:xfrm>
            <a:off x="4572000" y="1903730"/>
            <a:ext cx="3910965" cy="2896263"/>
            <a:chOff x="4572000" y="2331450"/>
            <a:chExt cx="3285600" cy="2914371"/>
          </a:xfrm>
        </p:grpSpPr>
        <p:sp>
          <p:nvSpPr>
            <p:cNvPr id="4" name="矩形 3"/>
            <p:cNvSpPr/>
            <p:nvPr>
              <p:custDataLst>
                <p:tags r:id="rId2"/>
              </p:custDataLst>
            </p:nvPr>
          </p:nvSpPr>
          <p:spPr>
            <a:xfrm>
              <a:off x="4572000" y="2345681"/>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9"/>
            <p:cNvSpPr txBox="1"/>
            <p:nvPr>
              <p:custDataLst>
                <p:tags r:id="rId3"/>
              </p:custDataLst>
            </p:nvPr>
          </p:nvSpPr>
          <p:spPr>
            <a:xfrm>
              <a:off x="5192495" y="2331450"/>
              <a:ext cx="2452266"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研究背景</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12" name="矩形 11"/>
            <p:cNvSpPr/>
            <p:nvPr>
              <p:custDataLst>
                <p:tags r:id="rId4"/>
              </p:custDataLst>
            </p:nvPr>
          </p:nvSpPr>
          <p:spPr>
            <a:xfrm>
              <a:off x="4572000" y="293227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9"/>
            <p:cNvSpPr txBox="1"/>
            <p:nvPr>
              <p:custDataLst>
                <p:tags r:id="rId5"/>
              </p:custDataLst>
            </p:nvPr>
          </p:nvSpPr>
          <p:spPr>
            <a:xfrm>
              <a:off x="5192495" y="2932277"/>
              <a:ext cx="2657725"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sym typeface="+mn-ea"/>
                </a:rPr>
                <a:t>元强化学习</a:t>
              </a:r>
              <a:r>
                <a:rPr lang="zh-CN" altLang="en-US" sz="2400" dirty="0">
                  <a:solidFill>
                    <a:srgbClr val="00458E"/>
                  </a:solidFill>
                  <a:latin typeface="微软雅黑" panose="020B0503020204020204" pitchFamily="34" charset="-122"/>
                  <a:ea typeface="微软雅黑" panose="020B0503020204020204" pitchFamily="34" charset="-122"/>
                  <a:sym typeface="+mn-ea"/>
                </a:rPr>
                <a:t>框架</a:t>
              </a:r>
              <a:endParaRPr lang="zh-CN" altLang="en-US" sz="2400" dirty="0">
                <a:solidFill>
                  <a:srgbClr val="00458E"/>
                </a:solidFill>
                <a:latin typeface="微软雅黑" panose="020B0503020204020204" pitchFamily="34" charset="-122"/>
                <a:ea typeface="微软雅黑" panose="020B0503020204020204" pitchFamily="34" charset="-122"/>
                <a:sym typeface="+mn-ea"/>
              </a:endParaRPr>
            </a:p>
          </p:txBody>
        </p:sp>
        <p:sp>
          <p:nvSpPr>
            <p:cNvPr id="20" name="文本框 19"/>
            <p:cNvSpPr txBox="1"/>
            <p:nvPr>
              <p:custDataLst>
                <p:tags r:id="rId6"/>
              </p:custDataLst>
            </p:nvPr>
          </p:nvSpPr>
          <p:spPr>
            <a:xfrm>
              <a:off x="4579381" y="2420171"/>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01</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custDataLst>
                <p:tags r:id="rId7"/>
              </p:custDataLst>
            </p:nvPr>
          </p:nvSpPr>
          <p:spPr>
            <a:xfrm>
              <a:off x="4579381" y="3006768"/>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02</a:t>
              </a:r>
              <a:endPar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custDataLst>
                <p:tags r:id="rId8"/>
              </p:custDataLst>
            </p:nvPr>
          </p:nvSpPr>
          <p:spPr>
            <a:xfrm>
              <a:off x="4579381" y="3583847"/>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9"/>
            <p:cNvSpPr txBox="1"/>
            <p:nvPr>
              <p:custDataLst>
                <p:tags r:id="rId9"/>
              </p:custDataLst>
            </p:nvPr>
          </p:nvSpPr>
          <p:spPr>
            <a:xfrm>
              <a:off x="5199875" y="3569616"/>
              <a:ext cx="2657725"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多类型车间单目标</a:t>
              </a:r>
              <a:r>
                <a:rPr lang="zh-CN" altLang="en-US" sz="2400" dirty="0">
                  <a:solidFill>
                    <a:srgbClr val="00458E"/>
                  </a:solidFill>
                  <a:latin typeface="微软雅黑" panose="020B0503020204020204" pitchFamily="34" charset="-122"/>
                  <a:ea typeface="微软雅黑" panose="020B0503020204020204" pitchFamily="34" charset="-122"/>
                </a:rPr>
                <a:t>调度</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10"/>
              </p:custDataLst>
            </p:nvPr>
          </p:nvSpPr>
          <p:spPr>
            <a:xfrm>
              <a:off x="4586762" y="3658337"/>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03</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11"/>
              </p:custDataLst>
            </p:nvPr>
          </p:nvSpPr>
          <p:spPr>
            <a:xfrm>
              <a:off x="4586762" y="4213133"/>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9"/>
            <p:cNvSpPr txBox="1"/>
            <p:nvPr>
              <p:custDataLst>
                <p:tags r:id="rId12"/>
              </p:custDataLst>
            </p:nvPr>
          </p:nvSpPr>
          <p:spPr>
            <a:xfrm>
              <a:off x="5207256" y="4198902"/>
              <a:ext cx="2642963" cy="409580"/>
            </a:xfrm>
            <a:prstGeom prst="rect">
              <a:avLst/>
            </a:prstGeom>
            <a:noFill/>
          </p:spPr>
          <p:txBody>
            <a:bodyPr wrap="square" lIns="38567" tIns="19283" rIns="38567" bIns="19283" rtlCol="0">
              <a:spAutoFit/>
            </a:bodyPr>
            <a:lstStyle/>
            <a:p>
              <a:pPr marL="0" lvl="1"/>
              <a:r>
                <a:rPr lang="zh-CN" altLang="en-US" sz="2400" dirty="0">
                  <a:solidFill>
                    <a:srgbClr val="00458E"/>
                  </a:solidFill>
                  <a:latin typeface="微软雅黑" panose="020B0503020204020204" pitchFamily="34" charset="-122"/>
                  <a:ea typeface="微软雅黑" panose="020B0503020204020204" pitchFamily="34" charset="-122"/>
                </a:rPr>
                <a:t>基于分解的多目标</a:t>
              </a:r>
              <a:r>
                <a:rPr lang="zh-CN" altLang="en-US" sz="2400" dirty="0">
                  <a:solidFill>
                    <a:srgbClr val="00458E"/>
                  </a:solidFill>
                  <a:latin typeface="微软雅黑" panose="020B0503020204020204" pitchFamily="34" charset="-122"/>
                  <a:ea typeface="微软雅黑" panose="020B0503020204020204" pitchFamily="34" charset="-122"/>
                </a:rPr>
                <a:t>调度</a:t>
              </a:r>
              <a:endParaRPr lang="zh-CN" altLang="en-US" sz="2400" dirty="0">
                <a:solidFill>
                  <a:srgbClr val="00458E"/>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13"/>
              </p:custDataLst>
            </p:nvPr>
          </p:nvSpPr>
          <p:spPr>
            <a:xfrm>
              <a:off x="4594143" y="4287623"/>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04</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custDataLst>
                <p:tags r:id="rId14"/>
              </p:custDataLst>
            </p:nvPr>
          </p:nvSpPr>
          <p:spPr>
            <a:xfrm>
              <a:off x="4594143" y="4850472"/>
              <a:ext cx="379757" cy="379815"/>
            </a:xfrm>
            <a:prstGeom prst="rect">
              <a:avLst/>
            </a:prstGeom>
            <a:solidFill>
              <a:srgbClr val="004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9"/>
            <p:cNvSpPr txBox="1"/>
            <p:nvPr>
              <p:custDataLst>
                <p:tags r:id="rId15"/>
              </p:custDataLst>
            </p:nvPr>
          </p:nvSpPr>
          <p:spPr>
            <a:xfrm>
              <a:off x="5214638" y="4836241"/>
              <a:ext cx="2452266" cy="409580"/>
            </a:xfrm>
            <a:prstGeom prst="rect">
              <a:avLst/>
            </a:prstGeom>
            <a:noFill/>
          </p:spPr>
          <p:txBody>
            <a:bodyPr wrap="square" lIns="38567" tIns="19283" rIns="38567" bIns="19283" rtlCol="0">
              <a:spAutoFit/>
            </a:bodyPr>
            <a:lstStyle/>
            <a:p>
              <a:pPr marL="0" lvl="1"/>
              <a:r>
                <a:rPr lang="zh-CN" altLang="en-US" sz="2400" b="1" dirty="0">
                  <a:solidFill>
                    <a:schemeClr val="tx1"/>
                  </a:solidFill>
                  <a:latin typeface="微软雅黑" panose="020B0503020204020204" pitchFamily="34" charset="-122"/>
                  <a:ea typeface="微软雅黑" panose="020B0503020204020204" pitchFamily="34" charset="-122"/>
                </a:rPr>
                <a:t>总结与展望</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16"/>
              </p:custDataLst>
            </p:nvPr>
          </p:nvSpPr>
          <p:spPr>
            <a:xfrm>
              <a:off x="4601524" y="4924962"/>
              <a:ext cx="364994" cy="231946"/>
            </a:xfrm>
            <a:prstGeom prst="rect">
              <a:avLst/>
            </a:prstGeom>
            <a:noFill/>
          </p:spPr>
          <p:txBody>
            <a:bodyPr wrap="square" lIns="0" tIns="0" rIns="0" bIns="0" rtlCol="0">
              <a:spAutoFit/>
            </a:bodyPr>
            <a:lstStyle/>
            <a:p>
              <a:pPr algn="ctr"/>
              <a:r>
                <a:rPr lang="en-US" altLang="zh-CN"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05</a:t>
              </a:r>
              <a:endParaRPr lang="zh-CN" altLang="en-US" sz="15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59"/>
    </mc:Choice>
    <mc:Fallback>
      <p:transition spd="slow" advTm="359"/>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总结与展望</a:t>
            </a:r>
            <a:endParaRPr lang="zh-CN" altLang="en-US" dirty="0"/>
          </a:p>
        </p:txBody>
      </p:sp>
      <p:sp>
        <p:nvSpPr>
          <p:cNvPr id="4" name="文本框 3"/>
          <p:cNvSpPr txBox="1"/>
          <p:nvPr/>
        </p:nvSpPr>
        <p:spPr>
          <a:xfrm>
            <a:off x="231891" y="1227042"/>
            <a:ext cx="9066178" cy="3415030"/>
          </a:xfrm>
          <a:prstGeom prst="rect">
            <a:avLst/>
          </a:prstGeom>
          <a:noFill/>
        </p:spPr>
        <p:txBody>
          <a:bodyPr wrap="square">
            <a:spAutoFit/>
          </a:bodyPr>
          <a:lstStyle/>
          <a:p>
            <a:pPr>
              <a:lnSpc>
                <a:spcPct val="150000"/>
              </a:lnSpc>
            </a:pP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）构建了面向多类型车间元强化学习框架。将调度过程统一建模为基于异构图的马尔可夫决策过程，为后续算法设计与训练提供</a:t>
            </a:r>
            <a:r>
              <a:rPr lang="zh-CN" altLang="en-US" dirty="0">
                <a:latin typeface="Times New Roman" panose="02020603050405020304" pitchFamily="18" charset="0"/>
                <a:ea typeface="宋体" panose="02010600030101010101" pitchFamily="2" charset="-122"/>
                <a:cs typeface="Times New Roman" panose="02020603050405020304" pitchFamily="18" charset="0"/>
              </a:rPr>
              <a:t>基础。</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）提出了基于元强化学习的车间</a:t>
            </a:r>
            <a:r>
              <a:rPr lang="zh-CN" altLang="en-US" dirty="0">
                <a:latin typeface="Times New Roman" panose="02020603050405020304" pitchFamily="18" charset="0"/>
                <a:ea typeface="宋体" panose="02010600030101010101" pitchFamily="2" charset="-122"/>
                <a:cs typeface="Times New Roman" panose="02020603050405020304" pitchFamily="18" charset="0"/>
              </a:rPr>
              <a:t>调度方法。采用图注意力网络与多层感知机提取异构节点特征，并通过</a:t>
            </a:r>
            <a:r>
              <a:rPr lang="en-US" altLang="zh-CN" dirty="0">
                <a:latin typeface="Times New Roman" panose="02020603050405020304" pitchFamily="18" charset="0"/>
                <a:ea typeface="宋体" panose="02010600030101010101" pitchFamily="2" charset="-122"/>
                <a:cs typeface="Times New Roman" panose="02020603050405020304" pitchFamily="18" charset="0"/>
              </a:rPr>
              <a:t>FiLM</a:t>
            </a:r>
            <a:r>
              <a:rPr lang="zh-CN" altLang="en-US" dirty="0">
                <a:latin typeface="Times New Roman" panose="02020603050405020304" pitchFamily="18" charset="0"/>
                <a:ea typeface="宋体" panose="02010600030101010101" pitchFamily="2" charset="-122"/>
                <a:cs typeface="Times New Roman" panose="02020603050405020304" pitchFamily="18" charset="0"/>
              </a:rPr>
              <a:t>特征调控模块缓解跨任务训练中的噪声梯度干扰。消融实验以及随机和标准算例的结果表明，所提方法在求解质量与计算效率上具有优势。</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dirty="0">
                <a:latin typeface="Times New Roman" panose="02020603050405020304" pitchFamily="18" charset="0"/>
                <a:ea typeface="宋体" panose="02010600030101010101" pitchFamily="2" charset="-122"/>
                <a:cs typeface="Times New Roman" panose="02020603050405020304" pitchFamily="18" charset="0"/>
              </a:rPr>
              <a:t>）提出了基于分解的多目标元强化学习方法</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引入权重子问题建模与标量化奖励，结合邻域蒸馏、参数继承与回滚机制实现跨子问题协同优化。实验表明，</a:t>
            </a:r>
            <a:r>
              <a:rPr lang="en-US" altLang="zh-CN" dirty="0">
                <a:latin typeface="Times New Roman" panose="02020603050405020304" pitchFamily="18" charset="0"/>
                <a:ea typeface="宋体" panose="02010600030101010101" pitchFamily="2" charset="-122"/>
                <a:cs typeface="Times New Roman" panose="02020603050405020304" pitchFamily="18" charset="0"/>
              </a:rPr>
              <a:t>MMRL</a:t>
            </a:r>
            <a:r>
              <a:rPr lang="zh-CN" altLang="en-US"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Pareto</a:t>
            </a:r>
            <a:r>
              <a:rPr lang="zh-CN" altLang="en-US" dirty="0">
                <a:latin typeface="Times New Roman" panose="02020603050405020304" pitchFamily="18" charset="0"/>
                <a:ea typeface="宋体" panose="02010600030101010101" pitchFamily="2" charset="-122"/>
                <a:cs typeface="Times New Roman" panose="02020603050405020304" pitchFamily="18" charset="0"/>
              </a:rPr>
              <a:t>解集质量上具有竞争力，并在计算效率上显著优于多目标进化算法。</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p:cNvSpPr txBox="1"/>
          <p:nvPr/>
        </p:nvSpPr>
        <p:spPr>
          <a:xfrm>
            <a:off x="141051" y="641055"/>
            <a:ext cx="4581726" cy="500458"/>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主要研究工作</a:t>
            </a:r>
            <a:endParaRPr lang="zh-CN" altLang="en-US" b="1" dirty="0">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0" y="4394200"/>
            <a:ext cx="4581726" cy="500458"/>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存在的不足</a:t>
            </a:r>
            <a:endParaRPr lang="zh-CN" altLang="en-US"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47132" y="4811078"/>
            <a:ext cx="8449736" cy="1753235"/>
          </a:xfrm>
          <a:prstGeom prst="rect">
            <a:avLst/>
          </a:prstGeom>
          <a:noFill/>
        </p:spPr>
        <p:txBody>
          <a:bodyPr wrap="square">
            <a:spAutoFit/>
          </a:bodyPr>
          <a:lstStyle/>
          <a:p>
            <a:pPr>
              <a:lnSpc>
                <a:spcPct val="150000"/>
              </a:lnSpc>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）考虑更多实际约束。后续可将动态工件到达、机器故障维修等因素纳入模型，在异构图表示与奖励函数中引入对应约束与惩罚项，以提升方法的适用性。</a:t>
            </a:r>
            <a:endPar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）所提方法在求解单一类型问题上与前沿算法存在差距，后续可通过奖励塑形、任务分布扩展、网络结构升级</a:t>
            </a:r>
            <a:r>
              <a:rPr lang="zh-CN" altLang="en-US" dirty="0">
                <a:latin typeface="宋体" panose="02010600030101010101" pitchFamily="2" charset="-122"/>
                <a:ea typeface="宋体" panose="02010600030101010101" pitchFamily="2" charset="-122"/>
              </a:rPr>
              <a:t>等改进提升算法的求解性能</a:t>
            </a:r>
            <a:r>
              <a:rPr lang="zh-CN" altLang="zh-CN" dirty="0">
                <a:latin typeface="宋体" panose="02010600030101010101" pitchFamily="2" charset="-122"/>
                <a:ea typeface="宋体" panose="02010600030101010101" pitchFamily="2" charset="-122"/>
              </a:rPr>
              <a:t>。</a:t>
            </a:r>
            <a:endParaRPr lang="zh-CN" altLang="en-US" dirty="0"/>
          </a:p>
        </p:txBody>
      </p:sp>
      <p:sp>
        <p:nvSpPr>
          <p:cNvPr id="3" name="灯片编号占位符 2"/>
          <p:cNvSpPr>
            <a:spLocks noGrp="1"/>
          </p:cNvSpPr>
          <p:nvPr>
            <p:ph type="sldNum" sz="quarter" idx="12"/>
          </p:nvPr>
        </p:nvSpPr>
        <p:spPr/>
        <p:txBody>
          <a:bodyPr/>
          <a:lstStyle/>
          <a:p>
            <a:r>
              <a:rPr lang="en-US" altLang="zh-CN"/>
              <a:t>16</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advTm="21189"/>
    </mc:Choice>
    <mc:Fallback>
      <p:transition spd="slow" advTm="2118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盲审意见修改</a:t>
            </a:r>
            <a:endParaRPr lang="zh-CN" altLang="en-US" dirty="0"/>
          </a:p>
        </p:txBody>
      </p:sp>
      <p:sp>
        <p:nvSpPr>
          <p:cNvPr id="4" name="文本框 3"/>
          <p:cNvSpPr txBox="1"/>
          <p:nvPr/>
        </p:nvSpPr>
        <p:spPr>
          <a:xfrm>
            <a:off x="189688" y="1141513"/>
            <a:ext cx="9066178" cy="829945"/>
          </a:xfrm>
          <a:prstGeom prst="rect">
            <a:avLst/>
          </a:prstGeom>
          <a:noFill/>
        </p:spPr>
        <p:txBody>
          <a:bodyPr wrap="square">
            <a:spAutoFit/>
          </a:bodyPr>
          <a:lstStyle/>
          <a:p>
            <a:pPr>
              <a:lnSpc>
                <a:spcPct val="150000"/>
              </a:lnSpc>
            </a:pP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专家</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意见：论文文字内容还需校准，部分图表需调整，如图1.1排版，图3.12难以看清等；</a:t>
            </a:r>
            <a:endPar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部分参考文献偏早，可适当提高近5年文献占比。</a:t>
            </a:r>
            <a:endPar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p:cNvSpPr txBox="1"/>
          <p:nvPr/>
        </p:nvSpPr>
        <p:spPr>
          <a:xfrm>
            <a:off x="141051" y="641055"/>
            <a:ext cx="4581726" cy="500458"/>
          </a:xfrm>
          <a:prstGeom prst="rect">
            <a:avLst/>
          </a:prstGeom>
          <a:noFill/>
        </p:spPr>
        <p:txBody>
          <a:bodyPr wrap="square">
            <a:spAutoFit/>
          </a:bodyPr>
          <a:lstStyle/>
          <a:p>
            <a:pPr marL="285750" indent="-285750">
              <a:lnSpc>
                <a:spcPct val="170000"/>
              </a:lnSpc>
              <a:buClr>
                <a:srgbClr val="FF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sym typeface="+mn-ea"/>
              </a:rPr>
              <a:t>盲审专家一意见及答复</a:t>
            </a:r>
            <a:endParaRPr lang="zh-CN" altLang="en-US" b="1" dirty="0">
              <a:latin typeface="微软雅黑" panose="020B0503020204020204" pitchFamily="34" charset="-122"/>
              <a:ea typeface="微软雅黑" panose="020B0503020204020204" pitchFamily="34" charset="-122"/>
              <a:sym typeface="+mn-ea"/>
            </a:endParaRPr>
          </a:p>
        </p:txBody>
      </p:sp>
      <p:sp>
        <p:nvSpPr>
          <p:cNvPr id="3" name="灯片编号占位符 2"/>
          <p:cNvSpPr>
            <a:spLocks noGrp="1"/>
          </p:cNvSpPr>
          <p:nvPr>
            <p:ph type="sldNum" sz="quarter" idx="12"/>
          </p:nvPr>
        </p:nvSpPr>
        <p:spPr/>
        <p:txBody>
          <a:bodyPr/>
          <a:lstStyle/>
          <a:p>
            <a:r>
              <a:rPr lang="en-US" altLang="zh-CN"/>
              <a:t>17</a:t>
            </a:r>
            <a:endParaRPr lang="en-US" altLang="zh-CN"/>
          </a:p>
        </p:txBody>
      </p:sp>
      <p:sp>
        <p:nvSpPr>
          <p:cNvPr id="7" name="文本框 6"/>
          <p:cNvSpPr txBox="1"/>
          <p:nvPr/>
        </p:nvSpPr>
        <p:spPr>
          <a:xfrm>
            <a:off x="189865" y="3549015"/>
            <a:ext cx="9065895" cy="956310"/>
          </a:xfrm>
          <a:prstGeom prst="rect">
            <a:avLst/>
          </a:prstGeom>
          <a:noFill/>
        </p:spPr>
        <p:txBody>
          <a:bodyPr wrap="square">
            <a:noAutofit/>
          </a:bodyPr>
          <a:lstStyle/>
          <a:p>
            <a:pPr>
              <a:lnSpc>
                <a:spcPct val="150000"/>
              </a:lnSpc>
            </a:pP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专家</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意见：建议修改题目，多类型车间是否就是指流水作业车间？参考文献请规范。</a:t>
            </a:r>
            <a:endPar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p:cNvSpPr txBox="1"/>
          <p:nvPr/>
        </p:nvSpPr>
        <p:spPr>
          <a:xfrm>
            <a:off x="451485" y="1913255"/>
            <a:ext cx="7606030" cy="864235"/>
          </a:xfrm>
          <a:prstGeom prst="rect">
            <a:avLst/>
          </a:prstGeom>
          <a:noFill/>
        </p:spPr>
        <p:txBody>
          <a:bodyPr wrap="square" rtlCol="0">
            <a:noAutofit/>
          </a:bodyPr>
          <a:p>
            <a:pPr indent="457200" algn="l">
              <a:lnSpc>
                <a:spcPct val="150000"/>
              </a:lnSpc>
              <a:buClrTx/>
              <a:buSzTx/>
              <a:buFontTx/>
            </a:pP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答复：已采纳，重新审阅全文并进行了润色，消除了口语化表达，对逻辑不通的语句进行了调整；重新绘制了所提的图表；删除了部分发表年份较早，且与本文核心创新点关联度较低的背景介绍类文献；在保证绪论逻辑不变的情况下，更新了第一章的文献。</a:t>
            </a:r>
            <a:endPar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p:cNvSpPr txBox="1"/>
          <p:nvPr/>
        </p:nvSpPr>
        <p:spPr>
          <a:xfrm>
            <a:off x="400685" y="4042410"/>
            <a:ext cx="7606030" cy="864235"/>
          </a:xfrm>
          <a:prstGeom prst="rect">
            <a:avLst/>
          </a:prstGeom>
          <a:noFill/>
        </p:spPr>
        <p:txBody>
          <a:bodyPr wrap="square" rtlCol="0">
            <a:noAutofit/>
          </a:bodyPr>
          <a:p>
            <a:pPr indent="457200" algn="l">
              <a:lnSpc>
                <a:spcPct val="150000"/>
              </a:lnSpc>
              <a:buClrTx/>
              <a:buSzTx/>
              <a:buFontTx/>
            </a:pP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答复：本文所研究的多类型包含了流水车间中的非置换流水车间，作业车间和柔性作业车间，在训练和求解的过程都涉及了这三种类型，因此保留“多类型车间”更能准确反映本文的工作内容。</a:t>
            </a:r>
            <a:endPar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8013"/>
    </mc:Choice>
    <mc:Fallback>
      <p:transition spd="slow" advTm="801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9AE70B2-8BF9-45C0-BB95-33D1B9D3A854}" type="slidenum">
              <a:rPr lang="zh-CN" altLang="en-US" smtClean="0"/>
            </a:fld>
            <a:endParaRPr lang="zh-CN" altLang="en-US" dirty="0"/>
          </a:p>
        </p:txBody>
      </p:sp>
      <p:sp>
        <p:nvSpPr>
          <p:cNvPr id="4" name="标题 3"/>
          <p:cNvSpPr>
            <a:spLocks noGrp="1"/>
          </p:cNvSpPr>
          <p:nvPr>
            <p:ph type="ctrTitle"/>
          </p:nvPr>
        </p:nvSpPr>
        <p:spPr/>
        <p:txBody>
          <a:bodyPr/>
          <a:lstStyle/>
          <a:p>
            <a:r>
              <a:rPr lang="zh-CN" altLang="en-US" dirty="0">
                <a:latin typeface="微软雅黑" panose="020B0503020204020204" pitchFamily="34" charset="-122"/>
                <a:ea typeface="微软雅黑" panose="020B0503020204020204" pitchFamily="34" charset="-122"/>
              </a:rPr>
              <a:t>感谢各位老师的</a:t>
            </a:r>
            <a:r>
              <a:rPr lang="zh-CN" altLang="en-US">
                <a:latin typeface="微软雅黑" panose="020B0503020204020204" pitchFamily="34" charset="-122"/>
                <a:ea typeface="微软雅黑" panose="020B0503020204020204" pitchFamily="34" charset="-122"/>
              </a:rPr>
              <a:t>批评与指正</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95"/>
    </mc:Choice>
    <mc:Fallback>
      <p:transition spd="slow" advTm="395"/>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DIAGRAM_VIRTUALLY_FRAME" val="{&quot;height&quot;:229.3751968503937,&quot;left&quot;:360,&quot;top&quot;:149.87661417322835,&quot;width&quot;:307.95}"/>
</p:tagLst>
</file>

<file path=ppt/tags/tag9.xml><?xml version="1.0" encoding="utf-8"?>
<p:tagLst xmlns:p="http://schemas.openxmlformats.org/presentationml/2006/main">
  <p:tag name="KSO_WM_DIAGRAM_VIRTUALLY_FRAME" val="{&quot;height&quot;:229.3751968503937,&quot;left&quot;:360,&quot;top&quot;:149.87661417322835,&quot;width&quot;:307.95}"/>
</p:tagLst>
</file>

<file path=ppt/tags/tag10.xml><?xml version="1.0" encoding="utf-8"?>
<p:tagLst xmlns:p="http://schemas.openxmlformats.org/presentationml/2006/main">
  <p:tag name="KSO_WM_DIAGRAM_VIRTUALLY_FRAME" val="{&quot;height&quot;:229.3751968503937,&quot;left&quot;:360,&quot;top&quot;:149.87661417322835,&quot;width&quot;:307.95}"/>
</p:tagLst>
</file>

<file path=ppt/tags/tag11.xml><?xml version="1.0" encoding="utf-8"?>
<p:tagLst xmlns:p="http://schemas.openxmlformats.org/presentationml/2006/main">
  <p:tag name="KSO_WM_DIAGRAM_VIRTUALLY_FRAME" val="{&quot;height&quot;:229.3751968503937,&quot;left&quot;:360,&quot;top&quot;:149.87661417322835,&quot;width&quot;:307.95}"/>
</p:tagLst>
</file>

<file path=ppt/tags/tag12.xml><?xml version="1.0" encoding="utf-8"?>
<p:tagLst xmlns:p="http://schemas.openxmlformats.org/presentationml/2006/main">
  <p:tag name="KSO_WM_DIAGRAM_VIRTUALLY_FRAME" val="{&quot;height&quot;:229.3751968503937,&quot;left&quot;:360,&quot;top&quot;:149.87661417322835,&quot;width&quot;:307.95}"/>
</p:tagLst>
</file>

<file path=ppt/tags/tag13.xml><?xml version="1.0" encoding="utf-8"?>
<p:tagLst xmlns:p="http://schemas.openxmlformats.org/presentationml/2006/main">
  <p:tag name="KSO_WM_DIAGRAM_VIRTUALLY_FRAME" val="{&quot;height&quot;:229.3751968503937,&quot;left&quot;:360,&quot;top&quot;:149.87661417322835,&quot;width&quot;:307.95}"/>
</p:tagLst>
</file>

<file path=ppt/tags/tag14.xml><?xml version="1.0" encoding="utf-8"?>
<p:tagLst xmlns:p="http://schemas.openxmlformats.org/presentationml/2006/main">
  <p:tag name="KSO_WM_DIAGRAM_VIRTUALLY_FRAME" val="{&quot;height&quot;:229.3751968503937,&quot;left&quot;:360,&quot;top&quot;:149.87661417322835,&quot;width&quot;:307.95}"/>
</p:tagLst>
</file>

<file path=ppt/tags/tag15.xml><?xml version="1.0" encoding="utf-8"?>
<p:tagLst xmlns:p="http://schemas.openxmlformats.org/presentationml/2006/main">
  <p:tag name="KSO_WM_DIAGRAM_VIRTUALLY_FRAME" val="{&quot;height&quot;:229.3751968503937,&quot;left&quot;:360,&quot;top&quot;:149.87661417322835,&quot;width&quot;:307.95}"/>
</p:tagLst>
</file>

<file path=ppt/tags/tag16.xml><?xml version="1.0" encoding="utf-8"?>
<p:tagLst xmlns:p="http://schemas.openxmlformats.org/presentationml/2006/main">
  <p:tag name="KSO_WM_DIAGRAM_VIRTUALLY_FRAME" val="{&quot;height&quot;:229.3751968503937,&quot;left&quot;:360,&quot;top&quot;:149.87661417322835,&quot;width&quot;:307.95}"/>
</p:tagLst>
</file>

<file path=ppt/tags/tag17.xml><?xml version="1.0" encoding="utf-8"?>
<p:tagLst xmlns:p="http://schemas.openxmlformats.org/presentationml/2006/main">
  <p:tag name="KSO_WM_DIAGRAM_VIRTUALLY_FRAME" val="{&quot;height&quot;:229.3751968503937,&quot;left&quot;:360,&quot;top&quot;:149.87661417322835,&quot;width&quot;:307.95}"/>
</p:tagLst>
</file>

<file path=ppt/tags/tag18.xml><?xml version="1.0" encoding="utf-8"?>
<p:tagLst xmlns:p="http://schemas.openxmlformats.org/presentationml/2006/main">
  <p:tag name="KSO_WM_DIAGRAM_VIRTUALLY_FRAME" val="{&quot;height&quot;:229.3751968503937,&quot;left&quot;:360,&quot;top&quot;:149.87661417322835,&quot;width&quot;:307.95}"/>
</p:tagLst>
</file>

<file path=ppt/tags/tag19.xml><?xml version="1.0" encoding="utf-8"?>
<p:tagLst xmlns:p="http://schemas.openxmlformats.org/presentationml/2006/main">
  <p:tag name="KSO_WM_DIAGRAM_VIRTUALLY_FRAME" val="{&quot;height&quot;:229.3751968503937,&quot;left&quot;:360,&quot;top&quot;:149.87661417322835,&quot;width&quot;:307.95}"/>
</p:tagLst>
</file>

<file path=ppt/tags/tag20.xml><?xml version="1.0" encoding="utf-8"?>
<p:tagLst xmlns:p="http://schemas.openxmlformats.org/presentationml/2006/main">
  <p:tag name="KSO_WM_DIAGRAM_VIRTUALLY_FRAME" val="{&quot;height&quot;:229.3751968503937,&quot;left&quot;:360,&quot;top&quot;:149.87661417322835,&quot;width&quot;:307.95}"/>
</p:tagLst>
</file>

<file path=ppt/tags/tag21.xml><?xml version="1.0" encoding="utf-8"?>
<p:tagLst xmlns:p="http://schemas.openxmlformats.org/presentationml/2006/main">
  <p:tag name="KSO_WM_DIAGRAM_VIRTUALLY_FRAME" val="{&quot;height&quot;:229.3751968503937,&quot;left&quot;:360,&quot;top&quot;:149.87661417322835,&quot;width&quot;:307.95}"/>
</p:tagLst>
</file>

<file path=ppt/tags/tag22.xml><?xml version="1.0" encoding="utf-8"?>
<p:tagLst xmlns:p="http://schemas.openxmlformats.org/presentationml/2006/main">
  <p:tag name="KSO_WM_DIAGRAM_VIRTUALLY_FRAME" val="{&quot;height&quot;:229.3751968503937,&quot;left&quot;:360,&quot;top&quot;:149.87661417322835,&quot;width&quot;:307.95}"/>
</p:tagLst>
</file>

<file path=ppt/tags/tag23.xml><?xml version="1.0" encoding="utf-8"?>
<p:tagLst xmlns:p="http://schemas.openxmlformats.org/presentationml/2006/main">
  <p:tag name="KSO_WM_DIAGRAM_VIRTUALLY_FRAME" val="{&quot;height&quot;:229.3751968503937,&quot;left&quot;:360,&quot;top&quot;:149.87661417322835,&quot;width&quot;:307.95}"/>
</p:tagLst>
</file>

<file path=ppt/tags/tag24.xml><?xml version="1.0" encoding="utf-8"?>
<p:tagLst xmlns:p="http://schemas.openxmlformats.org/presentationml/2006/main">
  <p:tag name="KSO_WM_DIAGRAM_VIRTUALLY_FRAME" val="{&quot;height&quot;:229.3751968503937,&quot;left&quot;:360,&quot;top&quot;:149.87661417322835,&quot;width&quot;:307.95}"/>
</p:tagLst>
</file>

<file path=ppt/tags/tag25.xml><?xml version="1.0" encoding="utf-8"?>
<p:tagLst xmlns:p="http://schemas.openxmlformats.org/presentationml/2006/main">
  <p:tag name="KSO_WM_DIAGRAM_VIRTUALLY_FRAME" val="{&quot;height&quot;:229.3751968503937,&quot;left&quot;:360,&quot;top&quot;:149.87661417322835,&quot;width&quot;:307.95}"/>
</p:tagLst>
</file>

<file path=ppt/tags/tag26.xml><?xml version="1.0" encoding="utf-8"?>
<p:tagLst xmlns:p="http://schemas.openxmlformats.org/presentationml/2006/main">
  <p:tag name="KSO_WM_DIAGRAM_VIRTUALLY_FRAME" val="{&quot;height&quot;:229.3751968503937,&quot;left&quot;:360,&quot;top&quot;:149.87661417322835,&quot;width&quot;:307.95}"/>
</p:tagLst>
</file>

<file path=ppt/tags/tag27.xml><?xml version="1.0" encoding="utf-8"?>
<p:tagLst xmlns:p="http://schemas.openxmlformats.org/presentationml/2006/main">
  <p:tag name="KSO_WM_DIAGRAM_VIRTUALLY_FRAME" val="{&quot;height&quot;:229.3751968503937,&quot;left&quot;:360,&quot;top&quot;:149.87661417322835,&quot;width&quot;:307.95}"/>
</p:tagLst>
</file>

<file path=ppt/tags/tag28.xml><?xml version="1.0" encoding="utf-8"?>
<p:tagLst xmlns:p="http://schemas.openxmlformats.org/presentationml/2006/main">
  <p:tag name="KSO_WM_DIAGRAM_VIRTUALLY_FRAME" val="{&quot;height&quot;:229.3751968503937,&quot;left&quot;:360,&quot;top&quot;:149.87661417322835,&quot;width&quot;:307.95}"/>
</p:tagLst>
</file>

<file path=ppt/tags/tag29.xml><?xml version="1.0" encoding="utf-8"?>
<p:tagLst xmlns:p="http://schemas.openxmlformats.org/presentationml/2006/main">
  <p:tag name="KSO_WM_DIAGRAM_VIRTUALLY_FRAME" val="{&quot;height&quot;:229.3751968503937,&quot;left&quot;:360,&quot;top&quot;:149.87661417322835,&quot;width&quot;:307.95}"/>
</p:tagLst>
</file>

<file path=ppt/tags/tag30.xml><?xml version="1.0" encoding="utf-8"?>
<p:tagLst xmlns:p="http://schemas.openxmlformats.org/presentationml/2006/main">
  <p:tag name="KSO_WM_DIAGRAM_VIRTUALLY_FRAME" val="{&quot;height&quot;:229.3751968503937,&quot;left&quot;:360,&quot;top&quot;:149.87661417322835,&quot;width&quot;:307.95}"/>
</p:tagLst>
</file>

<file path=ppt/tags/tag31.xml><?xml version="1.0" encoding="utf-8"?>
<p:tagLst xmlns:p="http://schemas.openxmlformats.org/presentationml/2006/main">
  <p:tag name="KSO_WM_DIAGRAM_VIRTUALLY_FRAME" val="{&quot;height&quot;:229.3751968503937,&quot;left&quot;:360,&quot;top&quot;:149.87661417322835,&quot;width&quot;:307.95}"/>
</p:tagLst>
</file>

<file path=ppt/tags/tag32.xml><?xml version="1.0" encoding="utf-8"?>
<p:tagLst xmlns:p="http://schemas.openxmlformats.org/presentationml/2006/main">
  <p:tag name="KSO_WM_DIAGRAM_VIRTUALLY_FRAME" val="{&quot;height&quot;:229.3751968503937,&quot;left&quot;:360,&quot;top&quot;:149.87661417322835,&quot;width&quot;:307.95}"/>
</p:tagLst>
</file>

<file path=ppt/tags/tag33.xml><?xml version="1.0" encoding="utf-8"?>
<p:tagLst xmlns:p="http://schemas.openxmlformats.org/presentationml/2006/main">
  <p:tag name="KSO_WM_DIAGRAM_VIRTUALLY_FRAME" val="{&quot;height&quot;:229.3751968503937,&quot;left&quot;:360,&quot;top&quot;:149.87661417322835,&quot;width&quot;:307.95}"/>
</p:tagLst>
</file>

<file path=ppt/tags/tag34.xml><?xml version="1.0" encoding="utf-8"?>
<p:tagLst xmlns:p="http://schemas.openxmlformats.org/presentationml/2006/main">
  <p:tag name="KSO_WM_DIAGRAM_VIRTUALLY_FRAME" val="{&quot;height&quot;:229.3751968503937,&quot;left&quot;:360,&quot;top&quot;:149.87661417322835,&quot;width&quot;:307.95}"/>
</p:tagLst>
</file>

<file path=ppt/tags/tag35.xml><?xml version="1.0" encoding="utf-8"?>
<p:tagLst xmlns:p="http://schemas.openxmlformats.org/presentationml/2006/main">
  <p:tag name="KSO_WM_DIAGRAM_VIRTUALLY_FRAME" val="{&quot;height&quot;:229.3751968503937,&quot;left&quot;:360,&quot;top&quot;:149.87661417322835,&quot;width&quot;:307.95}"/>
</p:tagLst>
</file>

<file path=ppt/tags/tag36.xml><?xml version="1.0" encoding="utf-8"?>
<p:tagLst xmlns:p="http://schemas.openxmlformats.org/presentationml/2006/main">
  <p:tag name="KSO_WM_DIAGRAM_VIRTUALLY_FRAME" val="{&quot;height&quot;:229.3751968503937,&quot;left&quot;:360,&quot;top&quot;:149.87661417322835,&quot;width&quot;:307.95}"/>
</p:tagLst>
</file>

<file path=ppt/tags/tag37.xml><?xml version="1.0" encoding="utf-8"?>
<p:tagLst xmlns:p="http://schemas.openxmlformats.org/presentationml/2006/main">
  <p:tag name="KSO_WM_DIAGRAM_VIRTUALLY_FRAME" val="{&quot;height&quot;:229.3751968503937,&quot;left&quot;:360,&quot;top&quot;:149.87661417322835,&quot;width&quot;:307.95}"/>
</p:tagLst>
</file>

<file path=ppt/tags/tag38.xml><?xml version="1.0" encoding="utf-8"?>
<p:tagLst xmlns:p="http://schemas.openxmlformats.org/presentationml/2006/main">
  <p:tag name="KSO_WM_DIAGRAM_VIRTUALLY_FRAME" val="{&quot;height&quot;:229.3751968503937,&quot;left&quot;:360,&quot;top&quot;:149.87661417322835,&quot;width&quot;:307.95}"/>
</p:tagLst>
</file>

<file path=ppt/tags/tag39.xml><?xml version="1.0" encoding="utf-8"?>
<p:tagLst xmlns:p="http://schemas.openxmlformats.org/presentationml/2006/main">
  <p:tag name="KSO_WM_DIAGRAM_VIRTUALLY_FRAME" val="{&quot;height&quot;:229.3751968503937,&quot;left&quot;:360,&quot;top&quot;:149.87661417322835,&quot;width&quot;:307.95}"/>
</p:tagLst>
</file>

<file path=ppt/tags/tag40.xml><?xml version="1.0" encoding="utf-8"?>
<p:tagLst xmlns:p="http://schemas.openxmlformats.org/presentationml/2006/main">
  <p:tag name="KSO_WM_DIAGRAM_VIRTUALLY_FRAME" val="{&quot;height&quot;:229.3751968503937,&quot;left&quot;:360,&quot;top&quot;:149.87661417322835,&quot;width&quot;:307.95}"/>
</p:tagLst>
</file>

<file path=ppt/tags/tag41.xml><?xml version="1.0" encoding="utf-8"?>
<p:tagLst xmlns:p="http://schemas.openxmlformats.org/presentationml/2006/main">
  <p:tag name="KSO_WM_DIAGRAM_VIRTUALLY_FRAME" val="{&quot;height&quot;:229.3751968503937,&quot;left&quot;:360,&quot;top&quot;:149.87661417322835,&quot;width&quot;:307.95}"/>
</p:tagLst>
</file>

<file path=ppt/tags/tag42.xml><?xml version="1.0" encoding="utf-8"?>
<p:tagLst xmlns:p="http://schemas.openxmlformats.org/presentationml/2006/main">
  <p:tag name="KSO_WM_DIAGRAM_VIRTUALLY_FRAME" val="{&quot;height&quot;:229.3751968503937,&quot;left&quot;:360,&quot;top&quot;:149.87661417322835,&quot;width&quot;:307.95}"/>
</p:tagLst>
</file>

<file path=ppt/tags/tag43.xml><?xml version="1.0" encoding="utf-8"?>
<p:tagLst xmlns:p="http://schemas.openxmlformats.org/presentationml/2006/main">
  <p:tag name="KSO_WM_DIAGRAM_VIRTUALLY_FRAME" val="{&quot;height&quot;:229.3751968503937,&quot;left&quot;:360,&quot;top&quot;:149.87661417322835,&quot;width&quot;:307.95}"/>
</p:tagLst>
</file>

<file path=ppt/tags/tag44.xml><?xml version="1.0" encoding="utf-8"?>
<p:tagLst xmlns:p="http://schemas.openxmlformats.org/presentationml/2006/main">
  <p:tag name="KSO_WM_DIAGRAM_VIRTUALLY_FRAME" val="{&quot;height&quot;:229.3751968503937,&quot;left&quot;:360,&quot;top&quot;:149.87661417322835,&quot;width&quot;:307.95}"/>
</p:tagLst>
</file>

<file path=ppt/tags/tag45.xml><?xml version="1.0" encoding="utf-8"?>
<p:tagLst xmlns:p="http://schemas.openxmlformats.org/presentationml/2006/main">
  <p:tag name="KSO_WM_DIAGRAM_VIRTUALLY_FRAME" val="{&quot;height&quot;:229.3751968503937,&quot;left&quot;:360,&quot;top&quot;:149.87661417322835,&quot;width&quot;:307.95}"/>
</p:tagLst>
</file>

<file path=ppt/tags/tag46.xml><?xml version="1.0" encoding="utf-8"?>
<p:tagLst xmlns:p="http://schemas.openxmlformats.org/presentationml/2006/main">
  <p:tag name="KSO_WM_DIAGRAM_VIRTUALLY_FRAME" val="{&quot;height&quot;:229.3751968503937,&quot;left&quot;:360,&quot;top&quot;:149.87661417322835,&quot;width&quot;:307.95}"/>
</p:tagLst>
</file>

<file path=ppt/tags/tag47.xml><?xml version="1.0" encoding="utf-8"?>
<p:tagLst xmlns:p="http://schemas.openxmlformats.org/presentationml/2006/main">
  <p:tag name="KSO_WM_DIAGRAM_VIRTUALLY_FRAME" val="{&quot;height&quot;:229.3751968503937,&quot;left&quot;:360,&quot;top&quot;:149.87661417322835,&quot;width&quot;:307.95}"/>
</p:tagLst>
</file>

<file path=ppt/tags/tag48.xml><?xml version="1.0" encoding="utf-8"?>
<p:tagLst xmlns:p="http://schemas.openxmlformats.org/presentationml/2006/main">
  <p:tag name="KSO_WM_DIAGRAM_VIRTUALLY_FRAME" val="{&quot;height&quot;:229.3751968503937,&quot;left&quot;:360,&quot;top&quot;:149.87661417322835,&quot;width&quot;:307.95}"/>
</p:tagLst>
</file>

<file path=ppt/tags/tag49.xml><?xml version="1.0" encoding="utf-8"?>
<p:tagLst xmlns:p="http://schemas.openxmlformats.org/presentationml/2006/main">
  <p:tag name="KSO_WM_DIAGRAM_VIRTUALLY_FRAME" val="{&quot;height&quot;:229.3751968503937,&quot;left&quot;:360,&quot;top&quot;:149.87661417322835,&quot;width&quot;:307.95}"/>
</p:tagLst>
</file>

<file path=ppt/tags/tag50.xml><?xml version="1.0" encoding="utf-8"?>
<p:tagLst xmlns:p="http://schemas.openxmlformats.org/presentationml/2006/main">
  <p:tag name="KSO_WM_DIAGRAM_VIRTUALLY_FRAME" val="{&quot;height&quot;:229.3751968503937,&quot;left&quot;:360,&quot;top&quot;:149.87661417322835,&quot;width&quot;:307.95}"/>
</p:tagLst>
</file>

<file path=ppt/tags/tag51.xml><?xml version="1.0" encoding="utf-8"?>
<p:tagLst xmlns:p="http://schemas.openxmlformats.org/presentationml/2006/main">
  <p:tag name="KSO_WM_DIAGRAM_VIRTUALLY_FRAME" val="{&quot;height&quot;:229.3751968503937,&quot;left&quot;:360,&quot;top&quot;:149.87661417322835,&quot;width&quot;:307.95}"/>
</p:tagLst>
</file>

<file path=ppt/tags/tag52.xml><?xml version="1.0" encoding="utf-8"?>
<p:tagLst xmlns:p="http://schemas.openxmlformats.org/presentationml/2006/main">
  <p:tag name="KSO_WM_DIAGRAM_VIRTUALLY_FRAME" val="{&quot;height&quot;:229.3751968503937,&quot;left&quot;:360,&quot;top&quot;:149.87661417322835,&quot;width&quot;:307.95}"/>
</p:tagLst>
</file>

<file path=ppt/tags/tag53.xml><?xml version="1.0" encoding="utf-8"?>
<p:tagLst xmlns:p="http://schemas.openxmlformats.org/presentationml/2006/main">
  <p:tag name="KSO_WM_DIAGRAM_VIRTUALLY_FRAME" val="{&quot;height&quot;:229.3751968503937,&quot;left&quot;:360,&quot;top&quot;:149.87661417322835,&quot;width&quot;:307.95}"/>
</p:tagLst>
</file>

<file path=ppt/tags/tag54.xml><?xml version="1.0" encoding="utf-8"?>
<p:tagLst xmlns:p="http://schemas.openxmlformats.org/presentationml/2006/main">
  <p:tag name="KSO_WM_DIAGRAM_VIRTUALLY_FRAME" val="{&quot;height&quot;:229.3751968503937,&quot;left&quot;:360,&quot;top&quot;:149.87661417322835,&quot;width&quot;:307.95}"/>
</p:tagLst>
</file>

<file path=ppt/tags/tag55.xml><?xml version="1.0" encoding="utf-8"?>
<p:tagLst xmlns:p="http://schemas.openxmlformats.org/presentationml/2006/main">
  <p:tag name="KSO_WM_DIAGRAM_VIRTUALLY_FRAME" val="{&quot;height&quot;:229.3751968503937,&quot;left&quot;:360,&quot;top&quot;:149.87661417322835,&quot;width&quot;:307.95}"/>
</p:tagLst>
</file>

<file path=ppt/tags/tag56.xml><?xml version="1.0" encoding="utf-8"?>
<p:tagLst xmlns:p="http://schemas.openxmlformats.org/presentationml/2006/main">
  <p:tag name="KSO_WM_DIAGRAM_VIRTUALLY_FRAME" val="{&quot;height&quot;:229.3751968503937,&quot;left&quot;:360,&quot;top&quot;:149.87661417322835,&quot;width&quot;:307.95}"/>
</p:tagLst>
</file>

<file path=ppt/tags/tag57.xml><?xml version="1.0" encoding="utf-8"?>
<p:tagLst xmlns:p="http://schemas.openxmlformats.org/presentationml/2006/main">
  <p:tag name="KSO_WM_DIAGRAM_VIRTUALLY_FRAME" val="{&quot;height&quot;:229.3751968503937,&quot;left&quot;:360,&quot;top&quot;:149.87661417322835,&quot;width&quot;:307.95}"/>
</p:tagLst>
</file>

<file path=ppt/tags/tag58.xml><?xml version="1.0" encoding="utf-8"?>
<p:tagLst xmlns:p="http://schemas.openxmlformats.org/presentationml/2006/main">
  <p:tag name="KSO_WM_DIAGRAM_VIRTUALLY_FRAME" val="{&quot;height&quot;:229.3751968503937,&quot;left&quot;:360,&quot;top&quot;:149.87661417322835,&quot;width&quot;:307.95}"/>
</p:tagLst>
</file>

<file path=ppt/tags/tag59.xml><?xml version="1.0" encoding="utf-8"?>
<p:tagLst xmlns:p="http://schemas.openxmlformats.org/presentationml/2006/main">
  <p:tag name="KSO_WM_DIAGRAM_VIRTUALLY_FRAME" val="{&quot;height&quot;:229.3751968503937,&quot;left&quot;:360,&quot;top&quot;:149.87661417322835,&quot;width&quot;:307.95}"/>
</p:tagLst>
</file>

<file path=ppt/tags/tag60.xml><?xml version="1.0" encoding="utf-8"?>
<p:tagLst xmlns:p="http://schemas.openxmlformats.org/presentationml/2006/main">
  <p:tag name="KSO_WM_DIAGRAM_VIRTUALLY_FRAME" val="{&quot;height&quot;:229.3751968503937,&quot;left&quot;:360,&quot;top&quot;:149.87661417322835,&quot;width&quot;:307.95}"/>
</p:tagLst>
</file>

<file path=ppt/tags/tag61.xml><?xml version="1.0" encoding="utf-8"?>
<p:tagLst xmlns:p="http://schemas.openxmlformats.org/presentationml/2006/main">
  <p:tag name="KSO_WM_DIAGRAM_VIRTUALLY_FRAME" val="{&quot;height&quot;:229.3751968503937,&quot;left&quot;:360,&quot;top&quot;:149.87661417322835,&quot;width&quot;:307.95}"/>
</p:tagLst>
</file>

<file path=ppt/tags/tag62.xml><?xml version="1.0" encoding="utf-8"?>
<p:tagLst xmlns:p="http://schemas.openxmlformats.org/presentationml/2006/main">
  <p:tag name="KSO_WM_DIAGRAM_VIRTUALLY_FRAME" val="{&quot;height&quot;:229.3751968503937,&quot;left&quot;:360,&quot;top&quot;:149.87661417322835,&quot;width&quot;:307.95}"/>
</p:tagLst>
</file>

<file path=ppt/tags/tag63.xml><?xml version="1.0" encoding="utf-8"?>
<p:tagLst xmlns:p="http://schemas.openxmlformats.org/presentationml/2006/main">
  <p:tag name="KSO_WM_DIAGRAM_VIRTUALLY_FRAME" val="{&quot;height&quot;:229.3751968503937,&quot;left&quot;:360,&quot;top&quot;:149.87661417322835,&quot;width&quot;:307.95}"/>
</p:tagLst>
</file>

<file path=ppt/tags/tag64.xml><?xml version="1.0" encoding="utf-8"?>
<p:tagLst xmlns:p="http://schemas.openxmlformats.org/presentationml/2006/main">
  <p:tag name="KSO_WM_DIAGRAM_VIRTUALLY_FRAME" val="{&quot;height&quot;:229.3751968503937,&quot;left&quot;:360,&quot;top&quot;:149.87661417322835,&quot;width&quot;:307.95}"/>
</p:tagLst>
</file>

<file path=ppt/tags/tag65.xml><?xml version="1.0" encoding="utf-8"?>
<p:tagLst xmlns:p="http://schemas.openxmlformats.org/presentationml/2006/main">
  <p:tag name="KSO_WM_DIAGRAM_VIRTUALLY_FRAME" val="{&quot;height&quot;:229.3751968503937,&quot;left&quot;:360,&quot;top&quot;:149.87661417322835,&quot;width&quot;:307.95}"/>
</p:tagLst>
</file>

<file path=ppt/tags/tag66.xml><?xml version="1.0" encoding="utf-8"?>
<p:tagLst xmlns:p="http://schemas.openxmlformats.org/presentationml/2006/main">
  <p:tag name="KSO_WM_DIAGRAM_VIRTUALLY_FRAME" val="{&quot;height&quot;:229.3751968503937,&quot;left&quot;:360,&quot;top&quot;:149.87661417322835,&quot;width&quot;:307.95}"/>
</p:tagLst>
</file>

<file path=ppt/tags/tag67.xml><?xml version="1.0" encoding="utf-8"?>
<p:tagLst xmlns:p="http://schemas.openxmlformats.org/presentationml/2006/main">
  <p:tag name="KSO_WM_DIAGRAM_VIRTUALLY_FRAME" val="{&quot;height&quot;:229.3751968503937,&quot;left&quot;:360,&quot;top&quot;:149.87661417322835,&quot;width&quot;:307.95}"/>
</p:tagLst>
</file>

<file path=ppt/tags/tag68.xml><?xml version="1.0" encoding="utf-8"?>
<p:tagLst xmlns:p="http://schemas.openxmlformats.org/presentationml/2006/main">
  <p:tag name="KSO_WM_DIAGRAM_VIRTUALLY_FRAME" val="{&quot;height&quot;:229.3751968503937,&quot;left&quot;:360,&quot;top&quot;:149.87661417322835,&quot;width&quot;:307.95}"/>
</p:tagLst>
</file>

<file path=ppt/tags/tag69.xml><?xml version="1.0" encoding="utf-8"?>
<p:tagLst xmlns:p="http://schemas.openxmlformats.org/presentationml/2006/main">
  <p:tag name="KSO_WM_DIAGRAM_VIRTUALLY_FRAME" val="{&quot;height&quot;:229.3751968503937,&quot;left&quot;:360,&quot;top&quot;:149.87661417322835,&quot;width&quot;:307.95}"/>
</p:tagLst>
</file>

<file path=ppt/tags/tag70.xml><?xml version="1.0" encoding="utf-8"?>
<p:tagLst xmlns:p="http://schemas.openxmlformats.org/presentationml/2006/main">
  <p:tag name="KSO_WM_DIAGRAM_VIRTUALLY_FRAME" val="{&quot;height&quot;:229.3751968503937,&quot;left&quot;:360,&quot;top&quot;:149.87661417322835,&quot;width&quot;:307.95}"/>
</p:tagLst>
</file>

<file path=ppt/tags/tag71.xml><?xml version="1.0" encoding="utf-8"?>
<p:tagLst xmlns:p="http://schemas.openxmlformats.org/presentationml/2006/main">
  <p:tag name="KSO_WM_DIAGRAM_VIRTUALLY_FRAME" val="{&quot;height&quot;:229.3751968503937,&quot;left&quot;:360,&quot;top&quot;:149.87661417322835,&quot;width&quot;:307.95}"/>
</p:tagLst>
</file>

<file path=ppt/tags/tag72.xml><?xml version="1.0" encoding="utf-8"?>
<p:tagLst xmlns:p="http://schemas.openxmlformats.org/presentationml/2006/main">
  <p:tag name="KSO_WM_DIAGRAM_VIRTUALLY_FRAME" val="{&quot;height&quot;:229.3751968503937,&quot;left&quot;:360,&quot;top&quot;:149.87661417322835,&quot;width&quot;:307.95}"/>
</p:tagLst>
</file>

<file path=ppt/tags/tag73.xml><?xml version="1.0" encoding="utf-8"?>
<p:tagLst xmlns:p="http://schemas.openxmlformats.org/presentationml/2006/main">
  <p:tag name="KSO_WM_DIAGRAM_VIRTUALLY_FRAME" val="{&quot;height&quot;:229.3751968503937,&quot;left&quot;:360,&quot;top&quot;:149.87661417322835,&quot;width&quot;:307.95}"/>
</p:tagLst>
</file>

<file path=ppt/tags/tag74.xml><?xml version="1.0" encoding="utf-8"?>
<p:tagLst xmlns:p="http://schemas.openxmlformats.org/presentationml/2006/main">
  <p:tag name="KSO_WM_DIAGRAM_VIRTUALLY_FRAME" val="{&quot;height&quot;:229.3751968503937,&quot;left&quot;:360,&quot;top&quot;:149.87661417322835,&quot;width&quot;:307.95}"/>
</p:tagLst>
</file>

<file path=ppt/tags/tag75.xml><?xml version="1.0" encoding="utf-8"?>
<p:tagLst xmlns:p="http://schemas.openxmlformats.org/presentationml/2006/main">
  <p:tag name="KSO_WM_DIAGRAM_VIRTUALLY_FRAME" val="{&quot;height&quot;:229.3751968503937,&quot;left&quot;:360,&quot;top&quot;:149.87661417322835,&quot;width&quot;:307.95}"/>
</p:tagLst>
</file>

<file path=ppt/tags/tag76.xml><?xml version="1.0" encoding="utf-8"?>
<p:tagLst xmlns:p="http://schemas.openxmlformats.org/presentationml/2006/main">
  <p:tag name="KSO_WM_DIAGRAM_VIRTUALLY_FRAME" val="{&quot;height&quot;:229.3751968503937,&quot;left&quot;:360,&quot;top&quot;:149.87661417322835,&quot;width&quot;:307.95}"/>
</p:tagLst>
</file>

<file path=ppt/tags/tag77.xml><?xml version="1.0" encoding="utf-8"?>
<p:tagLst xmlns:p="http://schemas.openxmlformats.org/presentationml/2006/main">
  <p:tag name="KSO_WM_DIAGRAM_VIRTUALLY_FRAME" val="{&quot;height&quot;:229.3751968503937,&quot;left&quot;:360,&quot;top&quot;:149.87661417322835,&quot;width&quot;:307.95}"/>
</p:tagLst>
</file>

<file path=ppt/tags/tag78.xml><?xml version="1.0" encoding="utf-8"?>
<p:tagLst xmlns:p="http://schemas.openxmlformats.org/presentationml/2006/main">
  <p:tag name="KSO_WM_DIAGRAM_VIRTUALLY_FRAME" val="{&quot;height&quot;:229.3751968503937,&quot;left&quot;:360,&quot;top&quot;:149.87661417322835,&quot;width&quot;:307.95}"/>
</p:tagLst>
</file>

<file path=ppt/tags/tag79.xml><?xml version="1.0" encoding="utf-8"?>
<p:tagLst xmlns:p="http://schemas.openxmlformats.org/presentationml/2006/main">
  <p:tag name="KSO_WM_DIAGRAM_VIRTUALLY_FRAME" val="{&quot;height&quot;:229.3751968503937,&quot;left&quot;:360,&quot;top&quot;:149.87661417322835,&quot;width&quot;:307.95}"/>
</p:tagLst>
</file>

<file path=ppt/tags/tag80.xml><?xml version="1.0" encoding="utf-8"?>
<p:tagLst xmlns:p="http://schemas.openxmlformats.org/presentationml/2006/main">
  <p:tag name="KSO_WM_DIAGRAM_VIRTUALLY_FRAME" val="{&quot;height&quot;:229.3751968503937,&quot;left&quot;:360,&quot;top&quot;:149.87661417322835,&quot;width&quot;:307.95}"/>
</p:tagLst>
</file>

<file path=ppt/tags/tag81.xml><?xml version="1.0" encoding="utf-8"?>
<p:tagLst xmlns:p="http://schemas.openxmlformats.org/presentationml/2006/main">
  <p:tag name="KSO_WM_DIAGRAM_VIRTUALLY_FRAME" val="{&quot;height&quot;:229.3751968503937,&quot;left&quot;:360,&quot;top&quot;:149.87661417322835,&quot;width&quot;:307.95}"/>
</p:tagLst>
</file>

<file path=ppt/tags/tag82.xml><?xml version="1.0" encoding="utf-8"?>
<p:tagLst xmlns:p="http://schemas.openxmlformats.org/presentationml/2006/main">
  <p:tag name="KSO_WM_DIAGRAM_VIRTUALLY_FRAME" val="{&quot;height&quot;:229.3751968503937,&quot;left&quot;:360,&quot;top&quot;:149.87661417322835,&quot;width&quot;:307.95}"/>
</p:tagLst>
</file>

<file path=ppt/tags/tag83.xml><?xml version="1.0" encoding="utf-8"?>
<p:tagLst xmlns:p="http://schemas.openxmlformats.org/presentationml/2006/main">
  <p:tag name="KSO_WM_DIAGRAM_VIRTUALLY_FRAME" val="{&quot;height&quot;:229.3751968503937,&quot;left&quot;:360,&quot;top&quot;:149.87661417322835,&quot;width&quot;:307.95}"/>
</p:tagLst>
</file>

<file path=ppt/tags/tag84.xml><?xml version="1.0" encoding="utf-8"?>
<p:tagLst xmlns:p="http://schemas.openxmlformats.org/presentationml/2006/main">
  <p:tag name="KSO_WM_DIAGRAM_VIRTUALLY_FRAME" val="{&quot;height&quot;:229.3751968503937,&quot;left&quot;:360,&quot;top&quot;:149.87661417322835,&quot;width&quot;:307.95}"/>
</p:tagLst>
</file>

<file path=ppt/tags/tag85.xml><?xml version="1.0" encoding="utf-8"?>
<p:tagLst xmlns:p="http://schemas.openxmlformats.org/presentationml/2006/main">
  <p:tag name="KSO_WM_DIAGRAM_VIRTUALLY_FRAME" val="{&quot;height&quot;:229.3751968503937,&quot;left&quot;:360,&quot;top&quot;:149.87661417322835,&quot;width&quot;:307.95}"/>
</p:tagLst>
</file>

<file path=ppt/tags/tag86.xml><?xml version="1.0" encoding="utf-8"?>
<p:tagLst xmlns:p="http://schemas.openxmlformats.org/presentationml/2006/main">
  <p:tag name="KSO_WM_DIAGRAM_VIRTUALLY_FRAME" val="{&quot;height&quot;:229.3751968503937,&quot;left&quot;:360,&quot;top&quot;:149.87661417322835,&quot;width&quot;:307.95}"/>
</p:tagLst>
</file>

<file path=ppt/tags/tag87.xml><?xml version="1.0" encoding="utf-8"?>
<p:tagLst xmlns:p="http://schemas.openxmlformats.org/presentationml/2006/main">
  <p:tag name="KSO_WM_DIAGRAM_VIRTUALLY_FRAME" val="{&quot;height&quot;:229.3751968503937,&quot;left&quot;:360,&quot;top&quot;:149.87661417322835,&quot;width&quot;:307.95}"/>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2646</Words>
  <Application>WPS 演示</Application>
  <PresentationFormat>全屏显示(4:3)</PresentationFormat>
  <Paragraphs>410</Paragraphs>
  <Slides>24</Slides>
  <Notes>19</Notes>
  <HiddenSlides>0</HiddenSlides>
  <MMClips>1</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24</vt:i4>
      </vt:variant>
    </vt:vector>
  </HeadingPairs>
  <TitlesOfParts>
    <vt:vector size="53" baseType="lpstr">
      <vt:lpstr>Arial</vt:lpstr>
      <vt:lpstr>宋体</vt:lpstr>
      <vt:lpstr>Wingdings</vt:lpstr>
      <vt:lpstr>黑体</vt:lpstr>
      <vt:lpstr>微软雅黑</vt:lpstr>
      <vt:lpstr>Times New Roman</vt:lpstr>
      <vt:lpstr>Calibri</vt:lpstr>
      <vt:lpstr>Cambria Math</vt:lpstr>
      <vt:lpstr>Arial Unicode MS</vt:lpstr>
      <vt:lpstr>等线 Light</vt:lpstr>
      <vt:lpstr>Calibri Light</vt:lpstr>
      <vt:lpstr>等线</vt:lpstr>
      <vt:lpstr>Calibri</vt:lpstr>
      <vt:lpstr>CMMI12</vt:lpstr>
      <vt:lpstr>CMR8</vt:lpstr>
      <vt:lpstr>Segoe Print</vt:lpstr>
      <vt:lpstr>MS PGothic</vt:lpstr>
      <vt:lpstr>CMR12</vt:lpstr>
      <vt:lpstr>BatangChe</vt:lpstr>
      <vt:lpstr>CMMI8</vt:lpstr>
      <vt:lpstr>Times New Roman</vt:lpstr>
      <vt:lpstr>CMEX10</vt:lpstr>
      <vt:lpstr>TimesNewRomanPS-BoldMT</vt:lpstr>
      <vt:lpstr>CMSY10</vt:lpstr>
      <vt:lpstr>CMMI10</vt:lpstr>
      <vt:lpstr>CMR10</vt:lpstr>
      <vt:lpstr>CMMI5</vt:lpstr>
      <vt:lpstr>Office 主题​​</vt:lpstr>
      <vt:lpstr>自定义设计方案</vt:lpstr>
      <vt:lpstr>基于元强化学习的多类型车间及其多目标问题调度优化研究</vt:lpstr>
      <vt:lpstr>PowerPoint 演示文稿</vt:lpstr>
      <vt:lpstr>研究背景</vt:lpstr>
      <vt:lpstr>实验平台</vt:lpstr>
      <vt:lpstr>PowerPoint 演示文稿</vt:lpstr>
      <vt:lpstr>螺纹孔的视觉定位</vt:lpstr>
      <vt:lpstr>螺纹孔的视觉定位</vt:lpstr>
      <vt:lpstr>螺纹孔的视觉识别</vt:lpstr>
      <vt:lpstr>PowerPoint 演示文稿</vt:lpstr>
      <vt:lpstr>螺栓的送入与拧紧</vt:lpstr>
      <vt:lpstr>基于元强化学习的单目标调度</vt:lpstr>
      <vt:lpstr>基于元强化学习的单目标调度</vt:lpstr>
      <vt:lpstr>基于元强化学习的单目标调度</vt:lpstr>
      <vt:lpstr>基于元强化学习的单目标调度</vt:lpstr>
      <vt:lpstr>PowerPoint 演示文稿</vt:lpstr>
      <vt:lpstr>PowerPoint 演示文稿</vt:lpstr>
      <vt:lpstr>物理-感知融合的装配质量评价模型</vt:lpstr>
      <vt:lpstr>物理-感知融合的装配质量评价模型</vt:lpstr>
      <vt:lpstr>物理-感知融合的装配质量评价模型</vt:lpstr>
      <vt:lpstr>PowerPoint 演示文稿</vt:lpstr>
      <vt:lpstr>PowerPoint 演示文稿</vt:lpstr>
      <vt:lpstr>总结与展望</vt:lpstr>
      <vt:lpstr>盲审意见修改</vt:lpstr>
      <vt:lpstr>感谢各位老师的批评与指正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金属材料表面强化课题组</dc:title>
  <dc:creator>Yu Zhang</dc:creator>
  <cp:keywords>华中科技大学</cp:keywords>
  <cp:lastModifiedBy>Velpro</cp:lastModifiedBy>
  <cp:revision>1162</cp:revision>
  <cp:lastPrinted>2019-12-23T04:31:00Z</cp:lastPrinted>
  <dcterms:created xsi:type="dcterms:W3CDTF">2019-08-26T12:30:00Z</dcterms:created>
  <dcterms:modified xsi:type="dcterms:W3CDTF">2026-05-10T00:41:40Z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257F34521ACD406CB8B15A23CAA19AD6_12</vt:lpwstr>
  </property>
  <property fmtid="{D5CDD505-2E9C-101B-9397-08002B2CF9AE}" pid="3" name="KSOProductBuildVer">
    <vt:lpwstr>2052-12.1.0.25865</vt:lpwstr>
  </property>
</Properties>
</file>